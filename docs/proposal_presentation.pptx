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68" r:id="rId5"/>
    <p:sldId id="274" r:id="rId6"/>
    <p:sldId id="260" r:id="rId7"/>
    <p:sldId id="273" r:id="rId8"/>
    <p:sldId id="261" r:id="rId9"/>
    <p:sldId id="262" r:id="rId10"/>
    <p:sldId id="263" r:id="rId11"/>
    <p:sldId id="264" r:id="rId12"/>
    <p:sldId id="265" r:id="rId13"/>
    <p:sldId id="266" r:id="rId14"/>
    <p:sldId id="271"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601" autoAdjust="0"/>
  </p:normalViewPr>
  <p:slideViewPr>
    <p:cSldViewPr snapToGrid="0">
      <p:cViewPr varScale="1">
        <p:scale>
          <a:sx n="64" d="100"/>
          <a:sy n="64" d="100"/>
        </p:scale>
        <p:origin x="139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broad aim: train game agents in a controlled Unity scene, compare two learning methods, and test whether curiosity helps exploration. Student: RazaUllah. Supervisor and registration number are intentionally left for editing. Target talk length: about ten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proposal moves from the game-learning idea to the research comparison, then explains how the experiments and work plan will be carried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means an agent learns by trying actions and receiving rewards. In our project, the agent will act in a simple Unity training scenario. The example should be intentionally small so that results are understandable and repeatable.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RND stands for Random Network Distillation. It gives the agent a bonus for reaching situations it hasn't seen before.“</a:t>
            </a:r>
          </a:p>
          <a:p>
            <a:pPr lvl="0" rtl="0"/>
            <a:r>
              <a:rPr lang="en-US" dirty="0"/>
              <a:t>Curiosity rewards </a:t>
            </a:r>
            <a:r>
              <a:rPr lang="en-US" b="1" dirty="0"/>
              <a:t>surprising outcomes</a:t>
            </a:r>
            <a:r>
              <a:rPr lang="en-US" dirty="0"/>
              <a:t>.</a:t>
            </a:r>
          </a:p>
          <a:p>
            <a:pPr lvl="0" rtl="0"/>
            <a:r>
              <a:rPr lang="en-US" dirty="0"/>
              <a:t>RND rewards </a:t>
            </a:r>
            <a:r>
              <a:rPr lang="en-US" b="1" dirty="0"/>
              <a:t>new places</a:t>
            </a:r>
            <a:endParaRPr lang="en-US" dirty="0"/>
          </a:p>
          <a:p>
            <a:br>
              <a:rPr lang="en-US" dirty="0"/>
            </a:br>
            <a:endParaRPr lang="en-US" dirty="0"/>
          </a:p>
          <a:p>
            <a:pPr rtl="0"/>
            <a:r>
              <a:rPr lang="en-US" b="1" dirty="0"/>
              <a:t>PPO: Proximal Policy Optimization</a:t>
            </a:r>
            <a:br>
              <a:rPr lang="en-US" dirty="0"/>
            </a:br>
            <a:r>
              <a:rPr lang="en-US" dirty="0"/>
              <a:t>A stable algorithm that improves the agent's policy in small, safe steps, learning from fresh experience.</a:t>
            </a:r>
          </a:p>
          <a:p>
            <a:pPr rtl="0"/>
            <a:r>
              <a:rPr lang="en-US" b="1" dirty="0"/>
              <a:t>SAC: Soft Actor-Critic</a:t>
            </a:r>
            <a:br>
              <a:rPr lang="en-US" dirty="0"/>
            </a:br>
            <a:r>
              <a:rPr lang="en-US" dirty="0"/>
              <a:t>An algorithm that reuses past experience and rewards the agent for staying a bit random, which helps it explore and learn efficiently.</a:t>
            </a:r>
          </a:p>
          <a:p>
            <a:pPr rtl="0"/>
            <a:r>
              <a:rPr lang="en-US" b="1" dirty="0"/>
              <a:t>To say out loud:</a:t>
            </a:r>
            <a:r>
              <a:rPr lang="en-US" dirty="0"/>
              <a:t> "PPO learns carefully from new experience, while SAC reuses old experience and encourages exploration. I compare both to see which works better in my games."</a:t>
            </a:r>
          </a:p>
          <a:p>
            <a:pPr rtl="0"/>
            <a:r>
              <a:rPr lang="en-US" b="1" dirty="0"/>
              <a:t>Quick tags for your slide:</a:t>
            </a:r>
            <a:endParaRPr lang="en-US" dirty="0"/>
          </a:p>
          <a:p>
            <a:pPr lvl="0" rtl="0"/>
            <a:r>
              <a:rPr lang="en-US" dirty="0"/>
              <a:t>PPO: on-policy, stable</a:t>
            </a:r>
          </a:p>
          <a:p>
            <a:pPr lvl="0" rtl="0"/>
            <a:r>
              <a:rPr lang="en-US" dirty="0"/>
              <a:t>SAC: off-policy, entropy-based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Build Hummingbirds first and define observations, actions and external rewards. Compare candidate algorithms under matched budgets, then test next-state prediction curiosity and RND. Use a second platform game for selected follow-up comparisons. Log runs in Weights &amp; Biases. The pipeline is editable in PowerPoint.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 each selected learning algorithm with three exploration conditions: no intrinsic reward, next-state prediction curiosity, and RND. Candidate algorithms include PPO and SAC. Run the full six-condition matrix in Hummingbirds, then carry selected comparisons into the second game to keep the project feasible. Tune entropy and intrinsic reward strength only after establishing baselines. Do not directly compare raw returns between games because their reward scales may differ. Sources: https://unity-technologies.github.io/ml-agents/Training-Configuration-File/ ; https://unity-technologies.github.io/ml-agents/ML-Agents-Overview/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primary measure is extrinsic cumulative return: only the game reward, excluding curiosity or RND bonuses. A second measure is game-specific success or progress, such as obstacles passed in Hummingbirds and checkpoints or level completion in the second game. Exploration coverage can be an optional diagnostic if a meaningful state partition can be defined. Repeat each condition with multiple random seeds and report variation. Do not compare raw return values across games with different reward scales.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Unity and C sharp create the training environments. ML-Agents connects them to Python training. Weights &amp; Biases, or W&amp;B, will organize experiment runs, configurations, and learning curves. Git keeps source code reproducible. The student needs basic Unity and C sharp, Python, and an interest in AI and machine learning. Specific training hardware should be selected after the scene is scoped. Source: https://unity-technologies.github.io/ml-agents/ML-Agents-Overview/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eight month plan fits the proposed six to eight month duration. First build Hummingbirds, then develop algorithm baselines and compare next-state prediction curiosity and RND. Build a second platform game during months five and six, then repeat selected conditions there. Final months cover analysis and the research report. Inspired Square provides technical guidance and regular reviews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outputs are Unity projects for Hummingbirds and a second selected game with trained agents, a Git repository containing source and configurations, return and game-progress data with comparison graphs, and a research report and presentation. The findings may later inform experiments in Inspired Square games. That application is future scope, not a promised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3EEAD-3D16-64B1-2F78-014BBAAF9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59C74-838A-D3A0-FAD2-BA927415E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10942-D0C7-8671-D171-27F09B4E965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5C7F37C-C7F3-C19F-F2DE-D39B068D809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5354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faculty for considering the proposal. Invite questions about the Unity task, research design, student supervision, or industrial support. Confirm that supervisor name and student registration number will be finalized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B74637-80F4-F549-8B0C-6224E9F49920}" type="datetime1">
              <a:rPr lang="en-US" smtClean="0"/>
              <a:t>10/6/2026</a:t>
            </a:fld>
            <a:endParaRPr lang="en-US"/>
          </a:p>
        </p:txBody>
      </p:sp>
      <p:sp>
        <p:nvSpPr>
          <p:cNvPr id="5" name="Footer Placeholder 4"/>
          <p:cNvSpPr>
            <a:spLocks noGrp="1"/>
          </p:cNvSpPr>
          <p:nvPr>
            <p:ph type="ftr" sz="quarter" idx="11"/>
          </p:nvPr>
        </p:nvSpPr>
        <p:spPr/>
        <p:txBody>
          <a:bodyPr/>
          <a:lstStyle/>
          <a:p>
            <a:r>
              <a:rPr lang="en-US" dirty="0"/>
              <a:t>Department of Computer Science, </a:t>
            </a:r>
            <a:r>
              <a:rPr lang="en-US" dirty="0" err="1"/>
              <a:t>Namal</a:t>
            </a:r>
            <a:r>
              <a:rPr lang="en-US" dirty="0"/>
              <a:t> University, </a:t>
            </a:r>
            <a:r>
              <a:rPr lang="en-US" dirty="0" err="1"/>
              <a:t>Mianwali</a:t>
            </a:r>
            <a:endParaRPr lang="en-US" dirty="0"/>
          </a:p>
        </p:txBody>
      </p:sp>
      <p:sp>
        <p:nvSpPr>
          <p:cNvPr id="6" name="Slide Number Placeholder 5"/>
          <p:cNvSpPr>
            <a:spLocks noGrp="1"/>
          </p:cNvSpPr>
          <p:nvPr>
            <p:ph type="sldNum" sz="quarter" idx="12"/>
          </p:nvPr>
        </p:nvSpPr>
        <p:spPr/>
        <p:txBody>
          <a:bodyPr/>
          <a:lstStyle/>
          <a:p>
            <a:fld id="{3E94D9CA-177E-AF41-A87D-6A332E9A24C3}" type="slidenum">
              <a:rPr lang="en-US" smtClean="0"/>
              <a:t>‹#›</a:t>
            </a:fld>
            <a:endParaRPr lang="en-US"/>
          </a:p>
        </p:txBody>
      </p:sp>
    </p:spTree>
    <p:extLst>
      <p:ext uri="{BB962C8B-B14F-4D97-AF65-F5344CB8AC3E}">
        <p14:creationId xmlns:p14="http://schemas.microsoft.com/office/powerpoint/2010/main" val="42061120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ijcai.org/proceedings/2023/0391.pdf" TargetMode="External"/><Relationship Id="rId5" Type="http://schemas.openxmlformats.org/officeDocument/2006/relationships/hyperlink" Target="https://people.wgtn.ac.nz/Aaron.Chen" TargetMode="Externa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0896600" y="190500"/>
            <a:ext cx="1028700" cy="1028700"/>
          </a:xfrm>
          <a:prstGeom prst="rect">
            <a:avLst/>
          </a:prstGeom>
        </p:spPr>
      </p:pic>
      <p:sp>
        <p:nvSpPr>
          <p:cNvPr id="2" name="Straight Connector 1">
            <a:extLst>
              <a:ext uri="{FF2B5EF4-FFF2-40B4-BE49-F238E27FC236}">
                <a16:creationId xmlns:a16="http://schemas.microsoft.com/office/drawing/2014/main" id="{6F8106A3-CD24-42C6-8294-63A84DC88535}"/>
              </a:ext>
            </a:extLst>
          </p:cNvPr>
          <p:cNvSpPr>
            <a:spLocks noGrp="1"/>
          </p:cNvSpPr>
          <p:nvPr/>
        </p:nvSpPr>
        <p:spPr>
          <a:xfrm>
            <a:off x="590550" y="6191250"/>
            <a:ext cx="11334750" cy="0"/>
          </a:xfrm>
          <a:prstGeom prst="line">
            <a:avLst/>
          </a:prstGeom>
          <a:noFill/>
          <a:ln w="9525">
            <a:solidFill>
              <a:srgbClr val="D8E0DA"/>
            </a:solidFill>
            <a:prstDash val="solid"/>
          </a:ln>
        </p:spPr>
      </p:sp>
      <p:sp>
        <p:nvSpPr>
          <p:cNvPr id="3" name="Rectangle 2">
            <a:extLst>
              <a:ext uri="{FF2B5EF4-FFF2-40B4-BE49-F238E27FC236}">
                <a16:creationId xmlns:a16="http://schemas.microsoft.com/office/drawing/2014/main" id="{489F5E21-E785-409A-AEEA-73092EC02734}"/>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4" name="Rectangle 3">
            <a:extLst>
              <a:ext uri="{FF2B5EF4-FFF2-40B4-BE49-F238E27FC236}">
                <a16:creationId xmlns:a16="http://schemas.microsoft.com/office/drawing/2014/main" id="{80ADC554-9903-4CCE-AAD7-C79FD2541AE6}"/>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5" name="Rectangle 4">
            <a:extLst>
              <a:ext uri="{FF2B5EF4-FFF2-40B4-BE49-F238E27FC236}">
                <a16:creationId xmlns:a16="http://schemas.microsoft.com/office/drawing/2014/main" id="{F06AF329-6293-481C-B741-F9AFA146F914}"/>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a:solidFill>
                  <a:srgbClr val="52605A"/>
                </a:solidFill>
                <a:latin typeface="Arial"/>
                <a:ea typeface="Arial"/>
                <a:cs typeface="Arial"/>
              </a:rPr>
              <a:t>01</a:t>
            </a:r>
          </a:p>
        </p:txBody>
      </p:sp>
      <p:sp>
        <p:nvSpPr>
          <p:cNvPr id="6" name="Rectangle 5">
            <a:extLst>
              <a:ext uri="{FF2B5EF4-FFF2-40B4-BE49-F238E27FC236}">
                <a16:creationId xmlns:a16="http://schemas.microsoft.com/office/drawing/2014/main" id="{B5337CB1-D25F-40CA-8225-84E5C7D29603}"/>
              </a:ext>
            </a:extLst>
          </p:cNvPr>
          <p:cNvSpPr>
            <a:spLocks noGrp="1"/>
          </p:cNvSpPr>
          <p:nvPr/>
        </p:nvSpPr>
        <p:spPr>
          <a:xfrm>
            <a:off x="1681316" y="823452"/>
            <a:ext cx="7429500" cy="238125"/>
          </a:xfrm>
          <a:prstGeom prst="rect">
            <a:avLst/>
          </a:prstGeom>
          <a:noFill/>
          <a:ln w="0">
            <a:noFill/>
            <a:prstDash val="solid"/>
          </a:ln>
        </p:spPr>
        <p:txBody>
          <a:bodyPr lIns="0" tIns="0" rIns="0" bIns="0" anchor="ctr">
            <a:noAutofit/>
          </a:bodyPr>
          <a:lstStyle/>
          <a:p>
            <a:pPr algn="ctr">
              <a:defRPr sz="1275" b="1">
                <a:solidFill>
                  <a:srgbClr val="006A43"/>
                </a:solidFill>
                <a:latin typeface="Arial"/>
                <a:ea typeface="Arial"/>
                <a:cs typeface="Arial"/>
              </a:defRPr>
            </a:pPr>
            <a:r>
              <a:rPr sz="1275" b="1" dirty="0">
                <a:solidFill>
                  <a:srgbClr val="006A43"/>
                </a:solidFill>
                <a:latin typeface="Arial"/>
                <a:ea typeface="Arial"/>
                <a:cs typeface="Arial"/>
              </a:rPr>
              <a:t>FINAL YEAR PROJECT PROPOSAL</a:t>
            </a:r>
          </a:p>
        </p:txBody>
      </p:sp>
      <p:sp>
        <p:nvSpPr>
          <p:cNvPr id="7" name="Rectangle 6">
            <a:extLst>
              <a:ext uri="{FF2B5EF4-FFF2-40B4-BE49-F238E27FC236}">
                <a16:creationId xmlns:a16="http://schemas.microsoft.com/office/drawing/2014/main" id="{093FF497-1CB6-41A2-BABF-E3EE6D304CAC}"/>
              </a:ext>
            </a:extLst>
          </p:cNvPr>
          <p:cNvSpPr>
            <a:spLocks noGrp="1"/>
          </p:cNvSpPr>
          <p:nvPr/>
        </p:nvSpPr>
        <p:spPr>
          <a:xfrm>
            <a:off x="609600" y="1390650"/>
            <a:ext cx="10191750" cy="2514600"/>
          </a:xfrm>
          <a:prstGeom prst="rect">
            <a:avLst/>
          </a:prstGeom>
          <a:noFill/>
          <a:ln w="0">
            <a:noFill/>
            <a:prstDash val="solid"/>
          </a:ln>
        </p:spPr>
        <p:txBody>
          <a:bodyPr lIns="0" tIns="0" rIns="0" bIns="0" anchor="ctr">
            <a:noAutofit/>
          </a:bodyPr>
          <a:lstStyle/>
          <a:p>
            <a:pPr>
              <a:defRPr sz="3600" b="1">
                <a:solidFill>
                  <a:srgbClr val="17211D"/>
                </a:solidFill>
                <a:latin typeface="Arial"/>
                <a:ea typeface="Arial"/>
                <a:cs typeface="Arial"/>
              </a:defRPr>
            </a:pPr>
            <a:r>
              <a:rPr lang="en-US" sz="3600" b="1" dirty="0">
                <a:solidFill>
                  <a:srgbClr val="17211D"/>
                </a:solidFill>
                <a:latin typeface="Arial"/>
              </a:rPr>
              <a:t>Agent-Based Game Analysis in Unity Based Upon Curiosity and RND Exploration Using PPO and SAC</a:t>
            </a:r>
            <a:endParaRPr sz="3600" b="1" dirty="0">
              <a:solidFill>
                <a:srgbClr val="17211D"/>
              </a:solidFill>
              <a:latin typeface="Arial"/>
              <a:ea typeface="Arial"/>
              <a:cs typeface="Arial"/>
            </a:endParaRPr>
          </a:p>
        </p:txBody>
      </p:sp>
      <p:sp>
        <p:nvSpPr>
          <p:cNvPr id="8" name="Rectangle 7">
            <a:extLst>
              <a:ext uri="{FF2B5EF4-FFF2-40B4-BE49-F238E27FC236}">
                <a16:creationId xmlns:a16="http://schemas.microsoft.com/office/drawing/2014/main" id="{5C620659-AD0A-42C0-8752-4913B33D8F43}"/>
              </a:ext>
            </a:extLst>
          </p:cNvPr>
          <p:cNvSpPr>
            <a:spLocks noGrp="1"/>
          </p:cNvSpPr>
          <p:nvPr/>
        </p:nvSpPr>
        <p:spPr>
          <a:xfrm>
            <a:off x="609600" y="3971925"/>
            <a:ext cx="9048750" cy="495300"/>
          </a:xfrm>
          <a:prstGeom prst="rect">
            <a:avLst/>
          </a:prstGeom>
          <a:noFill/>
          <a:ln w="0">
            <a:noFill/>
            <a:prstDash val="solid"/>
          </a:ln>
        </p:spPr>
        <p:txBody>
          <a:bodyPr lIns="0" tIns="0" rIns="0" bIns="0" anchor="ctr">
            <a:noAutofit/>
          </a:bodyPr>
          <a:lstStyle/>
          <a:p>
            <a:pPr algn="l">
              <a:defRPr sz="2400" b="0">
                <a:solidFill>
                  <a:srgbClr val="006A43"/>
                </a:solidFill>
                <a:latin typeface="Arial"/>
                <a:ea typeface="Arial"/>
                <a:cs typeface="Arial"/>
              </a:defRPr>
            </a:pPr>
            <a:endParaRPr sz="2400" b="0" dirty="0">
              <a:solidFill>
                <a:srgbClr val="006A43"/>
              </a:solidFill>
              <a:latin typeface="Arial"/>
              <a:ea typeface="Arial"/>
              <a:cs typeface="Arial"/>
            </a:endParaRPr>
          </a:p>
        </p:txBody>
      </p:sp>
      <p:sp>
        <p:nvSpPr>
          <p:cNvPr id="9" name="Straight Connector 8">
            <a:extLst>
              <a:ext uri="{FF2B5EF4-FFF2-40B4-BE49-F238E27FC236}">
                <a16:creationId xmlns:a16="http://schemas.microsoft.com/office/drawing/2014/main" id="{6646B235-0D6B-44A0-9A5A-DD1A16E82662}"/>
              </a:ext>
            </a:extLst>
          </p:cNvPr>
          <p:cNvSpPr>
            <a:spLocks noGrp="1"/>
          </p:cNvSpPr>
          <p:nvPr/>
        </p:nvSpPr>
        <p:spPr>
          <a:xfrm>
            <a:off x="609600" y="4762500"/>
            <a:ext cx="2476500" cy="0"/>
          </a:xfrm>
          <a:prstGeom prst="line">
            <a:avLst/>
          </a:prstGeom>
          <a:noFill/>
          <a:ln w="47625">
            <a:solidFill>
              <a:srgbClr val="D2AE45"/>
            </a:solidFill>
            <a:prstDash val="solid"/>
          </a:ln>
        </p:spPr>
      </p:sp>
      <p:sp>
        <p:nvSpPr>
          <p:cNvPr id="10" name="Rectangle 9">
            <a:extLst>
              <a:ext uri="{FF2B5EF4-FFF2-40B4-BE49-F238E27FC236}">
                <a16:creationId xmlns:a16="http://schemas.microsoft.com/office/drawing/2014/main" id="{DD321942-B90D-4E16-B8EA-9858C3722408}"/>
              </a:ext>
            </a:extLst>
          </p:cNvPr>
          <p:cNvSpPr>
            <a:spLocks noGrp="1"/>
          </p:cNvSpPr>
          <p:nvPr/>
        </p:nvSpPr>
        <p:spPr>
          <a:xfrm>
            <a:off x="609600" y="4972050"/>
            <a:ext cx="8096250" cy="295275"/>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dirty="0">
                <a:solidFill>
                  <a:srgbClr val="17211D"/>
                </a:solidFill>
                <a:latin typeface="Arial"/>
                <a:ea typeface="Arial"/>
                <a:cs typeface="Arial"/>
              </a:rPr>
              <a:t>Raza</a:t>
            </a:r>
            <a:r>
              <a:rPr lang="en-US" sz="1650" b="0" dirty="0">
                <a:solidFill>
                  <a:srgbClr val="17211D"/>
                </a:solidFill>
                <a:latin typeface="Arial"/>
                <a:ea typeface="Arial"/>
                <a:cs typeface="Arial"/>
              </a:rPr>
              <a:t> </a:t>
            </a:r>
            <a:r>
              <a:rPr sz="1650" b="0" dirty="0">
                <a:solidFill>
                  <a:srgbClr val="17211D"/>
                </a:solidFill>
                <a:latin typeface="Arial"/>
                <a:ea typeface="Arial"/>
                <a:cs typeface="Arial"/>
              </a:rPr>
              <a:t>Ullah</a:t>
            </a:r>
            <a:r>
              <a:rPr lang="en-US" sz="1650" b="0" dirty="0">
                <a:solidFill>
                  <a:srgbClr val="17211D"/>
                </a:solidFill>
                <a:latin typeface="Arial"/>
                <a:ea typeface="Arial"/>
                <a:cs typeface="Arial"/>
              </a:rPr>
              <a:t> khan</a:t>
            </a:r>
            <a:r>
              <a:rPr sz="1650" b="0" dirty="0">
                <a:solidFill>
                  <a:srgbClr val="17211D"/>
                </a:solidFill>
                <a:latin typeface="Arial"/>
                <a:ea typeface="Arial"/>
                <a:cs typeface="Arial"/>
              </a:rPr>
              <a:t>  </a:t>
            </a:r>
            <a:r>
              <a:rPr lang="en-US" sz="1650" dirty="0">
                <a:solidFill>
                  <a:srgbClr val="17211D"/>
                </a:solidFill>
                <a:latin typeface="Arial"/>
                <a:ea typeface="Arial"/>
                <a:cs typeface="Arial"/>
              </a:rPr>
              <a:t> </a:t>
            </a:r>
            <a:r>
              <a:rPr lang="en-US" sz="1650" b="0" dirty="0">
                <a:solidFill>
                  <a:srgbClr val="17211D"/>
                </a:solidFill>
                <a:latin typeface="Arial"/>
                <a:ea typeface="Arial"/>
                <a:cs typeface="Arial"/>
              </a:rPr>
              <a:t>NUM-BSCS23-28</a:t>
            </a:r>
            <a:endParaRPr sz="1650" b="0" dirty="0">
              <a:solidFill>
                <a:srgbClr val="17211D"/>
              </a:solidFill>
              <a:latin typeface="Arial"/>
              <a:ea typeface="Arial"/>
              <a:cs typeface="Arial"/>
            </a:endParaRPr>
          </a:p>
        </p:txBody>
      </p:sp>
      <p:sp>
        <p:nvSpPr>
          <p:cNvPr id="11" name="Rectangle 10">
            <a:extLst>
              <a:ext uri="{FF2B5EF4-FFF2-40B4-BE49-F238E27FC236}">
                <a16:creationId xmlns:a16="http://schemas.microsoft.com/office/drawing/2014/main" id="{A5093BEB-FEAA-4FF7-A19F-82EFDF063599}"/>
              </a:ext>
            </a:extLst>
          </p:cNvPr>
          <p:cNvSpPr>
            <a:spLocks noGrp="1"/>
          </p:cNvSpPr>
          <p:nvPr/>
        </p:nvSpPr>
        <p:spPr>
          <a:xfrm>
            <a:off x="609600" y="5591175"/>
            <a:ext cx="9715500" cy="276225"/>
          </a:xfrm>
          <a:prstGeom prst="rect">
            <a:avLst/>
          </a:prstGeom>
          <a:noFill/>
          <a:ln w="0">
            <a:noFill/>
            <a:prstDash val="solid"/>
          </a:ln>
        </p:spPr>
        <p:txBody>
          <a:bodyPr lIns="0" tIns="0" rIns="0" bIns="0" anchor="ctr">
            <a:noAutofit/>
          </a:bodyPr>
          <a:lstStyle/>
          <a:p>
            <a:pPr>
              <a:defRPr sz="1425" b="0">
                <a:solidFill>
                  <a:srgbClr val="52605A"/>
                </a:solidFill>
                <a:latin typeface="Arial"/>
                <a:ea typeface="Arial"/>
                <a:cs typeface="Arial"/>
              </a:defRPr>
            </a:pPr>
            <a:r>
              <a:rPr sz="2400" b="0" dirty="0">
                <a:solidFill>
                  <a:srgbClr val="52605A"/>
                </a:solidFill>
                <a:latin typeface="Arial"/>
                <a:ea typeface="Arial"/>
                <a:cs typeface="Arial"/>
              </a:rPr>
              <a:t>Supervisor: </a:t>
            </a:r>
            <a:r>
              <a:rPr lang="en-US" sz="2400" dirty="0">
                <a:latin typeface="Times New Roman" panose="02020603050405020304" pitchFamily="18" charset="0"/>
                <a:cs typeface="Times New Roman" panose="02020603050405020304" pitchFamily="18" charset="0"/>
              </a:rPr>
              <a:t>Dr. Malik M Ali Shahid          Co-supervisor: Mr. Abdul Rafay         </a:t>
            </a:r>
            <a:r>
              <a:rPr sz="2400" b="0" dirty="0">
                <a:solidFill>
                  <a:srgbClr val="52605A"/>
                </a:solidFill>
                <a:latin typeface="Arial"/>
                <a:ea typeface="Arial"/>
                <a:cs typeface="Arial"/>
              </a:rPr>
              <a:t>   Industrial partner: Inspired Square</a:t>
            </a:r>
          </a:p>
        </p:txBody>
      </p:sp>
    </p:spTree>
    <p:extLst>
      <p:ext uri="{BB962C8B-B14F-4D97-AF65-F5344CB8AC3E}">
        <p14:creationId xmlns:p14="http://schemas.microsoft.com/office/powerpoint/2010/main" val="90440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AEB8DFBA-BCBB-4D4C-AD23-891C11CF4B73}"/>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Outline</a:t>
            </a:r>
          </a:p>
        </p:txBody>
      </p:sp>
      <p:sp>
        <p:nvSpPr>
          <p:cNvPr id="3" name="Straight Connector 2">
            <a:extLst>
              <a:ext uri="{FF2B5EF4-FFF2-40B4-BE49-F238E27FC236}">
                <a16:creationId xmlns:a16="http://schemas.microsoft.com/office/drawing/2014/main" id="{6D91FF2C-7C2B-447D-BF2A-B401E8EDBDFC}"/>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35BFB6D5-64BD-46EB-B2DE-BEA6E5D10D01}"/>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5C664083-EDB0-49CC-B2C5-7DFA533D7E42}"/>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5A919FDE-0565-4676-9321-22235E61E15C}"/>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a:solidFill>
                  <a:srgbClr val="52605A"/>
                </a:solidFill>
                <a:latin typeface="Arial"/>
                <a:ea typeface="Arial"/>
                <a:cs typeface="Arial"/>
              </a:rPr>
              <a:t>02</a:t>
            </a:r>
          </a:p>
        </p:txBody>
      </p:sp>
      <p:sp>
        <p:nvSpPr>
          <p:cNvPr id="7" name="Rectangle 6">
            <a:extLst>
              <a:ext uri="{FF2B5EF4-FFF2-40B4-BE49-F238E27FC236}">
                <a16:creationId xmlns:a16="http://schemas.microsoft.com/office/drawing/2014/main" id="{14CA9E84-5333-4EA0-8A74-9B1F43C540F0}"/>
              </a:ext>
            </a:extLst>
          </p:cNvPr>
          <p:cNvSpPr>
            <a:spLocks noGrp="1"/>
          </p:cNvSpPr>
          <p:nvPr/>
        </p:nvSpPr>
        <p:spPr>
          <a:xfrm>
            <a:off x="666750" y="1657350"/>
            <a:ext cx="762000" cy="400050"/>
          </a:xfrm>
          <a:prstGeom prst="rect">
            <a:avLst/>
          </a:prstGeom>
          <a:noFill/>
          <a:ln w="0">
            <a:noFill/>
            <a:prstDash val="solid"/>
          </a:ln>
        </p:spPr>
        <p:txBody>
          <a:bodyPr lIns="0" tIns="0" rIns="0" bIns="0" anchor="ctr">
            <a:noAutofit/>
          </a:bodyPr>
          <a:lstStyle/>
          <a:p>
            <a:pPr algn="l">
              <a:defRPr sz="2025" b="1">
                <a:solidFill>
                  <a:srgbClr val="D2AE45"/>
                </a:solidFill>
                <a:latin typeface="Arial"/>
                <a:ea typeface="Arial"/>
                <a:cs typeface="Arial"/>
              </a:defRPr>
            </a:pPr>
            <a:r>
              <a:rPr sz="2025" b="1">
                <a:solidFill>
                  <a:srgbClr val="D2AE45"/>
                </a:solidFill>
                <a:latin typeface="Arial"/>
                <a:ea typeface="Arial"/>
                <a:cs typeface="Arial"/>
              </a:rPr>
              <a:t>01</a:t>
            </a:r>
          </a:p>
        </p:txBody>
      </p:sp>
      <p:sp>
        <p:nvSpPr>
          <p:cNvPr id="8" name="Rectangle 7">
            <a:extLst>
              <a:ext uri="{FF2B5EF4-FFF2-40B4-BE49-F238E27FC236}">
                <a16:creationId xmlns:a16="http://schemas.microsoft.com/office/drawing/2014/main" id="{89D0ABA0-3EE1-45C0-B444-0E046A3503E8}"/>
              </a:ext>
            </a:extLst>
          </p:cNvPr>
          <p:cNvSpPr>
            <a:spLocks noGrp="1"/>
          </p:cNvSpPr>
          <p:nvPr/>
        </p:nvSpPr>
        <p:spPr>
          <a:xfrm>
            <a:off x="1504950" y="1638300"/>
            <a:ext cx="7810500" cy="457200"/>
          </a:xfrm>
          <a:prstGeom prst="rect">
            <a:avLst/>
          </a:prstGeom>
          <a:noFill/>
          <a:ln w="0">
            <a:noFill/>
            <a:prstDash val="solid"/>
          </a:ln>
        </p:spPr>
        <p:txBody>
          <a:bodyPr lIns="0" tIns="0" rIns="0" bIns="0" anchor="ctr">
            <a:noAutofit/>
          </a:bodyPr>
          <a:lstStyle/>
          <a:p>
            <a:pPr algn="l">
              <a:defRPr sz="2400" b="0">
                <a:solidFill>
                  <a:srgbClr val="17211D"/>
                </a:solidFill>
                <a:latin typeface="Arial"/>
                <a:ea typeface="Arial"/>
                <a:cs typeface="Arial"/>
              </a:defRPr>
            </a:pPr>
            <a:r>
              <a:rPr sz="2400" b="0">
                <a:solidFill>
                  <a:srgbClr val="17211D"/>
                </a:solidFill>
                <a:latin typeface="Arial"/>
                <a:ea typeface="Arial"/>
                <a:cs typeface="Arial"/>
              </a:rPr>
              <a:t>Why learning agents matter</a:t>
            </a:r>
          </a:p>
        </p:txBody>
      </p:sp>
      <p:sp>
        <p:nvSpPr>
          <p:cNvPr id="9" name="Straight Connector 8">
            <a:extLst>
              <a:ext uri="{FF2B5EF4-FFF2-40B4-BE49-F238E27FC236}">
                <a16:creationId xmlns:a16="http://schemas.microsoft.com/office/drawing/2014/main" id="{6477037A-752A-41E0-AF22-B9C4BDFEF5F0}"/>
              </a:ext>
            </a:extLst>
          </p:cNvPr>
          <p:cNvSpPr>
            <a:spLocks noGrp="1"/>
          </p:cNvSpPr>
          <p:nvPr/>
        </p:nvSpPr>
        <p:spPr>
          <a:xfrm>
            <a:off x="666750" y="2257425"/>
            <a:ext cx="9334500" cy="0"/>
          </a:xfrm>
          <a:prstGeom prst="line">
            <a:avLst/>
          </a:prstGeom>
          <a:noFill/>
          <a:ln w="9525">
            <a:solidFill>
              <a:srgbClr val="D8E0DA"/>
            </a:solidFill>
            <a:prstDash val="solid"/>
          </a:ln>
        </p:spPr>
      </p:sp>
      <p:sp>
        <p:nvSpPr>
          <p:cNvPr id="10" name="Rectangle 9">
            <a:extLst>
              <a:ext uri="{FF2B5EF4-FFF2-40B4-BE49-F238E27FC236}">
                <a16:creationId xmlns:a16="http://schemas.microsoft.com/office/drawing/2014/main" id="{7A88EEE6-22FC-4AF6-9DB4-CE33CB19F9E8}"/>
              </a:ext>
            </a:extLst>
          </p:cNvPr>
          <p:cNvSpPr>
            <a:spLocks noGrp="1"/>
          </p:cNvSpPr>
          <p:nvPr/>
        </p:nvSpPr>
        <p:spPr>
          <a:xfrm>
            <a:off x="666750" y="2647950"/>
            <a:ext cx="762000" cy="400050"/>
          </a:xfrm>
          <a:prstGeom prst="rect">
            <a:avLst/>
          </a:prstGeom>
          <a:noFill/>
          <a:ln w="0">
            <a:noFill/>
            <a:prstDash val="solid"/>
          </a:ln>
        </p:spPr>
        <p:txBody>
          <a:bodyPr lIns="0" tIns="0" rIns="0" bIns="0" anchor="ctr">
            <a:noAutofit/>
          </a:bodyPr>
          <a:lstStyle/>
          <a:p>
            <a:pPr algn="l">
              <a:defRPr sz="2025" b="1">
                <a:solidFill>
                  <a:srgbClr val="D2AE45"/>
                </a:solidFill>
                <a:latin typeface="Arial"/>
                <a:ea typeface="Arial"/>
                <a:cs typeface="Arial"/>
              </a:defRPr>
            </a:pPr>
            <a:r>
              <a:rPr sz="2025" b="1">
                <a:solidFill>
                  <a:srgbClr val="D2AE45"/>
                </a:solidFill>
                <a:latin typeface="Arial"/>
                <a:ea typeface="Arial"/>
                <a:cs typeface="Arial"/>
              </a:rPr>
              <a:t>02</a:t>
            </a:r>
          </a:p>
        </p:txBody>
      </p:sp>
      <p:sp>
        <p:nvSpPr>
          <p:cNvPr id="11" name="Rectangle 10">
            <a:extLst>
              <a:ext uri="{FF2B5EF4-FFF2-40B4-BE49-F238E27FC236}">
                <a16:creationId xmlns:a16="http://schemas.microsoft.com/office/drawing/2014/main" id="{4C081B20-5495-47E3-A9F6-5DEF96C21371}"/>
              </a:ext>
            </a:extLst>
          </p:cNvPr>
          <p:cNvSpPr>
            <a:spLocks noGrp="1"/>
          </p:cNvSpPr>
          <p:nvPr/>
        </p:nvSpPr>
        <p:spPr>
          <a:xfrm>
            <a:off x="1504950" y="2628900"/>
            <a:ext cx="7810500" cy="457200"/>
          </a:xfrm>
          <a:prstGeom prst="rect">
            <a:avLst/>
          </a:prstGeom>
          <a:noFill/>
          <a:ln w="0">
            <a:noFill/>
            <a:prstDash val="solid"/>
          </a:ln>
        </p:spPr>
        <p:txBody>
          <a:bodyPr lIns="0" tIns="0" rIns="0" bIns="0" anchor="ctr">
            <a:noAutofit/>
          </a:bodyPr>
          <a:lstStyle/>
          <a:p>
            <a:pPr algn="l">
              <a:defRPr sz="2400" b="0">
                <a:solidFill>
                  <a:srgbClr val="17211D"/>
                </a:solidFill>
                <a:latin typeface="Arial"/>
                <a:ea typeface="Arial"/>
                <a:cs typeface="Arial"/>
              </a:defRPr>
            </a:pPr>
            <a:r>
              <a:rPr sz="2400" b="0">
                <a:solidFill>
                  <a:srgbClr val="17211D"/>
                </a:solidFill>
                <a:latin typeface="Arial"/>
                <a:ea typeface="Arial"/>
                <a:cs typeface="Arial"/>
              </a:rPr>
              <a:t>What we will compare</a:t>
            </a:r>
          </a:p>
        </p:txBody>
      </p:sp>
      <p:sp>
        <p:nvSpPr>
          <p:cNvPr id="12" name="Straight Connector 11">
            <a:extLst>
              <a:ext uri="{FF2B5EF4-FFF2-40B4-BE49-F238E27FC236}">
                <a16:creationId xmlns:a16="http://schemas.microsoft.com/office/drawing/2014/main" id="{2DE4BFE4-8BA4-41DD-8DB1-2A992C3A89F9}"/>
              </a:ext>
            </a:extLst>
          </p:cNvPr>
          <p:cNvSpPr>
            <a:spLocks noGrp="1"/>
          </p:cNvSpPr>
          <p:nvPr/>
        </p:nvSpPr>
        <p:spPr>
          <a:xfrm>
            <a:off x="666750" y="3248025"/>
            <a:ext cx="9334500" cy="0"/>
          </a:xfrm>
          <a:prstGeom prst="line">
            <a:avLst/>
          </a:prstGeom>
          <a:noFill/>
          <a:ln w="9525">
            <a:solidFill>
              <a:srgbClr val="D8E0DA"/>
            </a:solidFill>
            <a:prstDash val="solid"/>
          </a:ln>
        </p:spPr>
      </p:sp>
      <p:sp>
        <p:nvSpPr>
          <p:cNvPr id="13" name="Rectangle 12">
            <a:extLst>
              <a:ext uri="{FF2B5EF4-FFF2-40B4-BE49-F238E27FC236}">
                <a16:creationId xmlns:a16="http://schemas.microsoft.com/office/drawing/2014/main" id="{836A4347-12FA-4C6E-8DB7-0A630D72CAC8}"/>
              </a:ext>
            </a:extLst>
          </p:cNvPr>
          <p:cNvSpPr>
            <a:spLocks noGrp="1"/>
          </p:cNvSpPr>
          <p:nvPr/>
        </p:nvSpPr>
        <p:spPr>
          <a:xfrm>
            <a:off x="666750" y="3638550"/>
            <a:ext cx="762000" cy="400050"/>
          </a:xfrm>
          <a:prstGeom prst="rect">
            <a:avLst/>
          </a:prstGeom>
          <a:noFill/>
          <a:ln w="0">
            <a:noFill/>
            <a:prstDash val="solid"/>
          </a:ln>
        </p:spPr>
        <p:txBody>
          <a:bodyPr lIns="0" tIns="0" rIns="0" bIns="0" anchor="ctr">
            <a:noAutofit/>
          </a:bodyPr>
          <a:lstStyle/>
          <a:p>
            <a:pPr algn="l">
              <a:defRPr sz="2025" b="1">
                <a:solidFill>
                  <a:srgbClr val="D2AE45"/>
                </a:solidFill>
                <a:latin typeface="Arial"/>
                <a:ea typeface="Arial"/>
                <a:cs typeface="Arial"/>
              </a:defRPr>
            </a:pPr>
            <a:r>
              <a:rPr sz="2025" b="1">
                <a:solidFill>
                  <a:srgbClr val="D2AE45"/>
                </a:solidFill>
                <a:latin typeface="Arial"/>
                <a:ea typeface="Arial"/>
                <a:cs typeface="Arial"/>
              </a:rPr>
              <a:t>03</a:t>
            </a:r>
          </a:p>
        </p:txBody>
      </p:sp>
      <p:sp>
        <p:nvSpPr>
          <p:cNvPr id="14" name="Rectangle 13">
            <a:extLst>
              <a:ext uri="{FF2B5EF4-FFF2-40B4-BE49-F238E27FC236}">
                <a16:creationId xmlns:a16="http://schemas.microsoft.com/office/drawing/2014/main" id="{7BF33D21-29FF-461C-B321-EFD718B41261}"/>
              </a:ext>
            </a:extLst>
          </p:cNvPr>
          <p:cNvSpPr>
            <a:spLocks noGrp="1"/>
          </p:cNvSpPr>
          <p:nvPr/>
        </p:nvSpPr>
        <p:spPr>
          <a:xfrm>
            <a:off x="1504950" y="3619500"/>
            <a:ext cx="7810500" cy="457200"/>
          </a:xfrm>
          <a:prstGeom prst="rect">
            <a:avLst/>
          </a:prstGeom>
          <a:noFill/>
          <a:ln w="0">
            <a:noFill/>
            <a:prstDash val="solid"/>
          </a:ln>
        </p:spPr>
        <p:txBody>
          <a:bodyPr lIns="0" tIns="0" rIns="0" bIns="0" anchor="ctr">
            <a:noAutofit/>
          </a:bodyPr>
          <a:lstStyle/>
          <a:p>
            <a:pPr algn="l">
              <a:defRPr sz="2400" b="0">
                <a:solidFill>
                  <a:srgbClr val="17211D"/>
                </a:solidFill>
                <a:latin typeface="Arial"/>
                <a:ea typeface="Arial"/>
                <a:cs typeface="Arial"/>
              </a:defRPr>
            </a:pPr>
            <a:r>
              <a:rPr sz="2400" b="0">
                <a:solidFill>
                  <a:srgbClr val="17211D"/>
                </a:solidFill>
                <a:latin typeface="Arial"/>
                <a:ea typeface="Arial"/>
                <a:cs typeface="Arial"/>
              </a:rPr>
              <a:t>How we will measure results</a:t>
            </a:r>
          </a:p>
        </p:txBody>
      </p:sp>
      <p:sp>
        <p:nvSpPr>
          <p:cNvPr id="15" name="Straight Connector 14">
            <a:extLst>
              <a:ext uri="{FF2B5EF4-FFF2-40B4-BE49-F238E27FC236}">
                <a16:creationId xmlns:a16="http://schemas.microsoft.com/office/drawing/2014/main" id="{BFA2B16A-200C-42A1-AF96-CC04F23AF678}"/>
              </a:ext>
            </a:extLst>
          </p:cNvPr>
          <p:cNvSpPr>
            <a:spLocks noGrp="1"/>
          </p:cNvSpPr>
          <p:nvPr/>
        </p:nvSpPr>
        <p:spPr>
          <a:xfrm>
            <a:off x="666750" y="4238625"/>
            <a:ext cx="9334500" cy="0"/>
          </a:xfrm>
          <a:prstGeom prst="line">
            <a:avLst/>
          </a:prstGeom>
          <a:noFill/>
          <a:ln w="9525">
            <a:solidFill>
              <a:srgbClr val="D8E0DA"/>
            </a:solidFill>
            <a:prstDash val="solid"/>
          </a:ln>
        </p:spPr>
      </p:sp>
      <p:sp>
        <p:nvSpPr>
          <p:cNvPr id="16" name="Rectangle 15">
            <a:extLst>
              <a:ext uri="{FF2B5EF4-FFF2-40B4-BE49-F238E27FC236}">
                <a16:creationId xmlns:a16="http://schemas.microsoft.com/office/drawing/2014/main" id="{4824C520-D0A3-4F8F-B2FD-3F470F17F304}"/>
              </a:ext>
            </a:extLst>
          </p:cNvPr>
          <p:cNvSpPr>
            <a:spLocks noGrp="1"/>
          </p:cNvSpPr>
          <p:nvPr/>
        </p:nvSpPr>
        <p:spPr>
          <a:xfrm>
            <a:off x="666750" y="4629150"/>
            <a:ext cx="762000" cy="400050"/>
          </a:xfrm>
          <a:prstGeom prst="rect">
            <a:avLst/>
          </a:prstGeom>
          <a:noFill/>
          <a:ln w="0">
            <a:noFill/>
            <a:prstDash val="solid"/>
          </a:ln>
        </p:spPr>
        <p:txBody>
          <a:bodyPr lIns="0" tIns="0" rIns="0" bIns="0" anchor="ctr">
            <a:noAutofit/>
          </a:bodyPr>
          <a:lstStyle/>
          <a:p>
            <a:pPr algn="l">
              <a:defRPr sz="2025" b="1">
                <a:solidFill>
                  <a:srgbClr val="D2AE45"/>
                </a:solidFill>
                <a:latin typeface="Arial"/>
                <a:ea typeface="Arial"/>
                <a:cs typeface="Arial"/>
              </a:defRPr>
            </a:pPr>
            <a:r>
              <a:rPr sz="2025" b="1">
                <a:solidFill>
                  <a:srgbClr val="D2AE45"/>
                </a:solidFill>
                <a:latin typeface="Arial"/>
                <a:ea typeface="Arial"/>
                <a:cs typeface="Arial"/>
              </a:rPr>
              <a:t>04</a:t>
            </a:r>
          </a:p>
        </p:txBody>
      </p:sp>
      <p:sp>
        <p:nvSpPr>
          <p:cNvPr id="17" name="Rectangle 16">
            <a:extLst>
              <a:ext uri="{FF2B5EF4-FFF2-40B4-BE49-F238E27FC236}">
                <a16:creationId xmlns:a16="http://schemas.microsoft.com/office/drawing/2014/main" id="{6AF4A716-D82E-4FDF-94FA-8D34C9AE4AFB}"/>
              </a:ext>
            </a:extLst>
          </p:cNvPr>
          <p:cNvSpPr>
            <a:spLocks noGrp="1"/>
          </p:cNvSpPr>
          <p:nvPr/>
        </p:nvSpPr>
        <p:spPr>
          <a:xfrm>
            <a:off x="1504950" y="4610100"/>
            <a:ext cx="7810500" cy="457200"/>
          </a:xfrm>
          <a:prstGeom prst="rect">
            <a:avLst/>
          </a:prstGeom>
          <a:noFill/>
          <a:ln w="0">
            <a:noFill/>
            <a:prstDash val="solid"/>
          </a:ln>
        </p:spPr>
        <p:txBody>
          <a:bodyPr lIns="0" tIns="0" rIns="0" bIns="0" anchor="ctr">
            <a:noAutofit/>
          </a:bodyPr>
          <a:lstStyle/>
          <a:p>
            <a:pPr algn="l">
              <a:defRPr sz="2400" b="0">
                <a:solidFill>
                  <a:srgbClr val="17211D"/>
                </a:solidFill>
                <a:latin typeface="Arial"/>
                <a:ea typeface="Arial"/>
                <a:cs typeface="Arial"/>
              </a:defRPr>
            </a:pPr>
            <a:r>
              <a:rPr sz="2400" b="0">
                <a:solidFill>
                  <a:srgbClr val="17211D"/>
                </a:solidFill>
                <a:latin typeface="Arial"/>
                <a:ea typeface="Arial"/>
                <a:cs typeface="Arial"/>
              </a:rPr>
              <a:t>What we will deliver</a:t>
            </a:r>
          </a:p>
        </p:txBody>
      </p:sp>
      <p:sp>
        <p:nvSpPr>
          <p:cNvPr id="18" name="Straight Connector 17">
            <a:extLst>
              <a:ext uri="{FF2B5EF4-FFF2-40B4-BE49-F238E27FC236}">
                <a16:creationId xmlns:a16="http://schemas.microsoft.com/office/drawing/2014/main" id="{C0918A40-404D-4A4E-B834-2BC6DA841606}"/>
              </a:ext>
            </a:extLst>
          </p:cNvPr>
          <p:cNvSpPr>
            <a:spLocks noGrp="1"/>
          </p:cNvSpPr>
          <p:nvPr/>
        </p:nvSpPr>
        <p:spPr>
          <a:xfrm>
            <a:off x="666750" y="5229225"/>
            <a:ext cx="9334500" cy="0"/>
          </a:xfrm>
          <a:prstGeom prst="line">
            <a:avLst/>
          </a:prstGeom>
          <a:noFill/>
          <a:ln w="9525">
            <a:solidFill>
              <a:srgbClr val="D8E0DA"/>
            </a:solidFill>
            <a:prstDash val="solid"/>
          </a:ln>
        </p:spPr>
      </p:sp>
    </p:spTree>
    <p:extLst>
      <p:ext uri="{BB962C8B-B14F-4D97-AF65-F5344CB8AC3E}">
        <p14:creationId xmlns:p14="http://schemas.microsoft.com/office/powerpoint/2010/main" val="450812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A02F5274-C7B1-4D21-A5F3-D14BA5C35488}"/>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Introduction</a:t>
            </a:r>
          </a:p>
        </p:txBody>
      </p:sp>
      <p:sp>
        <p:nvSpPr>
          <p:cNvPr id="3" name="Straight Connector 2">
            <a:extLst>
              <a:ext uri="{FF2B5EF4-FFF2-40B4-BE49-F238E27FC236}">
                <a16:creationId xmlns:a16="http://schemas.microsoft.com/office/drawing/2014/main" id="{9B6A5852-93D2-4C9E-97D6-A8F0DB234D48}"/>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9CD1B5E6-CF12-4C26-BFE7-6805F2DA9766}"/>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CBEC69A6-EE59-49A1-BEAC-4FC0A3356E2F}"/>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8126E362-8065-4167-B063-BE02AD8769E6}"/>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03</a:t>
            </a:r>
          </a:p>
        </p:txBody>
      </p:sp>
      <p:sp>
        <p:nvSpPr>
          <p:cNvPr id="7" name="Rectangle 6">
            <a:extLst>
              <a:ext uri="{FF2B5EF4-FFF2-40B4-BE49-F238E27FC236}">
                <a16:creationId xmlns:a16="http://schemas.microsoft.com/office/drawing/2014/main" id="{0F08B6C6-EAAC-4802-B507-A97055C69C5E}"/>
              </a:ext>
            </a:extLst>
          </p:cNvPr>
          <p:cNvSpPr>
            <a:spLocks noGrp="1"/>
          </p:cNvSpPr>
          <p:nvPr/>
        </p:nvSpPr>
        <p:spPr>
          <a:xfrm>
            <a:off x="619125" y="1466850"/>
            <a:ext cx="10287000" cy="685800"/>
          </a:xfrm>
          <a:prstGeom prst="rect">
            <a:avLst/>
          </a:prstGeom>
          <a:noFill/>
          <a:ln w="0">
            <a:noFill/>
            <a:prstDash val="solid"/>
          </a:ln>
        </p:spPr>
        <p:txBody>
          <a:bodyPr lIns="0" tIns="0" rIns="0" bIns="0" anchor="ctr">
            <a:noAutofit/>
          </a:bodyPr>
          <a:lstStyle/>
          <a:p>
            <a:pPr algn="l">
              <a:defRPr sz="2775" b="1">
                <a:solidFill>
                  <a:srgbClr val="17211D"/>
                </a:solidFill>
                <a:latin typeface="Arial"/>
                <a:ea typeface="Arial"/>
                <a:cs typeface="Arial"/>
              </a:defRPr>
            </a:pPr>
            <a:r>
              <a:rPr sz="2775" b="1">
                <a:solidFill>
                  <a:srgbClr val="17211D"/>
                </a:solidFill>
                <a:latin typeface="Arial"/>
                <a:ea typeface="Arial"/>
                <a:cs typeface="Arial"/>
              </a:rPr>
              <a:t>An agent learns through trial and feedback</a:t>
            </a:r>
          </a:p>
        </p:txBody>
      </p:sp>
      <p:sp>
        <p:nvSpPr>
          <p:cNvPr id="8" name="Rectangle 7">
            <a:extLst>
              <a:ext uri="{FF2B5EF4-FFF2-40B4-BE49-F238E27FC236}">
                <a16:creationId xmlns:a16="http://schemas.microsoft.com/office/drawing/2014/main" id="{10A212C5-A890-4CB0-9A00-25486C396A0A}"/>
              </a:ext>
            </a:extLst>
          </p:cNvPr>
          <p:cNvSpPr>
            <a:spLocks noGrp="1"/>
          </p:cNvSpPr>
          <p:nvPr/>
        </p:nvSpPr>
        <p:spPr>
          <a:xfrm>
            <a:off x="647700" y="2743200"/>
            <a:ext cx="514350"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01</a:t>
            </a:r>
          </a:p>
        </p:txBody>
      </p:sp>
      <p:sp>
        <p:nvSpPr>
          <p:cNvPr id="9" name="Rectangle 8">
            <a:extLst>
              <a:ext uri="{FF2B5EF4-FFF2-40B4-BE49-F238E27FC236}">
                <a16:creationId xmlns:a16="http://schemas.microsoft.com/office/drawing/2014/main" id="{6631B0CA-DE74-43B6-80BB-57370FBE9E6F}"/>
              </a:ext>
            </a:extLst>
          </p:cNvPr>
          <p:cNvSpPr>
            <a:spLocks noGrp="1"/>
          </p:cNvSpPr>
          <p:nvPr/>
        </p:nvSpPr>
        <p:spPr>
          <a:xfrm>
            <a:off x="647700" y="3105150"/>
            <a:ext cx="2286000" cy="485775"/>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Observe</a:t>
            </a:r>
          </a:p>
        </p:txBody>
      </p:sp>
      <p:sp>
        <p:nvSpPr>
          <p:cNvPr id="10" name="Rectangle 9">
            <a:extLst>
              <a:ext uri="{FF2B5EF4-FFF2-40B4-BE49-F238E27FC236}">
                <a16:creationId xmlns:a16="http://schemas.microsoft.com/office/drawing/2014/main" id="{B6022256-B4BF-4FAA-A4AC-D3C9CE24B649}"/>
              </a:ext>
            </a:extLst>
          </p:cNvPr>
          <p:cNvSpPr>
            <a:spLocks noGrp="1"/>
          </p:cNvSpPr>
          <p:nvPr/>
        </p:nvSpPr>
        <p:spPr>
          <a:xfrm>
            <a:off x="647700" y="3676650"/>
            <a:ext cx="2190750" cy="647700"/>
          </a:xfrm>
          <a:prstGeom prst="rect">
            <a:avLst/>
          </a:prstGeom>
          <a:noFill/>
          <a:ln w="0">
            <a:noFill/>
            <a:prstDash val="solid"/>
          </a:ln>
        </p:spPr>
        <p:txBody>
          <a:bodyPr lIns="0" tIns="0" rIns="0" bIns="0" anchor="ctr">
            <a:noAutofit/>
          </a:bodyPr>
          <a:lstStyle/>
          <a:p>
            <a:pPr algn="l">
              <a:defRPr sz="1575" b="0">
                <a:solidFill>
                  <a:srgbClr val="52605A"/>
                </a:solidFill>
                <a:latin typeface="Arial"/>
                <a:ea typeface="Arial"/>
                <a:cs typeface="Arial"/>
              </a:defRPr>
            </a:pPr>
            <a:r>
              <a:rPr sz="1575" b="0">
                <a:solidFill>
                  <a:srgbClr val="52605A"/>
                </a:solidFill>
                <a:latin typeface="Arial"/>
                <a:ea typeface="Arial"/>
                <a:cs typeface="Arial"/>
              </a:rPr>
              <a:t>What is happening?</a:t>
            </a:r>
          </a:p>
        </p:txBody>
      </p:sp>
      <p:sp>
        <p:nvSpPr>
          <p:cNvPr id="11" name="Arrow: Right 10">
            <a:extLst>
              <a:ext uri="{FF2B5EF4-FFF2-40B4-BE49-F238E27FC236}">
                <a16:creationId xmlns:a16="http://schemas.microsoft.com/office/drawing/2014/main" id="{254D3135-05AB-46F5-9FC0-819FB06894A7}"/>
              </a:ext>
            </a:extLst>
          </p:cNvPr>
          <p:cNvSpPr>
            <a:spLocks noGrp="1"/>
          </p:cNvSpPr>
          <p:nvPr/>
        </p:nvSpPr>
        <p:spPr>
          <a:xfrm>
            <a:off x="2943225" y="3276600"/>
            <a:ext cx="333375" cy="228600"/>
          </a:xfrm>
          <a:prstGeom prst="rightArrow">
            <a:avLst/>
          </a:prstGeom>
          <a:solidFill>
            <a:srgbClr val="D2AE45"/>
          </a:solidFill>
          <a:ln w="0">
            <a:noFill/>
            <a:prstDash val="solid"/>
          </a:ln>
        </p:spPr>
      </p:sp>
      <p:sp>
        <p:nvSpPr>
          <p:cNvPr id="12" name="Rectangle 11">
            <a:extLst>
              <a:ext uri="{FF2B5EF4-FFF2-40B4-BE49-F238E27FC236}">
                <a16:creationId xmlns:a16="http://schemas.microsoft.com/office/drawing/2014/main" id="{B8945E88-0DDD-40DE-ADBB-4DA3075A747B}"/>
              </a:ext>
            </a:extLst>
          </p:cNvPr>
          <p:cNvSpPr>
            <a:spLocks noGrp="1"/>
          </p:cNvSpPr>
          <p:nvPr/>
        </p:nvSpPr>
        <p:spPr>
          <a:xfrm>
            <a:off x="3467100" y="2743200"/>
            <a:ext cx="514350"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02</a:t>
            </a:r>
          </a:p>
        </p:txBody>
      </p:sp>
      <p:sp>
        <p:nvSpPr>
          <p:cNvPr id="13" name="Rectangle 12">
            <a:extLst>
              <a:ext uri="{FF2B5EF4-FFF2-40B4-BE49-F238E27FC236}">
                <a16:creationId xmlns:a16="http://schemas.microsoft.com/office/drawing/2014/main" id="{89CAF119-D8A4-4977-94A4-F2D203C48473}"/>
              </a:ext>
            </a:extLst>
          </p:cNvPr>
          <p:cNvSpPr>
            <a:spLocks noGrp="1"/>
          </p:cNvSpPr>
          <p:nvPr/>
        </p:nvSpPr>
        <p:spPr>
          <a:xfrm>
            <a:off x="3467100" y="3105150"/>
            <a:ext cx="2286000" cy="485775"/>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Act</a:t>
            </a:r>
          </a:p>
        </p:txBody>
      </p:sp>
      <p:sp>
        <p:nvSpPr>
          <p:cNvPr id="14" name="Rectangle 13">
            <a:extLst>
              <a:ext uri="{FF2B5EF4-FFF2-40B4-BE49-F238E27FC236}">
                <a16:creationId xmlns:a16="http://schemas.microsoft.com/office/drawing/2014/main" id="{FC35A513-DF0E-4B9E-AF92-8455603F0A47}"/>
              </a:ext>
            </a:extLst>
          </p:cNvPr>
          <p:cNvSpPr>
            <a:spLocks noGrp="1"/>
          </p:cNvSpPr>
          <p:nvPr/>
        </p:nvSpPr>
        <p:spPr>
          <a:xfrm>
            <a:off x="3467100" y="3676650"/>
            <a:ext cx="2190750" cy="647700"/>
          </a:xfrm>
          <a:prstGeom prst="rect">
            <a:avLst/>
          </a:prstGeom>
          <a:noFill/>
          <a:ln w="0">
            <a:noFill/>
            <a:prstDash val="solid"/>
          </a:ln>
        </p:spPr>
        <p:txBody>
          <a:bodyPr lIns="0" tIns="0" rIns="0" bIns="0" anchor="ctr">
            <a:noAutofit/>
          </a:bodyPr>
          <a:lstStyle/>
          <a:p>
            <a:pPr algn="l">
              <a:defRPr sz="1575" b="0">
                <a:solidFill>
                  <a:srgbClr val="52605A"/>
                </a:solidFill>
                <a:latin typeface="Arial"/>
                <a:ea typeface="Arial"/>
                <a:cs typeface="Arial"/>
              </a:defRPr>
            </a:pPr>
            <a:r>
              <a:rPr sz="1575" b="0">
                <a:solidFill>
                  <a:srgbClr val="52605A"/>
                </a:solidFill>
                <a:latin typeface="Arial"/>
                <a:ea typeface="Arial"/>
                <a:cs typeface="Arial"/>
              </a:rPr>
              <a:t>Choose a move</a:t>
            </a:r>
          </a:p>
        </p:txBody>
      </p:sp>
      <p:sp>
        <p:nvSpPr>
          <p:cNvPr id="15" name="Arrow: Right 14">
            <a:extLst>
              <a:ext uri="{FF2B5EF4-FFF2-40B4-BE49-F238E27FC236}">
                <a16:creationId xmlns:a16="http://schemas.microsoft.com/office/drawing/2014/main" id="{C5AEAA70-2D9F-4C0F-9A75-834D875B5FC2}"/>
              </a:ext>
            </a:extLst>
          </p:cNvPr>
          <p:cNvSpPr>
            <a:spLocks noGrp="1"/>
          </p:cNvSpPr>
          <p:nvPr/>
        </p:nvSpPr>
        <p:spPr>
          <a:xfrm>
            <a:off x="5762625" y="3276600"/>
            <a:ext cx="333375" cy="228600"/>
          </a:xfrm>
          <a:prstGeom prst="rightArrow">
            <a:avLst/>
          </a:prstGeom>
          <a:solidFill>
            <a:srgbClr val="D2AE45"/>
          </a:solidFill>
          <a:ln w="0">
            <a:noFill/>
            <a:prstDash val="solid"/>
          </a:ln>
        </p:spPr>
      </p:sp>
      <p:sp>
        <p:nvSpPr>
          <p:cNvPr id="16" name="Rectangle 15">
            <a:extLst>
              <a:ext uri="{FF2B5EF4-FFF2-40B4-BE49-F238E27FC236}">
                <a16:creationId xmlns:a16="http://schemas.microsoft.com/office/drawing/2014/main" id="{AC9AE210-526B-4E38-A8DD-9B2FB07346A6}"/>
              </a:ext>
            </a:extLst>
          </p:cNvPr>
          <p:cNvSpPr>
            <a:spLocks noGrp="1"/>
          </p:cNvSpPr>
          <p:nvPr/>
        </p:nvSpPr>
        <p:spPr>
          <a:xfrm>
            <a:off x="6286500" y="2743200"/>
            <a:ext cx="514350"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03</a:t>
            </a:r>
          </a:p>
        </p:txBody>
      </p:sp>
      <p:sp>
        <p:nvSpPr>
          <p:cNvPr id="17" name="Rectangle 16">
            <a:extLst>
              <a:ext uri="{FF2B5EF4-FFF2-40B4-BE49-F238E27FC236}">
                <a16:creationId xmlns:a16="http://schemas.microsoft.com/office/drawing/2014/main" id="{010F9BF4-9AD7-48B1-829E-5FA569942E10}"/>
              </a:ext>
            </a:extLst>
          </p:cNvPr>
          <p:cNvSpPr>
            <a:spLocks noGrp="1"/>
          </p:cNvSpPr>
          <p:nvPr/>
        </p:nvSpPr>
        <p:spPr>
          <a:xfrm>
            <a:off x="6286500" y="3105150"/>
            <a:ext cx="2286000" cy="485775"/>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Reward</a:t>
            </a:r>
          </a:p>
        </p:txBody>
      </p:sp>
      <p:sp>
        <p:nvSpPr>
          <p:cNvPr id="18" name="Rectangle 17">
            <a:extLst>
              <a:ext uri="{FF2B5EF4-FFF2-40B4-BE49-F238E27FC236}">
                <a16:creationId xmlns:a16="http://schemas.microsoft.com/office/drawing/2014/main" id="{D77DA601-8E8C-46E2-A2EC-48194A14EB75}"/>
              </a:ext>
            </a:extLst>
          </p:cNvPr>
          <p:cNvSpPr>
            <a:spLocks noGrp="1"/>
          </p:cNvSpPr>
          <p:nvPr/>
        </p:nvSpPr>
        <p:spPr>
          <a:xfrm>
            <a:off x="6286500" y="3676650"/>
            <a:ext cx="2190750" cy="647700"/>
          </a:xfrm>
          <a:prstGeom prst="rect">
            <a:avLst/>
          </a:prstGeom>
          <a:noFill/>
          <a:ln w="0">
            <a:noFill/>
            <a:prstDash val="solid"/>
          </a:ln>
        </p:spPr>
        <p:txBody>
          <a:bodyPr lIns="0" tIns="0" rIns="0" bIns="0" anchor="ctr">
            <a:noAutofit/>
          </a:bodyPr>
          <a:lstStyle/>
          <a:p>
            <a:pPr algn="l">
              <a:defRPr sz="1575" b="0">
                <a:solidFill>
                  <a:srgbClr val="52605A"/>
                </a:solidFill>
                <a:latin typeface="Arial"/>
                <a:ea typeface="Arial"/>
                <a:cs typeface="Arial"/>
              </a:defRPr>
            </a:pPr>
            <a:r>
              <a:rPr sz="1575" b="0">
                <a:solidFill>
                  <a:srgbClr val="52605A"/>
                </a:solidFill>
                <a:latin typeface="Arial"/>
                <a:ea typeface="Arial"/>
                <a:cs typeface="Arial"/>
              </a:rPr>
              <a:t>Was it useful?</a:t>
            </a:r>
          </a:p>
        </p:txBody>
      </p:sp>
      <p:sp>
        <p:nvSpPr>
          <p:cNvPr id="19" name="Arrow: Right 18">
            <a:extLst>
              <a:ext uri="{FF2B5EF4-FFF2-40B4-BE49-F238E27FC236}">
                <a16:creationId xmlns:a16="http://schemas.microsoft.com/office/drawing/2014/main" id="{7766E4EC-BA22-4F44-B925-E95A4D23799A}"/>
              </a:ext>
            </a:extLst>
          </p:cNvPr>
          <p:cNvSpPr>
            <a:spLocks noGrp="1"/>
          </p:cNvSpPr>
          <p:nvPr/>
        </p:nvSpPr>
        <p:spPr>
          <a:xfrm>
            <a:off x="8582025" y="3276600"/>
            <a:ext cx="333375" cy="228600"/>
          </a:xfrm>
          <a:prstGeom prst="rightArrow">
            <a:avLst/>
          </a:prstGeom>
          <a:solidFill>
            <a:srgbClr val="D2AE45"/>
          </a:solidFill>
          <a:ln w="0">
            <a:noFill/>
            <a:prstDash val="solid"/>
          </a:ln>
        </p:spPr>
      </p:sp>
      <p:sp>
        <p:nvSpPr>
          <p:cNvPr id="20" name="Rectangle 19">
            <a:extLst>
              <a:ext uri="{FF2B5EF4-FFF2-40B4-BE49-F238E27FC236}">
                <a16:creationId xmlns:a16="http://schemas.microsoft.com/office/drawing/2014/main" id="{6BDFD0E9-1A5A-47F3-ACBB-E44648B6A943}"/>
              </a:ext>
            </a:extLst>
          </p:cNvPr>
          <p:cNvSpPr>
            <a:spLocks noGrp="1"/>
          </p:cNvSpPr>
          <p:nvPr/>
        </p:nvSpPr>
        <p:spPr>
          <a:xfrm>
            <a:off x="9105900" y="2743200"/>
            <a:ext cx="514350"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04</a:t>
            </a:r>
          </a:p>
        </p:txBody>
      </p:sp>
      <p:sp>
        <p:nvSpPr>
          <p:cNvPr id="21" name="Rectangle 20">
            <a:extLst>
              <a:ext uri="{FF2B5EF4-FFF2-40B4-BE49-F238E27FC236}">
                <a16:creationId xmlns:a16="http://schemas.microsoft.com/office/drawing/2014/main" id="{02431246-0448-4DFB-924E-27DA7B0CD3F5}"/>
              </a:ext>
            </a:extLst>
          </p:cNvPr>
          <p:cNvSpPr>
            <a:spLocks noGrp="1"/>
          </p:cNvSpPr>
          <p:nvPr/>
        </p:nvSpPr>
        <p:spPr>
          <a:xfrm>
            <a:off x="9105900" y="3105150"/>
            <a:ext cx="2286000" cy="485775"/>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Improve</a:t>
            </a:r>
          </a:p>
        </p:txBody>
      </p:sp>
      <p:sp>
        <p:nvSpPr>
          <p:cNvPr id="22" name="Rectangle 21">
            <a:extLst>
              <a:ext uri="{FF2B5EF4-FFF2-40B4-BE49-F238E27FC236}">
                <a16:creationId xmlns:a16="http://schemas.microsoft.com/office/drawing/2014/main" id="{6087479C-D664-4AC5-9890-F9A7EBE5A58A}"/>
              </a:ext>
            </a:extLst>
          </p:cNvPr>
          <p:cNvSpPr>
            <a:spLocks noGrp="1"/>
          </p:cNvSpPr>
          <p:nvPr/>
        </p:nvSpPr>
        <p:spPr>
          <a:xfrm>
            <a:off x="9105900" y="3676650"/>
            <a:ext cx="2190750" cy="647700"/>
          </a:xfrm>
          <a:prstGeom prst="rect">
            <a:avLst/>
          </a:prstGeom>
          <a:noFill/>
          <a:ln w="0">
            <a:noFill/>
            <a:prstDash val="solid"/>
          </a:ln>
        </p:spPr>
        <p:txBody>
          <a:bodyPr lIns="0" tIns="0" rIns="0" bIns="0" anchor="ctr">
            <a:noAutofit/>
          </a:bodyPr>
          <a:lstStyle/>
          <a:p>
            <a:pPr algn="l">
              <a:defRPr sz="1575" b="0">
                <a:solidFill>
                  <a:srgbClr val="52605A"/>
                </a:solidFill>
                <a:latin typeface="Arial"/>
                <a:ea typeface="Arial"/>
                <a:cs typeface="Arial"/>
              </a:defRPr>
            </a:pPr>
            <a:r>
              <a:rPr sz="1575" b="0">
                <a:solidFill>
                  <a:srgbClr val="52605A"/>
                </a:solidFill>
                <a:latin typeface="Arial"/>
                <a:ea typeface="Arial"/>
                <a:cs typeface="Arial"/>
              </a:rPr>
              <a:t>Update the policy</a:t>
            </a:r>
          </a:p>
        </p:txBody>
      </p:sp>
      <p:sp>
        <p:nvSpPr>
          <p:cNvPr id="23" name="Rectangle 22">
            <a:extLst>
              <a:ext uri="{FF2B5EF4-FFF2-40B4-BE49-F238E27FC236}">
                <a16:creationId xmlns:a16="http://schemas.microsoft.com/office/drawing/2014/main" id="{2C88283F-6DE8-48A3-85EA-3D8CC72C33E3}"/>
              </a:ext>
            </a:extLst>
          </p:cNvPr>
          <p:cNvSpPr>
            <a:spLocks noGrp="1"/>
          </p:cNvSpPr>
          <p:nvPr/>
        </p:nvSpPr>
        <p:spPr>
          <a:xfrm>
            <a:off x="647700" y="5019675"/>
            <a:ext cx="10287000" cy="552450"/>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dirty="0">
                <a:solidFill>
                  <a:srgbClr val="17211D"/>
                </a:solidFill>
                <a:latin typeface="Arial"/>
                <a:ea typeface="Arial"/>
                <a:cs typeface="Arial"/>
              </a:rPr>
              <a:t>Game 1: Hummingbirds   •   Game 2</a:t>
            </a:r>
            <a:r>
              <a:rPr lang="en-US" sz="1650" b="0" dirty="0">
                <a:solidFill>
                  <a:srgbClr val="17211D"/>
                </a:solidFill>
                <a:latin typeface="Arial"/>
                <a:ea typeface="Arial"/>
                <a:cs typeface="Arial"/>
              </a:rPr>
              <a:t>(SUGGESTION)</a:t>
            </a:r>
            <a:r>
              <a:rPr sz="1650" b="0" dirty="0">
                <a:solidFill>
                  <a:srgbClr val="17211D"/>
                </a:solidFill>
                <a:latin typeface="Arial"/>
                <a:ea typeface="Arial"/>
                <a:cs typeface="Arial"/>
              </a:rPr>
              <a:t>: TBD (likely a Mario-style platformer)</a:t>
            </a:r>
          </a:p>
        </p:txBody>
      </p:sp>
    </p:spTree>
    <p:extLst>
      <p:ext uri="{BB962C8B-B14F-4D97-AF65-F5344CB8AC3E}">
        <p14:creationId xmlns:p14="http://schemas.microsoft.com/office/powerpoint/2010/main" val="774890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40" y="213831"/>
            <a:ext cx="4958080" cy="1108094"/>
          </a:xfrm>
        </p:spPr>
        <p:txBody>
          <a:bodyPr>
            <a:normAutofit/>
          </a:bodyPr>
          <a:lstStyle/>
          <a:p>
            <a:r>
              <a:rPr lang="en-US" sz="2800" b="1" dirty="0">
                <a:latin typeface="Times New Roman" panose="02020603050405020304" pitchFamily="18" charset="0"/>
                <a:cs typeface="Times New Roman" panose="02020603050405020304" pitchFamily="18" charset="0"/>
              </a:rPr>
              <a:t>Literature Review:</a:t>
            </a:r>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3E94D9CA-177E-AF41-A87D-6A332E9A24C3}" type="slidenum">
              <a:rPr lang="en-US" smtClean="0"/>
              <a:t>4</a:t>
            </a:fld>
            <a:endParaRPr lang="en-US"/>
          </a:p>
        </p:txBody>
      </p:sp>
      <p:sp>
        <p:nvSpPr>
          <p:cNvPr id="5" name="Footer Placeholder 6">
            <a:extLst>
              <a:ext uri="{FF2B5EF4-FFF2-40B4-BE49-F238E27FC236}">
                <a16:creationId xmlns:a16="http://schemas.microsoft.com/office/drawing/2014/main" id="{88A84164-CAA3-2B7C-17C5-124EF1E90992}"/>
              </a:ext>
            </a:extLst>
          </p:cNvPr>
          <p:cNvSpPr>
            <a:spLocks noGrp="1"/>
          </p:cNvSpPr>
          <p:nvPr>
            <p:ph type="ftr" sz="quarter" idx="11"/>
          </p:nvPr>
        </p:nvSpPr>
        <p:spPr>
          <a:xfrm>
            <a:off x="4038600" y="6148485"/>
            <a:ext cx="4114800" cy="365125"/>
          </a:xfrm>
        </p:spPr>
        <p:txBody>
          <a:bodyPr/>
          <a:lstStyle/>
          <a:p>
            <a:r>
              <a:rPr lang="en-US" dirty="0"/>
              <a:t>Department of Computer Science</a:t>
            </a:r>
          </a:p>
          <a:p>
            <a:r>
              <a:rPr lang="en-US" dirty="0"/>
              <a:t>Namal University, </a:t>
            </a:r>
            <a:r>
              <a:rPr lang="en-US" dirty="0" err="1"/>
              <a:t>Mianwali</a:t>
            </a:r>
            <a:endParaRPr lang="en-US" dirty="0"/>
          </a:p>
        </p:txBody>
      </p:sp>
      <p:pic>
        <p:nvPicPr>
          <p:cNvPr id="9" name="Picture 8" descr="Namal University">
            <a:extLst>
              <a:ext uri="{FF2B5EF4-FFF2-40B4-BE49-F238E27FC236}">
                <a16:creationId xmlns:a16="http://schemas.microsoft.com/office/drawing/2014/main" id="{09FF79A2-1F17-195D-2CCC-C35E3D03BD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24269" y="11755"/>
            <a:ext cx="1203434" cy="1203434"/>
          </a:xfrm>
          <a:prstGeom prst="rect">
            <a:avLst/>
          </a:prstGeom>
          <a:noFill/>
          <a:ln>
            <a:noFill/>
          </a:ln>
        </p:spPr>
      </p:pic>
      <p:graphicFrame>
        <p:nvGraphicFramePr>
          <p:cNvPr id="8" name="Content Placeholder 7">
            <a:extLst>
              <a:ext uri="{FF2B5EF4-FFF2-40B4-BE49-F238E27FC236}">
                <a16:creationId xmlns:a16="http://schemas.microsoft.com/office/drawing/2014/main" id="{14709543-8406-5681-B951-C7004A32B04C}"/>
              </a:ext>
            </a:extLst>
          </p:cNvPr>
          <p:cNvGraphicFramePr>
            <a:graphicFrameLocks noGrp="1"/>
          </p:cNvGraphicFramePr>
          <p:nvPr>
            <p:ph idx="1"/>
          </p:nvPr>
        </p:nvGraphicFramePr>
        <p:xfrm>
          <a:off x="0" y="0"/>
          <a:ext cx="0" cy="0"/>
        </p:xfrm>
        <a:graphic>
          <a:graphicData uri="http://schemas.openxmlformats.org/drawingml/2006/table">
            <a:tbl>
              <a:tblPr>
                <a:tableStyleId>{5C22544A-7EE6-4342-B048-85BDC9FD1C3A}</a:tableStyleId>
              </a:tblPr>
              <a:tblGrid>
                <a:gridCol w="25400">
                  <a:extLst>
                    <a:ext uri="{9D8B030D-6E8A-4147-A177-3AD203B41FA5}">
                      <a16:colId xmlns:a16="http://schemas.microsoft.com/office/drawing/2014/main" val="1961951224"/>
                    </a:ext>
                  </a:extLst>
                </a:gridCol>
                <a:gridCol w="25400">
                  <a:extLst>
                    <a:ext uri="{9D8B030D-6E8A-4147-A177-3AD203B41FA5}">
                      <a16:colId xmlns:a16="http://schemas.microsoft.com/office/drawing/2014/main" val="437231109"/>
                    </a:ext>
                  </a:extLst>
                </a:gridCol>
                <a:gridCol w="25400">
                  <a:extLst>
                    <a:ext uri="{9D8B030D-6E8A-4147-A177-3AD203B41FA5}">
                      <a16:colId xmlns:a16="http://schemas.microsoft.com/office/drawing/2014/main" val="3442239632"/>
                    </a:ext>
                  </a:extLst>
                </a:gridCol>
                <a:gridCol w="25400">
                  <a:extLst>
                    <a:ext uri="{9D8B030D-6E8A-4147-A177-3AD203B41FA5}">
                      <a16:colId xmlns:a16="http://schemas.microsoft.com/office/drawing/2014/main" val="398185577"/>
                    </a:ext>
                  </a:extLst>
                </a:gridCol>
                <a:gridCol w="25400">
                  <a:extLst>
                    <a:ext uri="{9D8B030D-6E8A-4147-A177-3AD203B41FA5}">
                      <a16:colId xmlns:a16="http://schemas.microsoft.com/office/drawing/2014/main" val="3313830319"/>
                    </a:ext>
                  </a:extLst>
                </a:gridCol>
                <a:gridCol w="25400">
                  <a:extLst>
                    <a:ext uri="{9D8B030D-6E8A-4147-A177-3AD203B41FA5}">
                      <a16:colId xmlns:a16="http://schemas.microsoft.com/office/drawing/2014/main" val="3283410879"/>
                    </a:ext>
                  </a:extLst>
                </a:gridCol>
              </a:tblGrid>
              <a:tr h="0">
                <a:tc>
                  <a:txBody>
                    <a:bodyPr/>
                    <a:lstStyle/>
                    <a:p>
                      <a:pPr>
                        <a:buNone/>
                      </a:pPr>
                      <a:r>
                        <a:rPr lang="en-US" sz="100"/>
                        <a:t>Study / Work</a:t>
                      </a:r>
                    </a:p>
                  </a:txBody>
                  <a:tcPr marL="0" marR="0" marT="0" marB="0" anchor="ctr"/>
                </a:tc>
                <a:tc>
                  <a:txBody>
                    <a:bodyPr/>
                    <a:lstStyle/>
                    <a:p>
                      <a:pPr algn="ctr">
                        <a:buNone/>
                      </a:pPr>
                      <a:r>
                        <a:rPr lang="en-US" sz="100"/>
                        <a:t>PPO</a:t>
                      </a:r>
                    </a:p>
                  </a:txBody>
                  <a:tcPr marL="0" marR="0" marT="0" marB="0" anchor="ctr"/>
                </a:tc>
                <a:tc>
                  <a:txBody>
                    <a:bodyPr/>
                    <a:lstStyle/>
                    <a:p>
                      <a:pPr algn="ctr">
                        <a:buNone/>
                      </a:pPr>
                      <a:r>
                        <a:rPr lang="en-US" sz="100"/>
                        <a:t>SAC</a:t>
                      </a:r>
                    </a:p>
                  </a:txBody>
                  <a:tcPr marL="0" marR="0" marT="0" marB="0" anchor="ctr"/>
                </a:tc>
                <a:tc>
                  <a:txBody>
                    <a:bodyPr/>
                    <a:lstStyle/>
                    <a:p>
                      <a:pPr algn="ctr">
                        <a:buNone/>
                      </a:pPr>
                      <a:r>
                        <a:rPr lang="en-US" sz="100"/>
                        <a:t>Curiosity / Intrinsic Reward</a:t>
                      </a:r>
                    </a:p>
                  </a:txBody>
                  <a:tcPr marL="0" marR="0" marT="0" marB="0" anchor="ctr"/>
                </a:tc>
                <a:tc>
                  <a:txBody>
                    <a:bodyPr/>
                    <a:lstStyle/>
                    <a:p>
                      <a:pPr algn="ctr">
                        <a:buNone/>
                      </a:pPr>
                      <a:r>
                        <a:rPr lang="en-US" sz="100"/>
                        <a:t>PPO vs SAC</a:t>
                      </a:r>
                    </a:p>
                  </a:txBody>
                  <a:tcPr marL="0" marR="0" marT="0" marB="0" anchor="ctr"/>
                </a:tc>
                <a:tc>
                  <a:txBody>
                    <a:bodyPr/>
                    <a:lstStyle/>
                    <a:p>
                      <a:pPr algn="ctr">
                        <a:buNone/>
                      </a:pPr>
                      <a:r>
                        <a:rPr lang="en-US" sz="100"/>
                        <a:t>Exploration Comparison</a:t>
                      </a:r>
                    </a:p>
                  </a:txBody>
                  <a:tcPr marL="0" marR="0" marT="0" marB="0" anchor="ctr"/>
                </a:tc>
                <a:extLst>
                  <a:ext uri="{0D108BD9-81ED-4DB2-BD59-A6C34878D82A}">
                    <a16:rowId xmlns:a16="http://schemas.microsoft.com/office/drawing/2014/main" val="952582829"/>
                  </a:ext>
                </a:extLst>
              </a:tr>
              <a:tr h="0">
                <a:tc>
                  <a:txBody>
                    <a:bodyPr/>
                    <a:lstStyle/>
                    <a:p>
                      <a:pPr>
                        <a:buNone/>
                      </a:pPr>
                      <a:r>
                        <a:rPr lang="en-US" sz="100"/>
                        <a:t>Unity: A General Platform for Intelligent Agents (2018)</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3633531342"/>
                  </a:ext>
                </a:extLst>
              </a:tr>
              <a:tr h="0">
                <a:tc>
                  <a:txBody>
                    <a:bodyPr/>
                    <a:lstStyle/>
                    <a:p>
                      <a:pPr>
                        <a:buNone/>
                      </a:pPr>
                      <a:r>
                        <a:rPr lang="en-US" sz="100"/>
                        <a:t>Automatic Intrinsic Reward Shaping for Exploration in Deep RL (2023)</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1388405251"/>
                  </a:ext>
                </a:extLst>
              </a:tr>
              <a:tr h="0">
                <a:tc>
                  <a:txBody>
                    <a:bodyPr/>
                    <a:lstStyle/>
                    <a:p>
                      <a:pPr>
                        <a:buNone/>
                      </a:pPr>
                      <a:r>
                        <a:rPr lang="en-US" sz="100"/>
                        <a:t>RLeXplore: Accelerating Research in Intrinsically-Motivated RL (2023)</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4069212275"/>
                  </a:ext>
                </a:extLst>
              </a:tr>
              <a:tr h="0">
                <a:tc>
                  <a:txBody>
                    <a:bodyPr/>
                    <a:lstStyle/>
                    <a:p>
                      <a:pPr>
                        <a:buNone/>
                      </a:pPr>
                      <a:r>
                        <a:rPr lang="en-US" sz="100"/>
                        <a:t>RL in a Virtual World: PPO and SAC within Unity ML-Agents (2024)</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2582300027"/>
                  </a:ext>
                </a:extLst>
              </a:tr>
              <a:tr h="0">
                <a:tc>
                  <a:txBody>
                    <a:bodyPr/>
                    <a:lstStyle/>
                    <a:p>
                      <a:pPr>
                        <a:buNone/>
                      </a:pPr>
                      <a:r>
                        <a:rPr lang="en-US" sz="100"/>
                        <a:t>Proposed FYP (2026)</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dirty="0"/>
                        <a:t>✓</a:t>
                      </a:r>
                    </a:p>
                  </a:txBody>
                  <a:tcPr marL="0" marR="0" marT="0" marB="0" anchor="ctr"/>
                </a:tc>
                <a:extLst>
                  <a:ext uri="{0D108BD9-81ED-4DB2-BD59-A6C34878D82A}">
                    <a16:rowId xmlns:a16="http://schemas.microsoft.com/office/drawing/2014/main" val="3273772815"/>
                  </a:ext>
                </a:extLst>
              </a:tr>
            </a:tbl>
          </a:graphicData>
        </a:graphic>
      </p:graphicFrame>
      <p:sp>
        <p:nvSpPr>
          <p:cNvPr id="16" name="TextBox 15">
            <a:extLst>
              <a:ext uri="{FF2B5EF4-FFF2-40B4-BE49-F238E27FC236}">
                <a16:creationId xmlns:a16="http://schemas.microsoft.com/office/drawing/2014/main" id="{9C24B6D7-24C9-BF06-A5E7-C9B1B4B51FAA}"/>
              </a:ext>
            </a:extLst>
          </p:cNvPr>
          <p:cNvSpPr txBox="1"/>
          <p:nvPr/>
        </p:nvSpPr>
        <p:spPr>
          <a:xfrm>
            <a:off x="5739413" y="6392423"/>
            <a:ext cx="6166184" cy="242374"/>
          </a:xfrm>
          <a:prstGeom prst="rect">
            <a:avLst/>
          </a:prstGeom>
          <a:noFill/>
        </p:spPr>
        <p:txBody>
          <a:bodyPr wrap="square">
            <a:spAutoFit/>
          </a:bodyPr>
          <a:lstStyle/>
          <a:p>
            <a:pPr algn="r">
              <a:defRPr sz="975" b="0">
                <a:solidFill>
                  <a:srgbClr val="52605A"/>
                </a:solidFill>
                <a:latin typeface="Arial"/>
                <a:ea typeface="Arial"/>
                <a:cs typeface="Arial"/>
              </a:defRPr>
            </a:pPr>
            <a:r>
              <a:rPr lang="en-US" sz="975" b="0" dirty="0">
                <a:solidFill>
                  <a:srgbClr val="52605A"/>
                </a:solidFill>
                <a:latin typeface="Arial"/>
                <a:ea typeface="Arial"/>
                <a:cs typeface="Arial"/>
              </a:rPr>
              <a:t>04</a:t>
            </a:r>
          </a:p>
        </p:txBody>
      </p:sp>
      <p:graphicFrame>
        <p:nvGraphicFramePr>
          <p:cNvPr id="26" name="Content Placeholder 14">
            <a:extLst>
              <a:ext uri="{FF2B5EF4-FFF2-40B4-BE49-F238E27FC236}">
                <a16:creationId xmlns:a16="http://schemas.microsoft.com/office/drawing/2014/main" id="{F8D5ED94-DABC-1327-D6D9-3C240D9066C0}"/>
              </a:ext>
            </a:extLst>
          </p:cNvPr>
          <p:cNvGraphicFramePr>
            <a:graphicFrameLocks/>
          </p:cNvGraphicFramePr>
          <p:nvPr>
            <p:extLst>
              <p:ext uri="{D42A27DB-BD31-4B8C-83A1-F6EECF244321}">
                <p14:modId xmlns:p14="http://schemas.microsoft.com/office/powerpoint/2010/main" val="217229536"/>
              </p:ext>
            </p:extLst>
          </p:nvPr>
        </p:nvGraphicFramePr>
        <p:xfrm>
          <a:off x="844298" y="844346"/>
          <a:ext cx="9577255" cy="4657807"/>
        </p:xfrm>
        <a:graphic>
          <a:graphicData uri="http://schemas.openxmlformats.org/drawingml/2006/table">
            <a:tbl>
              <a:tblPr>
                <a:tableStyleId>{5C22544A-7EE6-4342-B048-85BDC9FD1C3A}</a:tableStyleId>
              </a:tblPr>
              <a:tblGrid>
                <a:gridCol w="1915451">
                  <a:extLst>
                    <a:ext uri="{9D8B030D-6E8A-4147-A177-3AD203B41FA5}">
                      <a16:colId xmlns:a16="http://schemas.microsoft.com/office/drawing/2014/main" val="3045768223"/>
                    </a:ext>
                  </a:extLst>
                </a:gridCol>
                <a:gridCol w="1915451">
                  <a:extLst>
                    <a:ext uri="{9D8B030D-6E8A-4147-A177-3AD203B41FA5}">
                      <a16:colId xmlns:a16="http://schemas.microsoft.com/office/drawing/2014/main" val="1784541011"/>
                    </a:ext>
                  </a:extLst>
                </a:gridCol>
                <a:gridCol w="1915451">
                  <a:extLst>
                    <a:ext uri="{9D8B030D-6E8A-4147-A177-3AD203B41FA5}">
                      <a16:colId xmlns:a16="http://schemas.microsoft.com/office/drawing/2014/main" val="3159666080"/>
                    </a:ext>
                  </a:extLst>
                </a:gridCol>
                <a:gridCol w="1915451">
                  <a:extLst>
                    <a:ext uri="{9D8B030D-6E8A-4147-A177-3AD203B41FA5}">
                      <a16:colId xmlns:a16="http://schemas.microsoft.com/office/drawing/2014/main" val="2625406687"/>
                    </a:ext>
                  </a:extLst>
                </a:gridCol>
                <a:gridCol w="1915451">
                  <a:extLst>
                    <a:ext uri="{9D8B030D-6E8A-4147-A177-3AD203B41FA5}">
                      <a16:colId xmlns:a16="http://schemas.microsoft.com/office/drawing/2014/main" val="2429803465"/>
                    </a:ext>
                  </a:extLst>
                </a:gridCol>
              </a:tblGrid>
              <a:tr h="251801">
                <a:tc>
                  <a:txBody>
                    <a:bodyPr/>
                    <a:lstStyle/>
                    <a:p>
                      <a:pPr>
                        <a:buNone/>
                      </a:pPr>
                      <a:r>
                        <a:rPr lang="en-US" sz="1600" b="1" dirty="0">
                          <a:latin typeface="Times New Roman" panose="02020603050405020304" pitchFamily="18" charset="0"/>
                          <a:cs typeface="Times New Roman" panose="02020603050405020304" pitchFamily="18" charset="0"/>
                        </a:rPr>
                        <a:t>Study / Work</a:t>
                      </a:r>
                    </a:p>
                  </a:txBody>
                  <a:tcPr marL="32232" marR="32232" marT="16116" marB="16116" anchor="ctr"/>
                </a:tc>
                <a:tc>
                  <a:txBody>
                    <a:bodyPr/>
                    <a:lstStyle/>
                    <a:p>
                      <a:pPr algn="ctr">
                        <a:buNone/>
                      </a:pPr>
                      <a:r>
                        <a:rPr lang="en-US" sz="1600" b="1">
                          <a:latin typeface="Times New Roman" panose="02020603050405020304" pitchFamily="18" charset="0"/>
                          <a:cs typeface="Times New Roman" panose="02020603050405020304" pitchFamily="18" charset="0"/>
                        </a:rPr>
                        <a:t>PPO</a:t>
                      </a:r>
                    </a:p>
                  </a:txBody>
                  <a:tcPr marL="32232" marR="32232" marT="16116" marB="16116" anchor="ctr"/>
                </a:tc>
                <a:tc>
                  <a:txBody>
                    <a:bodyPr/>
                    <a:lstStyle/>
                    <a:p>
                      <a:pPr algn="ctr">
                        <a:buNone/>
                      </a:pPr>
                      <a:r>
                        <a:rPr lang="en-US" sz="1600" b="1">
                          <a:latin typeface="Times New Roman" panose="02020603050405020304" pitchFamily="18" charset="0"/>
                          <a:cs typeface="Times New Roman" panose="02020603050405020304" pitchFamily="18" charset="0"/>
                        </a:rPr>
                        <a:t>SAC</a:t>
                      </a:r>
                    </a:p>
                  </a:txBody>
                  <a:tcPr marL="32232" marR="32232" marT="16116" marB="16116" anchor="ctr"/>
                </a:tc>
                <a:tc>
                  <a:txBody>
                    <a:bodyPr/>
                    <a:lstStyle/>
                    <a:p>
                      <a:pPr algn="ctr">
                        <a:buNone/>
                      </a:pPr>
                      <a:r>
                        <a:rPr lang="en-US" sz="1600" b="1" dirty="0">
                          <a:latin typeface="Times New Roman" panose="02020603050405020304" pitchFamily="18" charset="0"/>
                          <a:cs typeface="Times New Roman" panose="02020603050405020304" pitchFamily="18" charset="0"/>
                        </a:rPr>
                        <a:t>Curiosity / Exploration</a:t>
                      </a:r>
                    </a:p>
                  </a:txBody>
                  <a:tcPr marL="32232" marR="32232" marT="16116" marB="16116" anchor="ctr"/>
                </a:tc>
                <a:tc>
                  <a:txBody>
                    <a:bodyPr/>
                    <a:lstStyle/>
                    <a:p>
                      <a:pPr algn="ctr">
                        <a:buNone/>
                      </a:pPr>
                      <a:r>
                        <a:rPr lang="en-US" sz="1600" b="1" dirty="0">
                          <a:latin typeface="Times New Roman" panose="02020603050405020304" pitchFamily="18" charset="0"/>
                          <a:cs typeface="Times New Roman" panose="02020603050405020304" pitchFamily="18" charset="0"/>
                        </a:rPr>
                        <a:t>PPO VS SAC</a:t>
                      </a:r>
                    </a:p>
                  </a:txBody>
                  <a:tcPr marL="32232" marR="32232" marT="16116" marB="16116" anchor="ctr"/>
                </a:tc>
                <a:extLst>
                  <a:ext uri="{0D108BD9-81ED-4DB2-BD59-A6C34878D82A}">
                    <a16:rowId xmlns:a16="http://schemas.microsoft.com/office/drawing/2014/main" val="434192022"/>
                  </a:ext>
                </a:extLst>
              </a:tr>
              <a:tr h="899289">
                <a:tc>
                  <a:txBody>
                    <a:bodyPr/>
                    <a:lstStyle/>
                    <a:p>
                      <a:pPr>
                        <a:buNone/>
                      </a:pPr>
                      <a:r>
                        <a:rPr lang="en-US" sz="1600" b="0" dirty="0">
                          <a:latin typeface="Times New Roman" panose="02020603050405020304" pitchFamily="18" charset="0"/>
                          <a:cs typeface="Times New Roman" panose="02020603050405020304" pitchFamily="18" charset="0"/>
                        </a:rPr>
                        <a:t>Unity: A General Platform for Intelligent Agents (2018)</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extLst>
                  <a:ext uri="{0D108BD9-81ED-4DB2-BD59-A6C34878D82A}">
                    <a16:rowId xmlns:a16="http://schemas.microsoft.com/office/drawing/2014/main" val="3120081117"/>
                  </a:ext>
                </a:extLst>
              </a:tr>
              <a:tr h="899289">
                <a:tc>
                  <a:txBody>
                    <a:bodyPr/>
                    <a:lstStyle/>
                    <a:p>
                      <a:pPr>
                        <a:buNone/>
                      </a:pPr>
                      <a:r>
                        <a:rPr lang="en-US" sz="1600" b="0" dirty="0">
                          <a:latin typeface="Times New Roman" panose="02020603050405020304" pitchFamily="18" charset="0"/>
                          <a:cs typeface="Times New Roman" panose="02020603050405020304" pitchFamily="18" charset="0"/>
                        </a:rPr>
                        <a:t>Curiosity-driven Exploration in Sparse-reward Multi-agent RL (2023)</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232" marR="32232" marT="16116" marB="16116" anchor="ctr"/>
                </a:tc>
                <a:extLst>
                  <a:ext uri="{0D108BD9-81ED-4DB2-BD59-A6C34878D82A}">
                    <a16:rowId xmlns:a16="http://schemas.microsoft.com/office/drawing/2014/main" val="1089788738"/>
                  </a:ext>
                </a:extLst>
              </a:tr>
              <a:tr h="899289">
                <a:tc>
                  <a:txBody>
                    <a:bodyPr/>
                    <a:lstStyle/>
                    <a:p>
                      <a:pPr>
                        <a:buNone/>
                      </a:pPr>
                      <a:r>
                        <a:rPr lang="en-US" sz="1600" b="0">
                          <a:latin typeface="Times New Roman" panose="02020603050405020304" pitchFamily="18" charset="0"/>
                          <a:cs typeface="Times New Roman" panose="02020603050405020304" pitchFamily="18" charset="0"/>
                        </a:rPr>
                        <a:t>Automatic Intrinsic Reward Shaping for Exploration in Deep RL (Yuan et al., 2023)</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extLst>
                  <a:ext uri="{0D108BD9-81ED-4DB2-BD59-A6C34878D82A}">
                    <a16:rowId xmlns:a16="http://schemas.microsoft.com/office/drawing/2014/main" val="1961185047"/>
                  </a:ext>
                </a:extLst>
              </a:tr>
              <a:tr h="1115119">
                <a:tc>
                  <a:txBody>
                    <a:bodyPr/>
                    <a:lstStyle/>
                    <a:p>
                      <a:pPr>
                        <a:buNone/>
                      </a:pPr>
                      <a:r>
                        <a:rPr lang="en-US" sz="1600" b="0">
                          <a:latin typeface="Times New Roman" panose="02020603050405020304" pitchFamily="18" charset="0"/>
                          <a:cs typeface="Times New Roman" panose="02020603050405020304" pitchFamily="18" charset="0"/>
                        </a:rPr>
                        <a:t>Our FYP</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232" marR="32232" marT="16116" marB="1611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232" marR="32232" marT="16116" marB="16116" anchor="ctr"/>
                </a:tc>
                <a:extLst>
                  <a:ext uri="{0D108BD9-81ED-4DB2-BD59-A6C34878D82A}">
                    <a16:rowId xmlns:a16="http://schemas.microsoft.com/office/drawing/2014/main" val="3111684088"/>
                  </a:ext>
                </a:extLst>
              </a:tr>
            </a:tbl>
          </a:graphicData>
        </a:graphic>
      </p:graphicFrame>
    </p:spTree>
    <p:extLst>
      <p:ext uri="{BB962C8B-B14F-4D97-AF65-F5344CB8AC3E}">
        <p14:creationId xmlns:p14="http://schemas.microsoft.com/office/powerpoint/2010/main" val="56358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38688-D215-F222-C87E-09803E31D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E7BD0-301D-5F43-2A62-B0A720D7E16C}"/>
              </a:ext>
            </a:extLst>
          </p:cNvPr>
          <p:cNvSpPr>
            <a:spLocks noGrp="1"/>
          </p:cNvSpPr>
          <p:nvPr>
            <p:ph type="title"/>
          </p:nvPr>
        </p:nvSpPr>
        <p:spPr>
          <a:xfrm>
            <a:off x="497840" y="213831"/>
            <a:ext cx="4958080" cy="1108094"/>
          </a:xfrm>
        </p:spPr>
        <p:txBody>
          <a:bodyPr>
            <a:normAutofit/>
          </a:bodyPr>
          <a:lstStyle/>
          <a:p>
            <a:r>
              <a:rPr lang="en-US" sz="2800"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5C0CD755-407F-3ADC-0D30-6BB861EF5D4A}"/>
              </a:ext>
            </a:extLst>
          </p:cNvPr>
          <p:cNvSpPr>
            <a:spLocks noGrp="1"/>
          </p:cNvSpPr>
          <p:nvPr>
            <p:ph type="dt" sz="half" idx="10"/>
          </p:nvPr>
        </p:nvSpPr>
        <p:spPr/>
        <p:txBody>
          <a:bodyPr/>
          <a:lstStyle/>
          <a:p>
            <a:endParaRPr lang="en-US" sz="800" dirty="0"/>
          </a:p>
        </p:txBody>
      </p:sp>
      <p:sp>
        <p:nvSpPr>
          <p:cNvPr id="6" name="Slide Number Placeholder 5">
            <a:extLst>
              <a:ext uri="{FF2B5EF4-FFF2-40B4-BE49-F238E27FC236}">
                <a16:creationId xmlns:a16="http://schemas.microsoft.com/office/drawing/2014/main" id="{42B1D3C5-E38B-E130-3282-236878E12588}"/>
              </a:ext>
            </a:extLst>
          </p:cNvPr>
          <p:cNvSpPr>
            <a:spLocks noGrp="1"/>
          </p:cNvSpPr>
          <p:nvPr>
            <p:ph type="sldNum" sz="quarter" idx="12"/>
          </p:nvPr>
        </p:nvSpPr>
        <p:spPr/>
        <p:txBody>
          <a:bodyPr/>
          <a:lstStyle/>
          <a:p>
            <a:endParaRPr lang="en-US" dirty="0"/>
          </a:p>
        </p:txBody>
      </p:sp>
      <p:sp>
        <p:nvSpPr>
          <p:cNvPr id="5" name="Footer Placeholder 6">
            <a:extLst>
              <a:ext uri="{FF2B5EF4-FFF2-40B4-BE49-F238E27FC236}">
                <a16:creationId xmlns:a16="http://schemas.microsoft.com/office/drawing/2014/main" id="{F765011F-7D6D-BAF5-8B84-50BC67C6671C}"/>
              </a:ext>
            </a:extLst>
          </p:cNvPr>
          <p:cNvSpPr>
            <a:spLocks noGrp="1"/>
          </p:cNvSpPr>
          <p:nvPr>
            <p:ph type="ftr" sz="quarter" idx="11"/>
          </p:nvPr>
        </p:nvSpPr>
        <p:spPr>
          <a:xfrm>
            <a:off x="4038600" y="6148485"/>
            <a:ext cx="4114800" cy="365125"/>
          </a:xfrm>
        </p:spPr>
        <p:txBody>
          <a:bodyPr/>
          <a:lstStyle/>
          <a:p>
            <a:r>
              <a:rPr lang="en-US" dirty="0"/>
              <a:t>Department of Computer Science</a:t>
            </a:r>
          </a:p>
          <a:p>
            <a:r>
              <a:rPr lang="en-US" dirty="0"/>
              <a:t>Namal University, </a:t>
            </a:r>
            <a:r>
              <a:rPr lang="en-US" dirty="0" err="1"/>
              <a:t>Mianwali</a:t>
            </a:r>
            <a:endParaRPr lang="en-US" dirty="0"/>
          </a:p>
        </p:txBody>
      </p:sp>
      <p:pic>
        <p:nvPicPr>
          <p:cNvPr id="9" name="Picture 8" descr="Namal University">
            <a:extLst>
              <a:ext uri="{FF2B5EF4-FFF2-40B4-BE49-F238E27FC236}">
                <a16:creationId xmlns:a16="http://schemas.microsoft.com/office/drawing/2014/main" id="{A7B8869A-DDBB-5CEB-2931-BE6ADA1E509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24269" y="11755"/>
            <a:ext cx="1203434" cy="1203434"/>
          </a:xfrm>
          <a:prstGeom prst="rect">
            <a:avLst/>
          </a:prstGeom>
          <a:noFill/>
          <a:ln>
            <a:noFill/>
          </a:ln>
        </p:spPr>
      </p:pic>
      <p:graphicFrame>
        <p:nvGraphicFramePr>
          <p:cNvPr id="8" name="Content Placeholder 7">
            <a:extLst>
              <a:ext uri="{FF2B5EF4-FFF2-40B4-BE49-F238E27FC236}">
                <a16:creationId xmlns:a16="http://schemas.microsoft.com/office/drawing/2014/main" id="{6A6223EB-5B27-F764-0FC5-B16929A143E4}"/>
              </a:ext>
            </a:extLst>
          </p:cNvPr>
          <p:cNvGraphicFramePr>
            <a:graphicFrameLocks noGrp="1"/>
          </p:cNvGraphicFramePr>
          <p:nvPr>
            <p:ph idx="1"/>
          </p:nvPr>
        </p:nvGraphicFramePr>
        <p:xfrm>
          <a:off x="0" y="0"/>
          <a:ext cx="0" cy="0"/>
        </p:xfrm>
        <a:graphic>
          <a:graphicData uri="http://schemas.openxmlformats.org/drawingml/2006/table">
            <a:tbl>
              <a:tblPr>
                <a:tableStyleId>{5C22544A-7EE6-4342-B048-85BDC9FD1C3A}</a:tableStyleId>
              </a:tblPr>
              <a:tblGrid>
                <a:gridCol w="25400">
                  <a:extLst>
                    <a:ext uri="{9D8B030D-6E8A-4147-A177-3AD203B41FA5}">
                      <a16:colId xmlns:a16="http://schemas.microsoft.com/office/drawing/2014/main" val="1961951224"/>
                    </a:ext>
                  </a:extLst>
                </a:gridCol>
                <a:gridCol w="25400">
                  <a:extLst>
                    <a:ext uri="{9D8B030D-6E8A-4147-A177-3AD203B41FA5}">
                      <a16:colId xmlns:a16="http://schemas.microsoft.com/office/drawing/2014/main" val="437231109"/>
                    </a:ext>
                  </a:extLst>
                </a:gridCol>
                <a:gridCol w="25400">
                  <a:extLst>
                    <a:ext uri="{9D8B030D-6E8A-4147-A177-3AD203B41FA5}">
                      <a16:colId xmlns:a16="http://schemas.microsoft.com/office/drawing/2014/main" val="3442239632"/>
                    </a:ext>
                  </a:extLst>
                </a:gridCol>
                <a:gridCol w="25400">
                  <a:extLst>
                    <a:ext uri="{9D8B030D-6E8A-4147-A177-3AD203B41FA5}">
                      <a16:colId xmlns:a16="http://schemas.microsoft.com/office/drawing/2014/main" val="398185577"/>
                    </a:ext>
                  </a:extLst>
                </a:gridCol>
                <a:gridCol w="25400">
                  <a:extLst>
                    <a:ext uri="{9D8B030D-6E8A-4147-A177-3AD203B41FA5}">
                      <a16:colId xmlns:a16="http://schemas.microsoft.com/office/drawing/2014/main" val="3313830319"/>
                    </a:ext>
                  </a:extLst>
                </a:gridCol>
                <a:gridCol w="25400">
                  <a:extLst>
                    <a:ext uri="{9D8B030D-6E8A-4147-A177-3AD203B41FA5}">
                      <a16:colId xmlns:a16="http://schemas.microsoft.com/office/drawing/2014/main" val="3283410879"/>
                    </a:ext>
                  </a:extLst>
                </a:gridCol>
              </a:tblGrid>
              <a:tr h="0">
                <a:tc>
                  <a:txBody>
                    <a:bodyPr/>
                    <a:lstStyle/>
                    <a:p>
                      <a:pPr>
                        <a:buNone/>
                      </a:pPr>
                      <a:r>
                        <a:rPr lang="en-US" sz="100"/>
                        <a:t>Study / Work</a:t>
                      </a:r>
                    </a:p>
                  </a:txBody>
                  <a:tcPr marL="0" marR="0" marT="0" marB="0" anchor="ctr"/>
                </a:tc>
                <a:tc>
                  <a:txBody>
                    <a:bodyPr/>
                    <a:lstStyle/>
                    <a:p>
                      <a:pPr algn="ctr">
                        <a:buNone/>
                      </a:pPr>
                      <a:r>
                        <a:rPr lang="en-US" sz="100"/>
                        <a:t>PPO</a:t>
                      </a:r>
                    </a:p>
                  </a:txBody>
                  <a:tcPr marL="0" marR="0" marT="0" marB="0" anchor="ctr"/>
                </a:tc>
                <a:tc>
                  <a:txBody>
                    <a:bodyPr/>
                    <a:lstStyle/>
                    <a:p>
                      <a:pPr algn="ctr">
                        <a:buNone/>
                      </a:pPr>
                      <a:r>
                        <a:rPr lang="en-US" sz="100"/>
                        <a:t>SAC</a:t>
                      </a:r>
                    </a:p>
                  </a:txBody>
                  <a:tcPr marL="0" marR="0" marT="0" marB="0" anchor="ctr"/>
                </a:tc>
                <a:tc>
                  <a:txBody>
                    <a:bodyPr/>
                    <a:lstStyle/>
                    <a:p>
                      <a:pPr algn="ctr">
                        <a:buNone/>
                      </a:pPr>
                      <a:r>
                        <a:rPr lang="en-US" sz="100"/>
                        <a:t>Curiosity / Intrinsic Reward</a:t>
                      </a:r>
                    </a:p>
                  </a:txBody>
                  <a:tcPr marL="0" marR="0" marT="0" marB="0" anchor="ctr"/>
                </a:tc>
                <a:tc>
                  <a:txBody>
                    <a:bodyPr/>
                    <a:lstStyle/>
                    <a:p>
                      <a:pPr algn="ctr">
                        <a:buNone/>
                      </a:pPr>
                      <a:r>
                        <a:rPr lang="en-US" sz="100"/>
                        <a:t>PPO vs SAC</a:t>
                      </a:r>
                    </a:p>
                  </a:txBody>
                  <a:tcPr marL="0" marR="0" marT="0" marB="0" anchor="ctr"/>
                </a:tc>
                <a:tc>
                  <a:txBody>
                    <a:bodyPr/>
                    <a:lstStyle/>
                    <a:p>
                      <a:pPr algn="ctr">
                        <a:buNone/>
                      </a:pPr>
                      <a:r>
                        <a:rPr lang="en-US" sz="100"/>
                        <a:t>Exploration Comparison</a:t>
                      </a:r>
                    </a:p>
                  </a:txBody>
                  <a:tcPr marL="0" marR="0" marT="0" marB="0" anchor="ctr"/>
                </a:tc>
                <a:extLst>
                  <a:ext uri="{0D108BD9-81ED-4DB2-BD59-A6C34878D82A}">
                    <a16:rowId xmlns:a16="http://schemas.microsoft.com/office/drawing/2014/main" val="952582829"/>
                  </a:ext>
                </a:extLst>
              </a:tr>
              <a:tr h="0">
                <a:tc>
                  <a:txBody>
                    <a:bodyPr/>
                    <a:lstStyle/>
                    <a:p>
                      <a:pPr>
                        <a:buNone/>
                      </a:pPr>
                      <a:r>
                        <a:rPr lang="en-US" sz="100"/>
                        <a:t>Unity: A General Platform for Intelligent Agents (2018)</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3633531342"/>
                  </a:ext>
                </a:extLst>
              </a:tr>
              <a:tr h="0">
                <a:tc>
                  <a:txBody>
                    <a:bodyPr/>
                    <a:lstStyle/>
                    <a:p>
                      <a:pPr>
                        <a:buNone/>
                      </a:pPr>
                      <a:r>
                        <a:rPr lang="en-US" sz="100"/>
                        <a:t>Automatic Intrinsic Reward Shaping for Exploration in Deep RL (2023)</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1388405251"/>
                  </a:ext>
                </a:extLst>
              </a:tr>
              <a:tr h="0">
                <a:tc>
                  <a:txBody>
                    <a:bodyPr/>
                    <a:lstStyle/>
                    <a:p>
                      <a:pPr>
                        <a:buNone/>
                      </a:pPr>
                      <a:r>
                        <a:rPr lang="en-US" sz="100"/>
                        <a:t>RLeXplore: Accelerating Research in Intrinsically-Motivated RL (2023)</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4069212275"/>
                  </a:ext>
                </a:extLst>
              </a:tr>
              <a:tr h="0">
                <a:tc>
                  <a:txBody>
                    <a:bodyPr/>
                    <a:lstStyle/>
                    <a:p>
                      <a:pPr>
                        <a:buNone/>
                      </a:pPr>
                      <a:r>
                        <a:rPr lang="en-US" sz="100"/>
                        <a:t>RL in a Virtual World: PPO and SAC within Unity ML-Agents (2024)</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extLst>
                  <a:ext uri="{0D108BD9-81ED-4DB2-BD59-A6C34878D82A}">
                    <a16:rowId xmlns:a16="http://schemas.microsoft.com/office/drawing/2014/main" val="2582300027"/>
                  </a:ext>
                </a:extLst>
              </a:tr>
              <a:tr h="0">
                <a:tc>
                  <a:txBody>
                    <a:bodyPr/>
                    <a:lstStyle/>
                    <a:p>
                      <a:pPr>
                        <a:buNone/>
                      </a:pPr>
                      <a:r>
                        <a:rPr lang="en-US" sz="100"/>
                        <a:t>Proposed FYP (2026)</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a:t>✓</a:t>
                      </a:r>
                    </a:p>
                  </a:txBody>
                  <a:tcPr marL="0" marR="0" marT="0" marB="0" anchor="ctr"/>
                </a:tc>
                <a:tc>
                  <a:txBody>
                    <a:bodyPr/>
                    <a:lstStyle/>
                    <a:p>
                      <a:pPr algn="ctr">
                        <a:buNone/>
                      </a:pPr>
                      <a:r>
                        <a:rPr lang="en-US" sz="100" dirty="0"/>
                        <a:t>✓</a:t>
                      </a:r>
                    </a:p>
                  </a:txBody>
                  <a:tcPr marL="0" marR="0" marT="0" marB="0" anchor="ctr"/>
                </a:tc>
                <a:extLst>
                  <a:ext uri="{0D108BD9-81ED-4DB2-BD59-A6C34878D82A}">
                    <a16:rowId xmlns:a16="http://schemas.microsoft.com/office/drawing/2014/main" val="3273772815"/>
                  </a:ext>
                </a:extLst>
              </a:tr>
            </a:tbl>
          </a:graphicData>
        </a:graphic>
      </p:graphicFrame>
      <p:sp>
        <p:nvSpPr>
          <p:cNvPr id="16" name="TextBox 15">
            <a:extLst>
              <a:ext uri="{FF2B5EF4-FFF2-40B4-BE49-F238E27FC236}">
                <a16:creationId xmlns:a16="http://schemas.microsoft.com/office/drawing/2014/main" id="{581635C2-B5AD-E737-C68E-8C805281A6C7}"/>
              </a:ext>
            </a:extLst>
          </p:cNvPr>
          <p:cNvSpPr txBox="1"/>
          <p:nvPr/>
        </p:nvSpPr>
        <p:spPr>
          <a:xfrm>
            <a:off x="5739413" y="6392423"/>
            <a:ext cx="6166184" cy="242374"/>
          </a:xfrm>
          <a:prstGeom prst="rect">
            <a:avLst/>
          </a:prstGeom>
          <a:noFill/>
        </p:spPr>
        <p:txBody>
          <a:bodyPr wrap="square">
            <a:spAutoFit/>
          </a:bodyPr>
          <a:lstStyle/>
          <a:p>
            <a:pPr algn="r">
              <a:defRPr sz="975" b="0">
                <a:solidFill>
                  <a:srgbClr val="52605A"/>
                </a:solidFill>
                <a:latin typeface="Arial"/>
                <a:ea typeface="Arial"/>
                <a:cs typeface="Arial"/>
              </a:defRPr>
            </a:pPr>
            <a:r>
              <a:rPr lang="en-US" sz="975" b="0" dirty="0">
                <a:solidFill>
                  <a:srgbClr val="52605A"/>
                </a:solidFill>
                <a:latin typeface="Arial"/>
                <a:ea typeface="Arial"/>
                <a:cs typeface="Arial"/>
              </a:rPr>
              <a:t>04</a:t>
            </a:r>
          </a:p>
        </p:txBody>
      </p:sp>
      <p:sp>
        <p:nvSpPr>
          <p:cNvPr id="3" name="TextBox 2">
            <a:extLst>
              <a:ext uri="{FF2B5EF4-FFF2-40B4-BE49-F238E27FC236}">
                <a16:creationId xmlns:a16="http://schemas.microsoft.com/office/drawing/2014/main" id="{73ADBD25-429E-4018-2A63-E1872012A538}"/>
              </a:ext>
            </a:extLst>
          </p:cNvPr>
          <p:cNvSpPr txBox="1"/>
          <p:nvPr/>
        </p:nvSpPr>
        <p:spPr>
          <a:xfrm>
            <a:off x="890337" y="890337"/>
            <a:ext cx="184731" cy="369332"/>
          </a:xfrm>
          <a:prstGeom prst="rect">
            <a:avLst/>
          </a:prstGeom>
          <a:noFill/>
        </p:spPr>
        <p:txBody>
          <a:bodyPr wrap="none" rtlCol="0">
            <a:spAutoFit/>
          </a:bodyPr>
          <a:lstStyle/>
          <a:p>
            <a:endParaRPr lang="en-US" dirty="0"/>
          </a:p>
        </p:txBody>
      </p:sp>
      <p:graphicFrame>
        <p:nvGraphicFramePr>
          <p:cNvPr id="10" name="Table 9">
            <a:extLst>
              <a:ext uri="{FF2B5EF4-FFF2-40B4-BE49-F238E27FC236}">
                <a16:creationId xmlns:a16="http://schemas.microsoft.com/office/drawing/2014/main" id="{1CF3F8CD-F92D-CD32-98CB-B5AFEAF0FC2C}"/>
              </a:ext>
            </a:extLst>
          </p:cNvPr>
          <p:cNvGraphicFramePr>
            <a:graphicFrameLocks noGrp="1"/>
          </p:cNvGraphicFramePr>
          <p:nvPr>
            <p:extLst>
              <p:ext uri="{D42A27DB-BD31-4B8C-83A1-F6EECF244321}">
                <p14:modId xmlns:p14="http://schemas.microsoft.com/office/powerpoint/2010/main" val="3426727307"/>
              </p:ext>
            </p:extLst>
          </p:nvPr>
        </p:nvGraphicFramePr>
        <p:xfrm>
          <a:off x="890337" y="890337"/>
          <a:ext cx="9500616" cy="4086129"/>
        </p:xfrm>
        <a:graphic>
          <a:graphicData uri="http://schemas.openxmlformats.org/drawingml/2006/table">
            <a:tbl>
              <a:tblPr>
                <a:tableStyleId>{5C22544A-7EE6-4342-B048-85BDC9FD1C3A}</a:tableStyleId>
              </a:tblPr>
              <a:tblGrid>
                <a:gridCol w="1583436">
                  <a:extLst>
                    <a:ext uri="{9D8B030D-6E8A-4147-A177-3AD203B41FA5}">
                      <a16:colId xmlns:a16="http://schemas.microsoft.com/office/drawing/2014/main" val="3378024609"/>
                    </a:ext>
                  </a:extLst>
                </a:gridCol>
                <a:gridCol w="1583436">
                  <a:extLst>
                    <a:ext uri="{9D8B030D-6E8A-4147-A177-3AD203B41FA5}">
                      <a16:colId xmlns:a16="http://schemas.microsoft.com/office/drawing/2014/main" val="1987387037"/>
                    </a:ext>
                  </a:extLst>
                </a:gridCol>
                <a:gridCol w="1583436">
                  <a:extLst>
                    <a:ext uri="{9D8B030D-6E8A-4147-A177-3AD203B41FA5}">
                      <a16:colId xmlns:a16="http://schemas.microsoft.com/office/drawing/2014/main" val="1055673402"/>
                    </a:ext>
                  </a:extLst>
                </a:gridCol>
                <a:gridCol w="1583436">
                  <a:extLst>
                    <a:ext uri="{9D8B030D-6E8A-4147-A177-3AD203B41FA5}">
                      <a16:colId xmlns:a16="http://schemas.microsoft.com/office/drawing/2014/main" val="265946170"/>
                    </a:ext>
                  </a:extLst>
                </a:gridCol>
                <a:gridCol w="1583436">
                  <a:extLst>
                    <a:ext uri="{9D8B030D-6E8A-4147-A177-3AD203B41FA5}">
                      <a16:colId xmlns:a16="http://schemas.microsoft.com/office/drawing/2014/main" val="474003443"/>
                    </a:ext>
                  </a:extLst>
                </a:gridCol>
                <a:gridCol w="1583436">
                  <a:extLst>
                    <a:ext uri="{9D8B030D-6E8A-4147-A177-3AD203B41FA5}">
                      <a16:colId xmlns:a16="http://schemas.microsoft.com/office/drawing/2014/main" val="4256810478"/>
                    </a:ext>
                  </a:extLst>
                </a:gridCol>
              </a:tblGrid>
              <a:tr h="444228">
                <a:tc>
                  <a:txBody>
                    <a:bodyPr/>
                    <a:lstStyle/>
                    <a:p>
                      <a:pPr>
                        <a:buNone/>
                      </a:pPr>
                      <a:r>
                        <a:rPr lang="en-US" sz="1600" b="1" dirty="0">
                          <a:latin typeface="Times New Roman" panose="02020603050405020304" pitchFamily="18" charset="0"/>
                          <a:cs typeface="Times New Roman" panose="02020603050405020304" pitchFamily="18" charset="0"/>
                        </a:rPr>
                        <a:t>Study</a:t>
                      </a:r>
                    </a:p>
                  </a:txBody>
                  <a:tcPr marL="32473" marR="32473" marT="16236" marB="16236" anchor="ctr"/>
                </a:tc>
                <a:tc>
                  <a:txBody>
                    <a:bodyPr/>
                    <a:lstStyle/>
                    <a:p>
                      <a:pPr algn="ctr">
                        <a:buNone/>
                      </a:pPr>
                      <a:r>
                        <a:rPr lang="en-US" sz="1600" b="1">
                          <a:latin typeface="Times New Roman" panose="02020603050405020304" pitchFamily="18" charset="0"/>
                          <a:cs typeface="Times New Roman" panose="02020603050405020304" pitchFamily="18" charset="0"/>
                        </a:rPr>
                        <a:t>PPO</a:t>
                      </a:r>
                    </a:p>
                  </a:txBody>
                  <a:tcPr marL="32473" marR="32473" marT="16236" marB="16236" anchor="ctr"/>
                </a:tc>
                <a:tc>
                  <a:txBody>
                    <a:bodyPr/>
                    <a:lstStyle/>
                    <a:p>
                      <a:pPr algn="ctr">
                        <a:buNone/>
                      </a:pPr>
                      <a:r>
                        <a:rPr lang="en-US" sz="1600" b="1">
                          <a:latin typeface="Times New Roman" panose="02020603050405020304" pitchFamily="18" charset="0"/>
                          <a:cs typeface="Times New Roman" panose="02020603050405020304" pitchFamily="18" charset="0"/>
                        </a:rPr>
                        <a:t>SAC</a:t>
                      </a:r>
                    </a:p>
                  </a:txBody>
                  <a:tcPr marL="32473" marR="32473" marT="16236" marB="16236" anchor="ctr"/>
                </a:tc>
                <a:tc>
                  <a:txBody>
                    <a:bodyPr/>
                    <a:lstStyle/>
                    <a:p>
                      <a:pPr algn="ctr">
                        <a:buNone/>
                      </a:pPr>
                      <a:r>
                        <a:rPr lang="en-US" sz="1600" b="1" dirty="0">
                          <a:latin typeface="Times New Roman" panose="02020603050405020304" pitchFamily="18" charset="0"/>
                          <a:cs typeface="Times New Roman" panose="02020603050405020304" pitchFamily="18" charset="0"/>
                        </a:rPr>
                        <a:t>Curiosity / Exploration</a:t>
                      </a:r>
                    </a:p>
                  </a:txBody>
                  <a:tcPr marL="32473" marR="32473" marT="16236" marB="16236" anchor="ctr"/>
                </a:tc>
                <a:tc>
                  <a:txBody>
                    <a:bodyPr/>
                    <a:lstStyle/>
                    <a:p>
                      <a:pPr algn="ctr">
                        <a:buNone/>
                      </a:pPr>
                      <a:r>
                        <a:rPr lang="en-US" sz="1600" b="1">
                          <a:latin typeface="Times New Roman" panose="02020603050405020304" pitchFamily="18" charset="0"/>
                          <a:cs typeface="Times New Roman" panose="02020603050405020304" pitchFamily="18" charset="0"/>
                        </a:rPr>
                        <a:t>PPO vs SAC</a:t>
                      </a:r>
                    </a:p>
                  </a:txBody>
                  <a:tcPr marL="32473" marR="32473" marT="16236" marB="16236" anchor="ctr"/>
                </a:tc>
                <a:tc>
                  <a:txBody>
                    <a:bodyPr/>
                    <a:lstStyle/>
                    <a:p>
                      <a:pPr algn="ctr">
                        <a:buNone/>
                      </a:pPr>
                      <a:r>
                        <a:rPr lang="en-US" sz="1600" b="1">
                          <a:latin typeface="Times New Roman" panose="02020603050405020304" pitchFamily="18" charset="0"/>
                          <a:cs typeface="Times New Roman" panose="02020603050405020304" pitchFamily="18" charset="0"/>
                        </a:rPr>
                        <a:t>Exploration Comparison</a:t>
                      </a:r>
                    </a:p>
                  </a:txBody>
                  <a:tcPr marL="32473" marR="32473" marT="16236" marB="16236" anchor="ctr"/>
                </a:tc>
                <a:extLst>
                  <a:ext uri="{0D108BD9-81ED-4DB2-BD59-A6C34878D82A}">
                    <a16:rowId xmlns:a16="http://schemas.microsoft.com/office/drawing/2014/main" val="1762381174"/>
                  </a:ext>
                </a:extLst>
              </a:tr>
              <a:tr h="1098314">
                <a:tc>
                  <a:txBody>
                    <a:bodyPr/>
                    <a:lstStyle/>
                    <a:p>
                      <a:pPr>
                        <a:buNone/>
                      </a:pPr>
                      <a:r>
                        <a:rPr lang="en-US" sz="1600" b="0" dirty="0">
                          <a:latin typeface="Times New Roman" panose="02020603050405020304" pitchFamily="18" charset="0"/>
                          <a:cs typeface="Times New Roman" panose="02020603050405020304" pitchFamily="18" charset="0"/>
                        </a:rPr>
                        <a:t>Using Unity to Help Solve RL (2024)</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extLst>
                  <a:ext uri="{0D108BD9-81ED-4DB2-BD59-A6C34878D82A}">
                    <a16:rowId xmlns:a16="http://schemas.microsoft.com/office/drawing/2014/main" val="3685643805"/>
                  </a:ext>
                </a:extLst>
              </a:tr>
              <a:tr h="980638">
                <a:tc>
                  <a:txBody>
                    <a:bodyPr/>
                    <a:lstStyle/>
                    <a:p>
                      <a:pPr>
                        <a:buNone/>
                      </a:pPr>
                      <a:r>
                        <a:rPr lang="en-US" sz="1600" b="0">
                          <a:latin typeface="Times New Roman" panose="02020603050405020304" pitchFamily="18" charset="0"/>
                          <a:cs typeface="Times New Roman" panose="02020603050405020304" pitchFamily="18" charset="0"/>
                        </a:rPr>
                        <a:t>RL in a Virtual World: PPO and SAC within Unity ML-Agents (2025)</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extLst>
                  <a:ext uri="{0D108BD9-81ED-4DB2-BD59-A6C34878D82A}">
                    <a16:rowId xmlns:a16="http://schemas.microsoft.com/office/drawing/2014/main" val="4114346038"/>
                  </a:ext>
                </a:extLst>
              </a:tr>
              <a:tr h="1215991">
                <a:tc>
                  <a:txBody>
                    <a:bodyPr/>
                    <a:lstStyle/>
                    <a:p>
                      <a:pPr>
                        <a:buNone/>
                      </a:pPr>
                      <a:r>
                        <a:rPr lang="en-US" sz="1600" b="0">
                          <a:latin typeface="Times New Roman" panose="02020603050405020304" pitchFamily="18" charset="0"/>
                          <a:cs typeface="Times New Roman" panose="02020603050405020304" pitchFamily="18" charset="0"/>
                        </a:rPr>
                        <a:t>Proposed FYP</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a:latin typeface="Times New Roman" panose="02020603050405020304" pitchFamily="18" charset="0"/>
                          <a:cs typeface="Times New Roman" panose="02020603050405020304" pitchFamily="18" charset="0"/>
                        </a:rPr>
                        <a:t>✓</a:t>
                      </a:r>
                    </a:p>
                  </a:txBody>
                  <a:tcPr marL="32473" marR="32473" marT="16236" marB="16236" anchor="ctr"/>
                </a:tc>
                <a:tc>
                  <a:txBody>
                    <a:bodyPr/>
                    <a:lstStyle/>
                    <a:p>
                      <a:pPr algn="ctr">
                        <a:buNone/>
                      </a:pPr>
                      <a:r>
                        <a:rPr lang="en-US" sz="1600" b="0" dirty="0">
                          <a:latin typeface="Times New Roman" panose="02020603050405020304" pitchFamily="18" charset="0"/>
                          <a:cs typeface="Times New Roman" panose="02020603050405020304" pitchFamily="18" charset="0"/>
                        </a:rPr>
                        <a:t>✓</a:t>
                      </a:r>
                    </a:p>
                  </a:txBody>
                  <a:tcPr marL="32473" marR="32473" marT="16236" marB="16236" anchor="ctr"/>
                </a:tc>
                <a:extLst>
                  <a:ext uri="{0D108BD9-81ED-4DB2-BD59-A6C34878D82A}">
                    <a16:rowId xmlns:a16="http://schemas.microsoft.com/office/drawing/2014/main" val="944768216"/>
                  </a:ext>
                </a:extLst>
              </a:tr>
            </a:tbl>
          </a:graphicData>
        </a:graphic>
      </p:graphicFrame>
      <p:sp>
        <p:nvSpPr>
          <p:cNvPr id="11" name="TextBox 10">
            <a:extLst>
              <a:ext uri="{FF2B5EF4-FFF2-40B4-BE49-F238E27FC236}">
                <a16:creationId xmlns:a16="http://schemas.microsoft.com/office/drawing/2014/main" id="{E72C59F4-BC7D-A7C0-1598-9534D696B3CF}"/>
              </a:ext>
            </a:extLst>
          </p:cNvPr>
          <p:cNvSpPr txBox="1"/>
          <p:nvPr/>
        </p:nvSpPr>
        <p:spPr>
          <a:xfrm>
            <a:off x="806116" y="5057020"/>
            <a:ext cx="8936870" cy="923330"/>
          </a:xfrm>
          <a:prstGeom prst="rect">
            <a:avLst/>
          </a:prstGeom>
          <a:noFill/>
        </p:spPr>
        <p:txBody>
          <a:bodyPr wrap="none" rtlCol="0">
            <a:spAutoFit/>
          </a:bodyPr>
          <a:lstStyle/>
          <a:p>
            <a:pPr algn="just"/>
            <a:r>
              <a:rPr lang="en-US" dirty="0"/>
              <a:t>Our FYP brings these comparisons together to study how different learning and exploration </a:t>
            </a:r>
          </a:p>
          <a:p>
            <a:pPr algn="just"/>
            <a:r>
              <a:rPr lang="en-US" dirty="0"/>
              <a:t>approaches affect AI training.</a:t>
            </a:r>
          </a:p>
          <a:p>
            <a:endParaRPr lang="en-US" dirty="0"/>
          </a:p>
        </p:txBody>
      </p:sp>
    </p:spTree>
    <p:extLst>
      <p:ext uri="{BB962C8B-B14F-4D97-AF65-F5344CB8AC3E}">
        <p14:creationId xmlns:p14="http://schemas.microsoft.com/office/powerpoint/2010/main" val="819230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FC289A-3BFE-45A9-8F64-5FD8CB033767}"/>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73FDB03B-DED0-4016-B645-D66A05C514E8}"/>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BEA988E5-7BF6-4C91-9D47-70C7AF08B1E4}"/>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a:t>
            </a:r>
            <a:r>
              <a:rPr lang="en-US" sz="975" dirty="0">
                <a:solidFill>
                  <a:srgbClr val="52605A"/>
                </a:solidFill>
                <a:latin typeface="Arial"/>
                <a:ea typeface="Arial"/>
                <a:cs typeface="Arial"/>
              </a:rPr>
              <a:t>5</a:t>
            </a:r>
            <a:endParaRPr sz="975" b="0" dirty="0">
              <a:solidFill>
                <a:srgbClr val="52605A"/>
              </a:solidFill>
              <a:latin typeface="Arial"/>
              <a:ea typeface="Arial"/>
              <a:cs typeface="Arial"/>
            </a:endParaRPr>
          </a:p>
        </p:txBody>
      </p:sp>
      <p:pic>
        <p:nvPicPr>
          <p:cNvPr id="18" name="Picture 17">
            <a:extLst>
              <a:ext uri="{FF2B5EF4-FFF2-40B4-BE49-F238E27FC236}">
                <a16:creationId xmlns:a16="http://schemas.microsoft.com/office/drawing/2014/main" id="{30F4269D-31A0-5F13-3E8B-6BB48D2DCF68}"/>
              </a:ext>
            </a:extLst>
          </p:cNvPr>
          <p:cNvPicPr>
            <a:picLocks noChangeAspect="1"/>
          </p:cNvPicPr>
          <p:nvPr/>
        </p:nvPicPr>
        <p:blipFill>
          <a:blip r:embed="rId3"/>
          <a:stretch/>
        </p:blipFill>
        <p:spPr>
          <a:xfrm>
            <a:off x="10896600" y="190500"/>
            <a:ext cx="1028700" cy="1028700"/>
          </a:xfrm>
          <a:prstGeom prst="rect">
            <a:avLst/>
          </a:prstGeom>
        </p:spPr>
      </p:pic>
      <p:sp>
        <p:nvSpPr>
          <p:cNvPr id="20" name="slide-title">
            <a:extLst>
              <a:ext uri="{FF2B5EF4-FFF2-40B4-BE49-F238E27FC236}">
                <a16:creationId xmlns:a16="http://schemas.microsoft.com/office/drawing/2014/main" id="{87B40CE5-B570-3D45-D342-779447493399}"/>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Problem statement and objectives</a:t>
            </a:r>
          </a:p>
        </p:txBody>
      </p:sp>
      <p:sp>
        <p:nvSpPr>
          <p:cNvPr id="22" name="Straight Connector 21">
            <a:extLst>
              <a:ext uri="{FF2B5EF4-FFF2-40B4-BE49-F238E27FC236}">
                <a16:creationId xmlns:a16="http://schemas.microsoft.com/office/drawing/2014/main" id="{8FCAEC52-836F-3DF0-6540-AD6C156C0BCC}"/>
              </a:ext>
            </a:extLst>
          </p:cNvPr>
          <p:cNvSpPr>
            <a:spLocks noGrp="1"/>
          </p:cNvSpPr>
          <p:nvPr/>
        </p:nvSpPr>
        <p:spPr>
          <a:xfrm>
            <a:off x="590550" y="6191250"/>
            <a:ext cx="11334750" cy="0"/>
          </a:xfrm>
          <a:prstGeom prst="line">
            <a:avLst/>
          </a:prstGeom>
          <a:noFill/>
          <a:ln w="9525">
            <a:solidFill>
              <a:srgbClr val="D8E0DA"/>
            </a:solidFill>
            <a:prstDash val="solid"/>
          </a:ln>
        </p:spPr>
      </p:sp>
      <p:sp>
        <p:nvSpPr>
          <p:cNvPr id="24" name="Rectangle 23">
            <a:extLst>
              <a:ext uri="{FF2B5EF4-FFF2-40B4-BE49-F238E27FC236}">
                <a16:creationId xmlns:a16="http://schemas.microsoft.com/office/drawing/2014/main" id="{008FFA24-98C5-D9C4-B2B7-7FBEA2C599C4}"/>
              </a:ext>
            </a:extLst>
          </p:cNvPr>
          <p:cNvSpPr>
            <a:spLocks noGrp="1"/>
          </p:cNvSpPr>
          <p:nvPr/>
        </p:nvSpPr>
        <p:spPr>
          <a:xfrm>
            <a:off x="647700" y="2078174"/>
            <a:ext cx="10001250" cy="1104900"/>
          </a:xfrm>
          <a:prstGeom prst="rect">
            <a:avLst/>
          </a:prstGeom>
          <a:noFill/>
          <a:ln w="0">
            <a:noFill/>
            <a:prstDash val="solid"/>
          </a:ln>
        </p:spPr>
        <p:txBody>
          <a:bodyPr lIns="0" tIns="0" rIns="0" bIns="0" anchor="ctr">
            <a:noAutofit/>
          </a:bodyPr>
          <a:lstStyle/>
          <a:p>
            <a:r>
              <a:rPr lang="en-US" sz="2400" dirty="0">
                <a:solidFill>
                  <a:srgbClr val="17211D"/>
                </a:solidFill>
                <a:latin typeface="Arial"/>
              </a:rPr>
              <a:t>Developers don't know which RL algorithm and exploration method to choose for training game agents. A method that works well in one game may fail in another. Without a fair, controlled comparison, they rely on guesswork, wasting time and training resources.</a:t>
            </a:r>
          </a:p>
        </p:txBody>
      </p:sp>
      <p:sp>
        <p:nvSpPr>
          <p:cNvPr id="26" name="Straight Connector 25">
            <a:extLst>
              <a:ext uri="{FF2B5EF4-FFF2-40B4-BE49-F238E27FC236}">
                <a16:creationId xmlns:a16="http://schemas.microsoft.com/office/drawing/2014/main" id="{8D24312E-D78D-8CAB-5B59-3B232DB9D02C}"/>
              </a:ext>
            </a:extLst>
          </p:cNvPr>
          <p:cNvSpPr>
            <a:spLocks noGrp="1"/>
          </p:cNvSpPr>
          <p:nvPr/>
        </p:nvSpPr>
        <p:spPr>
          <a:xfrm>
            <a:off x="501316" y="1162050"/>
            <a:ext cx="6777789" cy="0"/>
          </a:xfrm>
          <a:prstGeom prst="line">
            <a:avLst/>
          </a:prstGeom>
          <a:noFill/>
          <a:ln w="38100">
            <a:solidFill>
              <a:srgbClr val="D2AE45"/>
            </a:solidFill>
            <a:prstDash val="solid"/>
          </a:ln>
        </p:spPr>
      </p:sp>
      <p:sp>
        <p:nvSpPr>
          <p:cNvPr id="40" name="TextBox 39">
            <a:extLst>
              <a:ext uri="{FF2B5EF4-FFF2-40B4-BE49-F238E27FC236}">
                <a16:creationId xmlns:a16="http://schemas.microsoft.com/office/drawing/2014/main" id="{A5965BAD-4E04-3C7D-A3FF-70723A944327}"/>
              </a:ext>
            </a:extLst>
          </p:cNvPr>
          <p:cNvSpPr txBox="1"/>
          <p:nvPr/>
        </p:nvSpPr>
        <p:spPr>
          <a:xfrm>
            <a:off x="586740" y="1425345"/>
            <a:ext cx="5862186" cy="430887"/>
          </a:xfrm>
          <a:prstGeom prst="rect">
            <a:avLst/>
          </a:prstGeom>
          <a:noFill/>
        </p:spPr>
        <p:txBody>
          <a:bodyPr wrap="square" lIns="0" tIns="0" rIns="0" bIns="0" anchor="t">
            <a:spAutoFit/>
          </a:bodyPr>
          <a:lstStyle/>
          <a:p>
            <a:r>
              <a:rPr sz="2800" b="1" dirty="0">
                <a:solidFill>
                  <a:srgbClr val="006A43"/>
                </a:solidFill>
                <a:latin typeface="Arial"/>
              </a:rPr>
              <a:t>Problem statement</a:t>
            </a:r>
          </a:p>
        </p:txBody>
      </p:sp>
      <p:sp>
        <p:nvSpPr>
          <p:cNvPr id="9" name="Rectangle 8">
            <a:extLst>
              <a:ext uri="{FF2B5EF4-FFF2-40B4-BE49-F238E27FC236}">
                <a16:creationId xmlns:a16="http://schemas.microsoft.com/office/drawing/2014/main" id="{926A327D-4705-4354-E1C9-79AD1B312241}"/>
              </a:ext>
            </a:extLst>
          </p:cNvPr>
          <p:cNvSpPr>
            <a:spLocks noGrp="1"/>
          </p:cNvSpPr>
          <p:nvPr/>
        </p:nvSpPr>
        <p:spPr>
          <a:xfrm>
            <a:off x="647700" y="4590288"/>
            <a:ext cx="533400" cy="36576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1</a:t>
            </a:r>
          </a:p>
        </p:txBody>
      </p:sp>
      <p:sp>
        <p:nvSpPr>
          <p:cNvPr id="11" name="Rectangle 10">
            <a:extLst>
              <a:ext uri="{FF2B5EF4-FFF2-40B4-BE49-F238E27FC236}">
                <a16:creationId xmlns:a16="http://schemas.microsoft.com/office/drawing/2014/main" id="{BD7C4684-7953-DA95-D93A-1C911F46F7F7}"/>
              </a:ext>
            </a:extLst>
          </p:cNvPr>
          <p:cNvSpPr>
            <a:spLocks noGrp="1"/>
          </p:cNvSpPr>
          <p:nvPr/>
        </p:nvSpPr>
        <p:spPr>
          <a:xfrm>
            <a:off x="1276350" y="4590288"/>
            <a:ext cx="9601200" cy="365760"/>
          </a:xfrm>
          <a:prstGeom prst="rect">
            <a:avLst/>
          </a:prstGeom>
          <a:noFill/>
          <a:ln w="0">
            <a:noFill/>
            <a:prstDash val="solid"/>
          </a:ln>
        </p:spPr>
        <p:txBody>
          <a:bodyPr lIns="0" tIns="0" rIns="0" bIns="0" anchor="ctr">
            <a:noAutofit/>
          </a:bodyPr>
          <a:lstStyle/>
          <a:p>
            <a:pPr>
              <a:defRPr sz="2175" b="0">
                <a:solidFill>
                  <a:srgbClr val="17211D"/>
                </a:solidFill>
                <a:latin typeface="Arial"/>
                <a:ea typeface="Arial"/>
                <a:cs typeface="Arial"/>
              </a:defRPr>
            </a:pPr>
            <a:r>
              <a:rPr sz="1700" b="1" dirty="0">
                <a:solidFill>
                  <a:srgbClr val="17211D"/>
                </a:solidFill>
                <a:latin typeface="Arial"/>
                <a:ea typeface="Arial"/>
                <a:cs typeface="Arial"/>
              </a:rPr>
              <a:t>Compare learning algorithms</a:t>
            </a:r>
            <a:r>
              <a:rPr sz="1500" b="0" dirty="0">
                <a:solidFill>
                  <a:srgbClr val="4A5550"/>
                </a:solidFill>
                <a:latin typeface="Arial"/>
              </a:rPr>
              <a:t> </a:t>
            </a:r>
            <a:r>
              <a:rPr lang="en-US" sz="1500" b="0" dirty="0">
                <a:solidFill>
                  <a:srgbClr val="4A5550"/>
                </a:solidFill>
                <a:latin typeface="Arial"/>
              </a:rPr>
              <a:t>:</a:t>
            </a:r>
            <a:r>
              <a:rPr sz="1500" b="0" dirty="0">
                <a:solidFill>
                  <a:srgbClr val="4A5550"/>
                </a:solidFill>
                <a:latin typeface="Arial"/>
              </a:rPr>
              <a:t>  PPO</a:t>
            </a:r>
            <a:r>
              <a:rPr lang="en-US" sz="1500" b="0" dirty="0">
                <a:solidFill>
                  <a:srgbClr val="4A5550"/>
                </a:solidFill>
                <a:latin typeface="Arial"/>
              </a:rPr>
              <a:t>(</a:t>
            </a:r>
            <a:r>
              <a:rPr lang="en-US" sz="1600" b="1" dirty="0"/>
              <a:t>Proximal Policy Optimization)</a:t>
            </a:r>
            <a:r>
              <a:rPr sz="1500" b="0" dirty="0">
                <a:solidFill>
                  <a:srgbClr val="4A5550"/>
                </a:solidFill>
                <a:latin typeface="Arial"/>
              </a:rPr>
              <a:t> vs SAC</a:t>
            </a:r>
            <a:r>
              <a:rPr lang="en-US" sz="1500" b="0" dirty="0">
                <a:solidFill>
                  <a:srgbClr val="4A5550"/>
                </a:solidFill>
                <a:latin typeface="Arial"/>
              </a:rPr>
              <a:t>(</a:t>
            </a:r>
            <a:r>
              <a:rPr lang="en-US" sz="1600" b="1" dirty="0"/>
              <a:t>Soft Actor-Critic</a:t>
            </a:r>
            <a:r>
              <a:rPr lang="en-US" sz="1500" b="0" dirty="0">
                <a:solidFill>
                  <a:srgbClr val="4A5550"/>
                </a:solidFill>
                <a:latin typeface="Arial"/>
              </a:rPr>
              <a:t>)</a:t>
            </a:r>
            <a:endParaRPr sz="1500" b="0" dirty="0">
              <a:solidFill>
                <a:srgbClr val="4A5550"/>
              </a:solidFill>
              <a:latin typeface="Arial"/>
            </a:endParaRPr>
          </a:p>
        </p:txBody>
      </p:sp>
      <p:sp>
        <p:nvSpPr>
          <p:cNvPr id="13" name="Rectangle 12">
            <a:extLst>
              <a:ext uri="{FF2B5EF4-FFF2-40B4-BE49-F238E27FC236}">
                <a16:creationId xmlns:a16="http://schemas.microsoft.com/office/drawing/2014/main" id="{0101E1D4-CCC7-6F9F-7AA6-58D6F736FF04}"/>
              </a:ext>
            </a:extLst>
          </p:cNvPr>
          <p:cNvSpPr>
            <a:spLocks noGrp="1"/>
          </p:cNvSpPr>
          <p:nvPr/>
        </p:nvSpPr>
        <p:spPr>
          <a:xfrm>
            <a:off x="647700" y="5001768"/>
            <a:ext cx="533400" cy="36576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2</a:t>
            </a:r>
          </a:p>
        </p:txBody>
      </p:sp>
      <p:sp>
        <p:nvSpPr>
          <p:cNvPr id="15" name="Rectangle 14">
            <a:extLst>
              <a:ext uri="{FF2B5EF4-FFF2-40B4-BE49-F238E27FC236}">
                <a16:creationId xmlns:a16="http://schemas.microsoft.com/office/drawing/2014/main" id="{7FA23BDD-306D-A6A0-2392-CFD870C0DED1}"/>
              </a:ext>
            </a:extLst>
          </p:cNvPr>
          <p:cNvSpPr>
            <a:spLocks noGrp="1"/>
          </p:cNvSpPr>
          <p:nvPr/>
        </p:nvSpPr>
        <p:spPr>
          <a:xfrm>
            <a:off x="1276350" y="5001768"/>
            <a:ext cx="9601200" cy="365760"/>
          </a:xfrm>
          <a:prstGeom prst="rect">
            <a:avLst/>
          </a:prstGeom>
          <a:noFill/>
          <a:ln w="0">
            <a:noFill/>
            <a:prstDash val="solid"/>
          </a:ln>
        </p:spPr>
        <p:txBody>
          <a:bodyPr lIns="0" tIns="0" rIns="0" bIns="0" anchor="ctr">
            <a:noAutofit/>
          </a:bodyPr>
          <a:lstStyle/>
          <a:p>
            <a:pPr algn="l">
              <a:defRPr sz="2175" b="0">
                <a:solidFill>
                  <a:srgbClr val="17211D"/>
                </a:solidFill>
                <a:latin typeface="Arial"/>
                <a:ea typeface="Arial"/>
                <a:cs typeface="Arial"/>
              </a:defRPr>
            </a:pPr>
            <a:r>
              <a:rPr sz="1700" b="1" dirty="0">
                <a:solidFill>
                  <a:srgbClr val="17211D"/>
                </a:solidFill>
                <a:latin typeface="Arial"/>
                <a:ea typeface="Arial"/>
                <a:cs typeface="Arial"/>
              </a:rPr>
              <a:t>Test two exploration methods</a:t>
            </a:r>
            <a:r>
              <a:rPr sz="1500" b="0" dirty="0">
                <a:solidFill>
                  <a:srgbClr val="4A5550"/>
                </a:solidFill>
                <a:latin typeface="Arial"/>
              </a:rPr>
              <a:t> </a:t>
            </a:r>
            <a:r>
              <a:rPr lang="en-US" sz="1500" b="0" dirty="0">
                <a:solidFill>
                  <a:srgbClr val="4A5550"/>
                </a:solidFill>
                <a:latin typeface="Arial"/>
              </a:rPr>
              <a:t>:</a:t>
            </a:r>
            <a:r>
              <a:rPr sz="1500" b="0" dirty="0">
                <a:solidFill>
                  <a:srgbClr val="4A5550"/>
                </a:solidFill>
                <a:latin typeface="Arial"/>
              </a:rPr>
              <a:t>  curiosity</a:t>
            </a:r>
            <a:r>
              <a:rPr lang="en-US" sz="1500" b="0" dirty="0">
                <a:solidFill>
                  <a:srgbClr val="4A5550"/>
                </a:solidFill>
                <a:latin typeface="Arial"/>
              </a:rPr>
              <a:t>(next state prediction)</a:t>
            </a:r>
            <a:r>
              <a:rPr sz="1500" b="0" dirty="0">
                <a:solidFill>
                  <a:srgbClr val="4A5550"/>
                </a:solidFill>
                <a:latin typeface="Arial"/>
              </a:rPr>
              <a:t> and RND</a:t>
            </a:r>
            <a:r>
              <a:rPr lang="en-US" sz="1500" b="0" dirty="0">
                <a:solidFill>
                  <a:srgbClr val="4A5550"/>
                </a:solidFill>
                <a:latin typeface="Arial"/>
              </a:rPr>
              <a:t>(random network distillation)</a:t>
            </a:r>
            <a:endParaRPr sz="1500" b="0" dirty="0">
              <a:solidFill>
                <a:srgbClr val="4A5550"/>
              </a:solidFill>
              <a:latin typeface="Arial"/>
            </a:endParaRPr>
          </a:p>
        </p:txBody>
      </p:sp>
      <p:sp>
        <p:nvSpPr>
          <p:cNvPr id="17" name="Rectangle 16">
            <a:extLst>
              <a:ext uri="{FF2B5EF4-FFF2-40B4-BE49-F238E27FC236}">
                <a16:creationId xmlns:a16="http://schemas.microsoft.com/office/drawing/2014/main" id="{3014BE94-1353-F40D-0CC0-648D7F91D078}"/>
              </a:ext>
            </a:extLst>
          </p:cNvPr>
          <p:cNvSpPr>
            <a:spLocks noGrp="1"/>
          </p:cNvSpPr>
          <p:nvPr/>
        </p:nvSpPr>
        <p:spPr>
          <a:xfrm>
            <a:off x="647700" y="5413248"/>
            <a:ext cx="533400" cy="36576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3</a:t>
            </a:r>
          </a:p>
        </p:txBody>
      </p:sp>
      <p:sp>
        <p:nvSpPr>
          <p:cNvPr id="21" name="Rectangle 20">
            <a:extLst>
              <a:ext uri="{FF2B5EF4-FFF2-40B4-BE49-F238E27FC236}">
                <a16:creationId xmlns:a16="http://schemas.microsoft.com/office/drawing/2014/main" id="{6BC07FE2-880B-5B4F-9EBD-6BCEFE2C453C}"/>
              </a:ext>
            </a:extLst>
          </p:cNvPr>
          <p:cNvSpPr>
            <a:spLocks noGrp="1"/>
          </p:cNvSpPr>
          <p:nvPr/>
        </p:nvSpPr>
        <p:spPr>
          <a:xfrm>
            <a:off x="1272540" y="5435656"/>
            <a:ext cx="9601200" cy="365760"/>
          </a:xfrm>
          <a:prstGeom prst="rect">
            <a:avLst/>
          </a:prstGeom>
          <a:noFill/>
          <a:ln w="0">
            <a:noFill/>
            <a:prstDash val="solid"/>
          </a:ln>
        </p:spPr>
        <p:txBody>
          <a:bodyPr lIns="0" tIns="0" rIns="0" bIns="0" anchor="ctr">
            <a:noAutofit/>
          </a:bodyPr>
          <a:lstStyle/>
          <a:p>
            <a:pPr algn="l">
              <a:defRPr sz="2175" b="0">
                <a:solidFill>
                  <a:srgbClr val="17211D"/>
                </a:solidFill>
                <a:latin typeface="Arial"/>
                <a:ea typeface="Arial"/>
                <a:cs typeface="Arial"/>
              </a:defRPr>
            </a:pPr>
            <a:r>
              <a:rPr sz="1700" b="1" dirty="0">
                <a:solidFill>
                  <a:srgbClr val="17211D"/>
                </a:solidFill>
                <a:latin typeface="Arial"/>
                <a:ea typeface="Arial"/>
                <a:cs typeface="Arial"/>
              </a:rPr>
              <a:t>Tune exploration settings</a:t>
            </a:r>
            <a:r>
              <a:rPr sz="1500" b="0" dirty="0">
                <a:solidFill>
                  <a:srgbClr val="4A5550"/>
                </a:solidFill>
                <a:latin typeface="Arial"/>
              </a:rPr>
              <a:t> </a:t>
            </a:r>
            <a:r>
              <a:rPr lang="en-US" sz="1500" b="0" dirty="0">
                <a:solidFill>
                  <a:srgbClr val="4A5550"/>
                </a:solidFill>
                <a:latin typeface="Arial"/>
              </a:rPr>
              <a:t>:</a:t>
            </a:r>
            <a:r>
              <a:rPr sz="1500" b="0" dirty="0">
                <a:solidFill>
                  <a:srgbClr val="4A5550"/>
                </a:solidFill>
                <a:latin typeface="Arial"/>
              </a:rPr>
              <a:t>  entropy and intrinsic reward strength</a:t>
            </a:r>
          </a:p>
        </p:txBody>
      </p:sp>
      <p:sp>
        <p:nvSpPr>
          <p:cNvPr id="25" name="TextBox 24">
            <a:extLst>
              <a:ext uri="{FF2B5EF4-FFF2-40B4-BE49-F238E27FC236}">
                <a16:creationId xmlns:a16="http://schemas.microsoft.com/office/drawing/2014/main" id="{F4A09436-8A1B-9968-9E4F-F1A8064A12DF}"/>
              </a:ext>
            </a:extLst>
          </p:cNvPr>
          <p:cNvSpPr txBox="1"/>
          <p:nvPr/>
        </p:nvSpPr>
        <p:spPr>
          <a:xfrm>
            <a:off x="647700" y="3808714"/>
            <a:ext cx="5486400" cy="430887"/>
          </a:xfrm>
          <a:prstGeom prst="rect">
            <a:avLst/>
          </a:prstGeom>
          <a:noFill/>
        </p:spPr>
        <p:txBody>
          <a:bodyPr wrap="square" lIns="0" tIns="0" rIns="0" bIns="0" anchor="t">
            <a:spAutoFit/>
          </a:bodyPr>
          <a:lstStyle/>
          <a:p>
            <a:r>
              <a:rPr sz="2800" b="1" dirty="0">
                <a:solidFill>
                  <a:srgbClr val="006A43"/>
                </a:solidFill>
                <a:latin typeface="Arial"/>
              </a:rPr>
              <a:t>Objectives</a:t>
            </a:r>
          </a:p>
        </p:txBody>
      </p:sp>
    </p:spTree>
    <p:extLst>
      <p:ext uri="{BB962C8B-B14F-4D97-AF65-F5344CB8AC3E}">
        <p14:creationId xmlns:p14="http://schemas.microsoft.com/office/powerpoint/2010/main" val="181941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BC4F2F44-0173-4FFC-BAB6-23A4B6AADD02}"/>
              </a:ext>
            </a:extLst>
          </p:cNvPr>
          <p:cNvSpPr>
            <a:spLocks noGrp="1"/>
          </p:cNvSpPr>
          <p:nvPr/>
        </p:nvSpPr>
        <p:spPr>
          <a:xfrm>
            <a:off x="590550" y="457199"/>
            <a:ext cx="10972800" cy="1142593"/>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dirty="0">
                <a:solidFill>
                  <a:srgbClr val="17211D"/>
                </a:solidFill>
                <a:latin typeface="Arial"/>
                <a:ea typeface="Arial"/>
                <a:cs typeface="Arial"/>
              </a:rPr>
              <a:t>Use cases</a:t>
            </a:r>
          </a:p>
        </p:txBody>
      </p:sp>
      <p:sp>
        <p:nvSpPr>
          <p:cNvPr id="3" name="Straight Connector 2">
            <a:extLst>
              <a:ext uri="{FF2B5EF4-FFF2-40B4-BE49-F238E27FC236}">
                <a16:creationId xmlns:a16="http://schemas.microsoft.com/office/drawing/2014/main" id="{C77CE3F7-2A7D-44DF-984F-9F7B67A40D67}"/>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E0FC289A-3BFE-45A9-8F64-5FD8CB033767}"/>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73FDB03B-DED0-4016-B645-D66A05C514E8}"/>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BEA988E5-7BF6-4C91-9D47-70C7AF08B1E4}"/>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a:t>
            </a:r>
            <a:r>
              <a:rPr lang="en-US" sz="975" b="0" dirty="0">
                <a:solidFill>
                  <a:srgbClr val="52605A"/>
                </a:solidFill>
                <a:latin typeface="Arial"/>
                <a:ea typeface="Arial"/>
                <a:cs typeface="Arial"/>
              </a:rPr>
              <a:t>6</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74E3D1D0-D423-4672-B0AE-071D52E56A22}"/>
              </a:ext>
            </a:extLst>
          </p:cNvPr>
          <p:cNvSpPr>
            <a:spLocks noGrp="1"/>
          </p:cNvSpPr>
          <p:nvPr/>
        </p:nvSpPr>
        <p:spPr>
          <a:xfrm>
            <a:off x="628650" y="1552575"/>
            <a:ext cx="10001250" cy="1104900"/>
          </a:xfrm>
          <a:prstGeom prst="rect">
            <a:avLst/>
          </a:prstGeom>
          <a:noFill/>
          <a:ln w="0">
            <a:noFill/>
            <a:prstDash val="solid"/>
          </a:ln>
        </p:spPr>
        <p:txBody>
          <a:bodyPr lIns="0" tIns="0" rIns="0" bIns="0" anchor="ctr">
            <a:noAutofit/>
          </a:bodyPr>
          <a:lstStyle/>
          <a:p>
            <a:pPr algn="l">
              <a:defRPr sz="3225" b="1">
                <a:solidFill>
                  <a:srgbClr val="17211D"/>
                </a:solidFill>
                <a:latin typeface="Arial"/>
                <a:ea typeface="Arial"/>
                <a:cs typeface="Arial"/>
              </a:defRPr>
            </a:pPr>
            <a:r>
              <a:rPr sz="3225" b="1">
                <a:solidFill>
                  <a:srgbClr val="17211D"/>
                </a:solidFill>
                <a:latin typeface="Arial"/>
                <a:ea typeface="Arial"/>
                <a:cs typeface="Arial"/>
              </a:rPr>
              <a:t>Where trained RL agents help in games</a:t>
            </a:r>
          </a:p>
        </p:txBody>
      </p:sp>
      <p:sp>
        <p:nvSpPr>
          <p:cNvPr id="8" name="Straight Connector 7">
            <a:extLst>
              <a:ext uri="{FF2B5EF4-FFF2-40B4-BE49-F238E27FC236}">
                <a16:creationId xmlns:a16="http://schemas.microsoft.com/office/drawing/2014/main" id="{8CF52956-5D5A-4604-A471-00E671F74B88}"/>
              </a:ext>
            </a:extLst>
          </p:cNvPr>
          <p:cNvSpPr>
            <a:spLocks noGrp="1"/>
          </p:cNvSpPr>
          <p:nvPr/>
        </p:nvSpPr>
        <p:spPr>
          <a:xfrm>
            <a:off x="638175" y="2819400"/>
            <a:ext cx="10287000" cy="0"/>
          </a:xfrm>
          <a:prstGeom prst="line">
            <a:avLst/>
          </a:prstGeom>
          <a:noFill/>
          <a:ln w="38100">
            <a:solidFill>
              <a:srgbClr val="D2AE45"/>
            </a:solidFill>
            <a:prstDash val="solid"/>
          </a:ln>
        </p:spPr>
      </p:sp>
      <p:sp>
        <p:nvSpPr>
          <p:cNvPr id="9" name="Rectangle 8">
            <a:extLst>
              <a:ext uri="{FF2B5EF4-FFF2-40B4-BE49-F238E27FC236}">
                <a16:creationId xmlns:a16="http://schemas.microsoft.com/office/drawing/2014/main" id="{E1CB1CAB-6D48-49B6-B470-9563DE56248C}"/>
              </a:ext>
            </a:extLst>
          </p:cNvPr>
          <p:cNvSpPr>
            <a:spLocks noGrp="1"/>
          </p:cNvSpPr>
          <p:nvPr/>
        </p:nvSpPr>
        <p:spPr>
          <a:xfrm>
            <a:off x="647700" y="3200000"/>
            <a:ext cx="533400" cy="64000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1</a:t>
            </a:r>
          </a:p>
        </p:txBody>
      </p:sp>
      <p:sp>
        <p:nvSpPr>
          <p:cNvPr id="10" name="Rectangle 9">
            <a:extLst>
              <a:ext uri="{FF2B5EF4-FFF2-40B4-BE49-F238E27FC236}">
                <a16:creationId xmlns:a16="http://schemas.microsoft.com/office/drawing/2014/main" id="{95FB17F5-8AF2-4F52-8A9A-BEF59B4A9F87}"/>
              </a:ext>
            </a:extLst>
          </p:cNvPr>
          <p:cNvSpPr>
            <a:spLocks noGrp="1"/>
          </p:cNvSpPr>
          <p:nvPr/>
        </p:nvSpPr>
        <p:spPr>
          <a:xfrm>
            <a:off x="1276350" y="3200000"/>
            <a:ext cx="9900000" cy="640000"/>
          </a:xfrm>
          <a:prstGeom prst="rect">
            <a:avLst/>
          </a:prstGeom>
          <a:noFill/>
          <a:ln w="0">
            <a:noFill/>
            <a:prstDash val="solid"/>
          </a:ln>
        </p:spPr>
        <p:txBody>
          <a:bodyPr lIns="0" tIns="0" rIns="0" bIns="0" anchor="ctr">
            <a:noAutofit/>
          </a:bodyPr>
          <a:lstStyle/>
          <a:p>
            <a:pPr>
              <a:defRPr sz="2175" b="0">
                <a:solidFill>
                  <a:srgbClr val="17211D"/>
                </a:solidFill>
                <a:latin typeface="Arial"/>
                <a:ea typeface="Arial"/>
                <a:cs typeface="Arial"/>
              </a:defRPr>
            </a:pPr>
            <a:r>
              <a:rPr lang="en-US" sz="2000" b="1" dirty="0">
                <a:solidFill>
                  <a:srgbClr val="17211D"/>
                </a:solidFill>
                <a:latin typeface="Arial"/>
                <a:ea typeface="Arial"/>
                <a:cs typeface="Arial"/>
              </a:rPr>
              <a:t>Level Testing</a:t>
            </a:r>
          </a:p>
          <a:p>
            <a:pPr>
              <a:defRPr sz="2175" b="0">
                <a:solidFill>
                  <a:srgbClr val="17211D"/>
                </a:solidFill>
                <a:latin typeface="Arial"/>
                <a:ea typeface="Arial"/>
                <a:cs typeface="Arial"/>
              </a:defRPr>
            </a:pPr>
            <a:r>
              <a:rPr lang="en-US" sz="1550" dirty="0">
                <a:solidFill>
                  <a:srgbClr val="17211D"/>
                </a:solidFill>
                <a:latin typeface="Arial"/>
                <a:ea typeface="Arial"/>
                <a:cs typeface="Arial"/>
              </a:rPr>
              <a:t>AI agents automatically test game levels for difficulty, playability, and possible issues</a:t>
            </a:r>
            <a:endParaRPr sz="1550" b="0" dirty="0">
              <a:solidFill>
                <a:srgbClr val="17211D"/>
              </a:solidFill>
              <a:latin typeface="Arial"/>
              <a:ea typeface="Arial"/>
              <a:cs typeface="Arial"/>
            </a:endParaRPr>
          </a:p>
        </p:txBody>
      </p:sp>
      <p:sp>
        <p:nvSpPr>
          <p:cNvPr id="11" name="Rectangle 10">
            <a:extLst>
              <a:ext uri="{FF2B5EF4-FFF2-40B4-BE49-F238E27FC236}">
                <a16:creationId xmlns:a16="http://schemas.microsoft.com/office/drawing/2014/main" id="{F1CBF6E5-10DB-4713-9EF6-4B06B4052B60}"/>
              </a:ext>
            </a:extLst>
          </p:cNvPr>
          <p:cNvSpPr>
            <a:spLocks noGrp="1"/>
          </p:cNvSpPr>
          <p:nvPr/>
        </p:nvSpPr>
        <p:spPr>
          <a:xfrm>
            <a:off x="647700" y="4150000"/>
            <a:ext cx="533400" cy="64000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2</a:t>
            </a:r>
          </a:p>
        </p:txBody>
      </p:sp>
      <p:sp>
        <p:nvSpPr>
          <p:cNvPr id="12" name="Rectangle 11">
            <a:extLst>
              <a:ext uri="{FF2B5EF4-FFF2-40B4-BE49-F238E27FC236}">
                <a16:creationId xmlns:a16="http://schemas.microsoft.com/office/drawing/2014/main" id="{5A329B8D-8974-4ED6-9ED0-2CD0DCF0CD66}"/>
              </a:ext>
            </a:extLst>
          </p:cNvPr>
          <p:cNvSpPr>
            <a:spLocks noGrp="1"/>
          </p:cNvSpPr>
          <p:nvPr/>
        </p:nvSpPr>
        <p:spPr>
          <a:xfrm>
            <a:off x="1276350" y="4291250"/>
            <a:ext cx="9900000" cy="640000"/>
          </a:xfrm>
          <a:prstGeom prst="rect">
            <a:avLst/>
          </a:prstGeom>
          <a:noFill/>
          <a:ln w="0">
            <a:noFill/>
            <a:prstDash val="solid"/>
          </a:ln>
        </p:spPr>
        <p:txBody>
          <a:bodyPr lIns="0" tIns="0" rIns="0" bIns="0" anchor="ctr">
            <a:noAutofit/>
          </a:bodyPr>
          <a:lstStyle/>
          <a:p>
            <a:pPr>
              <a:defRPr sz="2175" b="0">
                <a:solidFill>
                  <a:srgbClr val="17211D"/>
                </a:solidFill>
                <a:latin typeface="Arial"/>
                <a:ea typeface="Arial"/>
                <a:cs typeface="Arial"/>
              </a:defRPr>
            </a:pPr>
            <a:r>
              <a:rPr lang="en-US" sz="2000" b="1" dirty="0">
                <a:solidFill>
                  <a:srgbClr val="17211D"/>
                </a:solidFill>
                <a:latin typeface="Arial"/>
                <a:ea typeface="Arial"/>
                <a:cs typeface="Arial"/>
              </a:rPr>
              <a:t>Human vs. Computer</a:t>
            </a:r>
          </a:p>
          <a:p>
            <a:pPr>
              <a:defRPr sz="2175" b="0">
                <a:solidFill>
                  <a:srgbClr val="17211D"/>
                </a:solidFill>
                <a:latin typeface="Arial"/>
                <a:ea typeface="Arial"/>
                <a:cs typeface="Arial"/>
              </a:defRPr>
            </a:pPr>
            <a:r>
              <a:rPr lang="en-US" sz="1550" dirty="0">
                <a:solidFill>
                  <a:srgbClr val="17211D"/>
                </a:solidFill>
                <a:latin typeface="Arial"/>
                <a:ea typeface="Arial"/>
                <a:cs typeface="Arial"/>
              </a:rPr>
              <a:t>RL agents can be trained to act as computer-controlled opponents .</a:t>
            </a:r>
          </a:p>
          <a:p>
            <a:pPr algn="l">
              <a:defRPr sz="2175" b="0">
                <a:solidFill>
                  <a:srgbClr val="17211D"/>
                </a:solidFill>
                <a:latin typeface="Arial"/>
                <a:ea typeface="Arial"/>
                <a:cs typeface="Arial"/>
              </a:defRPr>
            </a:pPr>
            <a:endParaRPr sz="1550" b="0" dirty="0">
              <a:solidFill>
                <a:srgbClr val="17211D"/>
              </a:solidFill>
              <a:latin typeface="Arial"/>
              <a:ea typeface="Arial"/>
              <a:cs typeface="Arial"/>
            </a:endParaRPr>
          </a:p>
        </p:txBody>
      </p:sp>
      <p:sp>
        <p:nvSpPr>
          <p:cNvPr id="13" name="Rectangle 12">
            <a:extLst>
              <a:ext uri="{FF2B5EF4-FFF2-40B4-BE49-F238E27FC236}">
                <a16:creationId xmlns:a16="http://schemas.microsoft.com/office/drawing/2014/main" id="{A094A422-92E1-4EBC-AA18-FE4A168413FC}"/>
              </a:ext>
            </a:extLst>
          </p:cNvPr>
          <p:cNvSpPr>
            <a:spLocks noGrp="1"/>
          </p:cNvSpPr>
          <p:nvPr/>
        </p:nvSpPr>
        <p:spPr>
          <a:xfrm>
            <a:off x="647700" y="5100000"/>
            <a:ext cx="533400" cy="640000"/>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3</a:t>
            </a:r>
          </a:p>
        </p:txBody>
      </p:sp>
      <p:sp>
        <p:nvSpPr>
          <p:cNvPr id="14" name="Rectangle 13">
            <a:extLst>
              <a:ext uri="{FF2B5EF4-FFF2-40B4-BE49-F238E27FC236}">
                <a16:creationId xmlns:a16="http://schemas.microsoft.com/office/drawing/2014/main" id="{18073C60-90C9-4351-82A9-3D41F5334BB3}"/>
              </a:ext>
            </a:extLst>
          </p:cNvPr>
          <p:cNvSpPr>
            <a:spLocks noGrp="1"/>
          </p:cNvSpPr>
          <p:nvPr/>
        </p:nvSpPr>
        <p:spPr>
          <a:xfrm>
            <a:off x="1276350" y="5100000"/>
            <a:ext cx="9900000" cy="640000"/>
          </a:xfrm>
          <a:prstGeom prst="rect">
            <a:avLst/>
          </a:prstGeom>
          <a:noFill/>
          <a:ln w="0">
            <a:noFill/>
            <a:prstDash val="solid"/>
          </a:ln>
        </p:spPr>
        <p:txBody>
          <a:bodyPr lIns="0" tIns="0" rIns="0" bIns="0" anchor="ctr">
            <a:noAutofit/>
          </a:bodyPr>
          <a:lstStyle/>
          <a:p>
            <a:pPr algn="l">
              <a:defRPr sz="2175" b="0">
                <a:solidFill>
                  <a:srgbClr val="17211D"/>
                </a:solidFill>
                <a:latin typeface="Arial"/>
                <a:ea typeface="Arial"/>
                <a:cs typeface="Arial"/>
              </a:defRPr>
            </a:pPr>
            <a:r>
              <a:rPr sz="2000" b="1">
                <a:solidFill>
                  <a:srgbClr val="17211D"/>
                </a:solidFill>
                <a:latin typeface="Arial"/>
                <a:ea typeface="Arial"/>
                <a:cs typeface="Arial"/>
              </a:rPr>
              <a:t>Level Generation &amp; Testing</a:t>
            </a:r>
          </a:p>
          <a:p>
            <a:pPr algn="l">
              <a:defRPr sz="2175" b="0">
                <a:solidFill>
                  <a:srgbClr val="17211D"/>
                </a:solidFill>
                <a:latin typeface="Arial"/>
                <a:ea typeface="Arial"/>
                <a:cs typeface="Arial"/>
              </a:defRPr>
            </a:pPr>
            <a:r>
              <a:rPr sz="1550" b="0">
                <a:solidFill>
                  <a:srgbClr val="17211D"/>
                </a:solidFill>
                <a:latin typeface="Arial"/>
                <a:ea typeface="Arial"/>
                <a:cs typeface="Arial"/>
              </a:rPr>
              <a:t>AI agents explore and evaluate newly generated game levels.</a:t>
            </a:r>
          </a:p>
        </p:txBody>
      </p:sp>
    </p:spTree>
    <p:extLst>
      <p:ext uri="{BB962C8B-B14F-4D97-AF65-F5344CB8AC3E}">
        <p14:creationId xmlns:p14="http://schemas.microsoft.com/office/powerpoint/2010/main" val="642365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 name="Picture 27"/>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5E752F0B-B717-427A-AF35-E65715662A26}"/>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dirty="0">
                <a:solidFill>
                  <a:srgbClr val="17211D"/>
                </a:solidFill>
                <a:latin typeface="Arial"/>
                <a:ea typeface="Arial"/>
                <a:cs typeface="Arial"/>
              </a:rPr>
              <a:t>Methodology</a:t>
            </a:r>
            <a:r>
              <a:rPr lang="en-US" sz="3150" b="1" dirty="0">
                <a:solidFill>
                  <a:srgbClr val="17211D"/>
                </a:solidFill>
                <a:latin typeface="Arial"/>
                <a:ea typeface="Arial"/>
                <a:cs typeface="Arial"/>
              </a:rPr>
              <a:t>/Architecture</a:t>
            </a:r>
            <a:r>
              <a:rPr sz="3150" b="1" dirty="0">
                <a:solidFill>
                  <a:srgbClr val="17211D"/>
                </a:solidFill>
                <a:latin typeface="Arial"/>
                <a:ea typeface="Arial"/>
                <a:cs typeface="Arial"/>
              </a:rPr>
              <a:t> </a:t>
            </a:r>
          </a:p>
        </p:txBody>
      </p:sp>
      <p:sp>
        <p:nvSpPr>
          <p:cNvPr id="3" name="Straight Connector 2">
            <a:extLst>
              <a:ext uri="{FF2B5EF4-FFF2-40B4-BE49-F238E27FC236}">
                <a16:creationId xmlns:a16="http://schemas.microsoft.com/office/drawing/2014/main" id="{385678D1-16AC-45AD-9D4F-8E1A3FDB24A2}"/>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2BC40E8F-662F-4DFE-8719-101BD2DFE9A4}"/>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D48808BC-A903-41C9-B51D-27E32184811F}"/>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99449FE1-6D83-420D-8388-0A2B4B643F2E}"/>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a:t>
            </a:r>
            <a:r>
              <a:rPr lang="en-US" sz="975" dirty="0">
                <a:solidFill>
                  <a:srgbClr val="52605A"/>
                </a:solidFill>
                <a:latin typeface="Arial"/>
                <a:ea typeface="Arial"/>
                <a:cs typeface="Arial"/>
              </a:rPr>
              <a:t>7</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F31A5E95-99BC-4CD3-B00E-E2630BF3F761}"/>
              </a:ext>
            </a:extLst>
          </p:cNvPr>
          <p:cNvSpPr>
            <a:spLocks noGrp="1"/>
          </p:cNvSpPr>
          <p:nvPr/>
        </p:nvSpPr>
        <p:spPr>
          <a:xfrm>
            <a:off x="609600" y="1295400"/>
            <a:ext cx="10287000" cy="323850"/>
          </a:xfrm>
          <a:prstGeom prst="rect">
            <a:avLst/>
          </a:prstGeom>
          <a:noFill/>
          <a:ln w="0">
            <a:noFill/>
            <a:prstDash val="solid"/>
          </a:ln>
        </p:spPr>
        <p:txBody>
          <a:bodyPr lIns="0" tIns="0" rIns="0" bIns="0" anchor="ctr">
            <a:noAutofit/>
          </a:bodyPr>
          <a:lstStyle/>
          <a:p>
            <a:pPr algn="l">
              <a:defRPr sz="1425" b="0">
                <a:solidFill>
                  <a:srgbClr val="52605A"/>
                </a:solidFill>
                <a:latin typeface="Arial"/>
                <a:ea typeface="Arial"/>
                <a:cs typeface="Arial"/>
              </a:defRPr>
            </a:pPr>
            <a:endParaRPr sz="1425" b="0" dirty="0">
              <a:solidFill>
                <a:srgbClr val="52605A"/>
              </a:solidFill>
              <a:latin typeface="Arial"/>
              <a:ea typeface="Arial"/>
              <a:cs typeface="Arial"/>
            </a:endParaRPr>
          </a:p>
        </p:txBody>
      </p:sp>
      <p:sp>
        <p:nvSpPr>
          <p:cNvPr id="27" name="Rectangle 26">
            <a:extLst>
              <a:ext uri="{FF2B5EF4-FFF2-40B4-BE49-F238E27FC236}">
                <a16:creationId xmlns:a16="http://schemas.microsoft.com/office/drawing/2014/main" id="{7B0D971E-93C0-418F-AE6A-D301C2D47528}"/>
              </a:ext>
            </a:extLst>
          </p:cNvPr>
          <p:cNvSpPr>
            <a:spLocks noGrp="1"/>
          </p:cNvSpPr>
          <p:nvPr/>
        </p:nvSpPr>
        <p:spPr>
          <a:xfrm>
            <a:off x="1757362" y="3605212"/>
            <a:ext cx="10477500" cy="600075"/>
          </a:xfrm>
          <a:prstGeom prst="rect">
            <a:avLst/>
          </a:prstGeom>
          <a:noFill/>
          <a:ln w="0">
            <a:noFill/>
            <a:prstDash val="solid"/>
          </a:ln>
        </p:spPr>
        <p:txBody>
          <a:bodyPr lIns="0" tIns="0" rIns="0" bIns="0" anchor="ctr">
            <a:noAutofit/>
          </a:bodyPr>
          <a:lstStyle/>
          <a:p>
            <a:pPr algn="l">
              <a:defRPr sz="1725" b="0">
                <a:solidFill>
                  <a:srgbClr val="17211D"/>
                </a:solidFill>
                <a:latin typeface="Arial"/>
                <a:ea typeface="Arial"/>
                <a:cs typeface="Arial"/>
              </a:defRPr>
            </a:pPr>
            <a:endParaRPr sz="1725" b="0" dirty="0">
              <a:solidFill>
                <a:srgbClr val="17211D"/>
              </a:solidFill>
              <a:latin typeface="Arial"/>
              <a:ea typeface="Arial"/>
              <a:cs typeface="Arial"/>
            </a:endParaRPr>
          </a:p>
        </p:txBody>
      </p:sp>
      <p:pic>
        <p:nvPicPr>
          <p:cNvPr id="29" name="Picture 28">
            <a:extLst>
              <a:ext uri="{FF2B5EF4-FFF2-40B4-BE49-F238E27FC236}">
                <a16:creationId xmlns:a16="http://schemas.microsoft.com/office/drawing/2014/main" id="{2A79A36D-614C-17E4-E989-A4E1394B6151}"/>
              </a:ext>
            </a:extLst>
          </p:cNvPr>
          <p:cNvPicPr>
            <a:picLocks noChangeAspect="1"/>
          </p:cNvPicPr>
          <p:nvPr/>
        </p:nvPicPr>
        <p:blipFill>
          <a:blip r:embed="rId4"/>
          <a:stretch>
            <a:fillRect/>
          </a:stretch>
        </p:blipFill>
        <p:spPr>
          <a:xfrm>
            <a:off x="942975" y="1214690"/>
            <a:ext cx="9953625" cy="4824161"/>
          </a:xfrm>
          <a:prstGeom prst="rect">
            <a:avLst/>
          </a:prstGeom>
        </p:spPr>
      </p:pic>
    </p:spTree>
    <p:extLst>
      <p:ext uri="{BB962C8B-B14F-4D97-AF65-F5344CB8AC3E}">
        <p14:creationId xmlns:p14="http://schemas.microsoft.com/office/powerpoint/2010/main" val="1826233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 name="Picture 33"/>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E7DB6743-6B74-4D65-BA4B-388B20DE034D}"/>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Experiment matrix</a:t>
            </a:r>
          </a:p>
        </p:txBody>
      </p:sp>
      <p:sp>
        <p:nvSpPr>
          <p:cNvPr id="3" name="Straight Connector 2">
            <a:extLst>
              <a:ext uri="{FF2B5EF4-FFF2-40B4-BE49-F238E27FC236}">
                <a16:creationId xmlns:a16="http://schemas.microsoft.com/office/drawing/2014/main" id="{0F526A3A-AF3E-4550-A32D-924328B0B4DA}"/>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FCF5F035-AD52-4E4C-AA8C-BD73B32E6B3F}"/>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370A1297-62D1-4842-B6DC-A426E2C583C8}"/>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790D922A-5161-4A0E-8856-B297D7B068FB}"/>
              </a:ext>
            </a:extLst>
          </p:cNvPr>
          <p:cNvSpPr>
            <a:spLocks noGrp="1"/>
          </p:cNvSpPr>
          <p:nvPr/>
        </p:nvSpPr>
        <p:spPr>
          <a:xfrm>
            <a:off x="11156442"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a:t>
            </a:r>
            <a:r>
              <a:rPr lang="en-US" sz="975" dirty="0">
                <a:solidFill>
                  <a:srgbClr val="52605A"/>
                </a:solidFill>
                <a:latin typeface="Arial"/>
                <a:ea typeface="Arial"/>
                <a:cs typeface="Arial"/>
              </a:rPr>
              <a:t>8</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7F4DBE29-BE5D-4E06-B6A4-D9E6E12D09F6}"/>
              </a:ext>
            </a:extLst>
          </p:cNvPr>
          <p:cNvSpPr>
            <a:spLocks noGrp="1"/>
          </p:cNvSpPr>
          <p:nvPr/>
        </p:nvSpPr>
        <p:spPr>
          <a:xfrm>
            <a:off x="609600" y="1295400"/>
            <a:ext cx="10287000" cy="323850"/>
          </a:xfrm>
          <a:prstGeom prst="rect">
            <a:avLst/>
          </a:prstGeom>
          <a:noFill/>
          <a:ln w="0">
            <a:noFill/>
            <a:prstDash val="solid"/>
          </a:ln>
        </p:spPr>
        <p:txBody>
          <a:bodyPr lIns="0" tIns="0" rIns="0" bIns="0" anchor="ctr">
            <a:noAutofit/>
          </a:bodyPr>
          <a:lstStyle/>
          <a:p>
            <a:pPr algn="l">
              <a:defRPr sz="1425" b="0">
                <a:solidFill>
                  <a:srgbClr val="52605A"/>
                </a:solidFill>
                <a:latin typeface="Arial"/>
                <a:ea typeface="Arial"/>
                <a:cs typeface="Arial"/>
              </a:defRPr>
            </a:pPr>
            <a:r>
              <a:rPr sz="1425" b="0">
                <a:solidFill>
                  <a:srgbClr val="52605A"/>
                </a:solidFill>
                <a:latin typeface="Arial"/>
                <a:ea typeface="Arial"/>
                <a:cs typeface="Arial"/>
              </a:rPr>
              <a:t>Exploration tries new actions. Exploitation repeats actions that work.</a:t>
            </a:r>
          </a:p>
        </p:txBody>
      </p:sp>
      <p:sp>
        <p:nvSpPr>
          <p:cNvPr id="8" name="Rectangle 7">
            <a:extLst>
              <a:ext uri="{FF2B5EF4-FFF2-40B4-BE49-F238E27FC236}">
                <a16:creationId xmlns:a16="http://schemas.microsoft.com/office/drawing/2014/main" id="{199C0214-9917-437D-A6C5-11414B11B1D0}"/>
              </a:ext>
            </a:extLst>
          </p:cNvPr>
          <p:cNvSpPr>
            <a:spLocks noGrp="1"/>
          </p:cNvSpPr>
          <p:nvPr/>
        </p:nvSpPr>
        <p:spPr>
          <a:xfrm>
            <a:off x="609600" y="1952625"/>
            <a:ext cx="2667000" cy="838200"/>
          </a:xfrm>
          <a:prstGeom prst="rect">
            <a:avLst/>
          </a:prstGeom>
          <a:solidFill>
            <a:srgbClr val="006A43"/>
          </a:solidFill>
          <a:ln w="9525">
            <a:solidFill>
              <a:srgbClr val="D8E0DA"/>
            </a:solidFill>
            <a:prstDash val="solid"/>
          </a:ln>
        </p:spPr>
      </p:sp>
      <p:sp>
        <p:nvSpPr>
          <p:cNvPr id="9" name="Rectangle 8">
            <a:extLst>
              <a:ext uri="{FF2B5EF4-FFF2-40B4-BE49-F238E27FC236}">
                <a16:creationId xmlns:a16="http://schemas.microsoft.com/office/drawing/2014/main" id="{2C2CCC0F-F019-4E5E-B61B-45883396F40E}"/>
              </a:ext>
            </a:extLst>
          </p:cNvPr>
          <p:cNvSpPr>
            <a:spLocks noGrp="1"/>
          </p:cNvSpPr>
          <p:nvPr/>
        </p:nvSpPr>
        <p:spPr>
          <a:xfrm>
            <a:off x="781050" y="2133600"/>
            <a:ext cx="2324100" cy="457200"/>
          </a:xfrm>
          <a:prstGeom prst="rect">
            <a:avLst/>
          </a:prstGeom>
          <a:noFill/>
          <a:ln w="0">
            <a:noFill/>
            <a:prstDash val="solid"/>
          </a:ln>
        </p:spPr>
        <p:txBody>
          <a:bodyPr lIns="0" tIns="0" rIns="0" bIns="0" anchor="ctr">
            <a:noAutofit/>
          </a:bodyPr>
          <a:lstStyle/>
          <a:p>
            <a:endParaRPr/>
          </a:p>
        </p:txBody>
      </p:sp>
      <p:sp>
        <p:nvSpPr>
          <p:cNvPr id="10" name="Rectangle 9">
            <a:extLst>
              <a:ext uri="{FF2B5EF4-FFF2-40B4-BE49-F238E27FC236}">
                <a16:creationId xmlns:a16="http://schemas.microsoft.com/office/drawing/2014/main" id="{55E6074E-6D74-4B38-95AD-B95280E5C272}"/>
              </a:ext>
            </a:extLst>
          </p:cNvPr>
          <p:cNvSpPr>
            <a:spLocks noGrp="1"/>
          </p:cNvSpPr>
          <p:nvPr/>
        </p:nvSpPr>
        <p:spPr>
          <a:xfrm>
            <a:off x="3276600" y="1952625"/>
            <a:ext cx="2476500" cy="838200"/>
          </a:xfrm>
          <a:prstGeom prst="rect">
            <a:avLst/>
          </a:prstGeom>
          <a:solidFill>
            <a:srgbClr val="006A43"/>
          </a:solidFill>
          <a:ln w="9525">
            <a:solidFill>
              <a:srgbClr val="D8E0DA"/>
            </a:solidFill>
            <a:prstDash val="solid"/>
          </a:ln>
        </p:spPr>
      </p:sp>
      <p:sp>
        <p:nvSpPr>
          <p:cNvPr id="11" name="Rectangle 10">
            <a:extLst>
              <a:ext uri="{FF2B5EF4-FFF2-40B4-BE49-F238E27FC236}">
                <a16:creationId xmlns:a16="http://schemas.microsoft.com/office/drawing/2014/main" id="{FD423477-FCA2-4D4C-9373-98E9BF532146}"/>
              </a:ext>
            </a:extLst>
          </p:cNvPr>
          <p:cNvSpPr>
            <a:spLocks noGrp="1"/>
          </p:cNvSpPr>
          <p:nvPr/>
        </p:nvSpPr>
        <p:spPr>
          <a:xfrm>
            <a:off x="3448050" y="2133600"/>
            <a:ext cx="2133600" cy="457200"/>
          </a:xfrm>
          <a:prstGeom prst="rect">
            <a:avLst/>
          </a:prstGeom>
          <a:noFill/>
          <a:ln w="0">
            <a:noFill/>
            <a:prstDash val="solid"/>
          </a:ln>
        </p:spPr>
        <p:txBody>
          <a:bodyPr lIns="0" tIns="0" rIns="0" bIns="0" anchor="ctr">
            <a:noAutofit/>
          </a:bodyPr>
          <a:lstStyle/>
          <a:p>
            <a:pPr algn="l">
              <a:defRPr sz="1650" b="1">
                <a:solidFill>
                  <a:srgbClr val="FFFFFF"/>
                </a:solidFill>
                <a:latin typeface="Arial"/>
                <a:ea typeface="Arial"/>
                <a:cs typeface="Arial"/>
              </a:defRPr>
            </a:pPr>
            <a:r>
              <a:rPr sz="1650" b="1">
                <a:solidFill>
                  <a:srgbClr val="FFFFFF"/>
                </a:solidFill>
                <a:latin typeface="Arial"/>
                <a:ea typeface="Arial"/>
                <a:cs typeface="Arial"/>
              </a:rPr>
              <a:t>No extra reward</a:t>
            </a:r>
          </a:p>
        </p:txBody>
      </p:sp>
      <p:sp>
        <p:nvSpPr>
          <p:cNvPr id="12" name="Rectangle 11">
            <a:extLst>
              <a:ext uri="{FF2B5EF4-FFF2-40B4-BE49-F238E27FC236}">
                <a16:creationId xmlns:a16="http://schemas.microsoft.com/office/drawing/2014/main" id="{DB7A4B34-BB6C-4A5C-BE07-B1958016FD45}"/>
              </a:ext>
            </a:extLst>
          </p:cNvPr>
          <p:cNvSpPr>
            <a:spLocks noGrp="1"/>
          </p:cNvSpPr>
          <p:nvPr/>
        </p:nvSpPr>
        <p:spPr>
          <a:xfrm>
            <a:off x="5753100" y="1952625"/>
            <a:ext cx="3048000" cy="838200"/>
          </a:xfrm>
          <a:prstGeom prst="rect">
            <a:avLst/>
          </a:prstGeom>
          <a:solidFill>
            <a:srgbClr val="006A43"/>
          </a:solidFill>
          <a:ln w="9525">
            <a:solidFill>
              <a:srgbClr val="D8E0DA"/>
            </a:solidFill>
            <a:prstDash val="solid"/>
          </a:ln>
        </p:spPr>
      </p:sp>
      <p:sp>
        <p:nvSpPr>
          <p:cNvPr id="13" name="Rectangle 12">
            <a:extLst>
              <a:ext uri="{FF2B5EF4-FFF2-40B4-BE49-F238E27FC236}">
                <a16:creationId xmlns:a16="http://schemas.microsoft.com/office/drawing/2014/main" id="{DA60B5FC-1DD7-4177-8834-C53F627087ED}"/>
              </a:ext>
            </a:extLst>
          </p:cNvPr>
          <p:cNvSpPr>
            <a:spLocks noGrp="1"/>
          </p:cNvSpPr>
          <p:nvPr/>
        </p:nvSpPr>
        <p:spPr>
          <a:xfrm>
            <a:off x="5924550" y="2133600"/>
            <a:ext cx="2705100" cy="457200"/>
          </a:xfrm>
          <a:prstGeom prst="rect">
            <a:avLst/>
          </a:prstGeom>
          <a:noFill/>
          <a:ln w="0">
            <a:noFill/>
            <a:prstDash val="solid"/>
          </a:ln>
        </p:spPr>
        <p:txBody>
          <a:bodyPr lIns="0" tIns="0" rIns="0" bIns="0" anchor="ctr">
            <a:noAutofit/>
          </a:bodyPr>
          <a:lstStyle/>
          <a:p>
            <a:pPr algn="l">
              <a:defRPr sz="1650" b="1">
                <a:solidFill>
                  <a:srgbClr val="FFFFFF"/>
                </a:solidFill>
                <a:latin typeface="Arial"/>
                <a:ea typeface="Arial"/>
                <a:cs typeface="Arial"/>
              </a:defRPr>
            </a:pPr>
            <a:r>
              <a:rPr sz="1650" b="1" dirty="0">
                <a:solidFill>
                  <a:srgbClr val="FFFFFF"/>
                </a:solidFill>
                <a:latin typeface="Arial"/>
                <a:ea typeface="Arial"/>
                <a:cs typeface="Arial"/>
              </a:rPr>
              <a:t>Next-state prediction</a:t>
            </a:r>
          </a:p>
        </p:txBody>
      </p:sp>
      <p:sp>
        <p:nvSpPr>
          <p:cNvPr id="14" name="Rectangle 13">
            <a:extLst>
              <a:ext uri="{FF2B5EF4-FFF2-40B4-BE49-F238E27FC236}">
                <a16:creationId xmlns:a16="http://schemas.microsoft.com/office/drawing/2014/main" id="{F97236D1-2C2A-427A-975E-3D1E68FF7EDD}"/>
              </a:ext>
            </a:extLst>
          </p:cNvPr>
          <p:cNvSpPr>
            <a:spLocks noGrp="1"/>
          </p:cNvSpPr>
          <p:nvPr/>
        </p:nvSpPr>
        <p:spPr>
          <a:xfrm>
            <a:off x="8801100" y="1952625"/>
            <a:ext cx="2286000" cy="838200"/>
          </a:xfrm>
          <a:prstGeom prst="rect">
            <a:avLst/>
          </a:prstGeom>
          <a:solidFill>
            <a:srgbClr val="006A43"/>
          </a:solidFill>
          <a:ln w="9525">
            <a:solidFill>
              <a:srgbClr val="D8E0DA"/>
            </a:solidFill>
            <a:prstDash val="solid"/>
          </a:ln>
        </p:spPr>
      </p:sp>
      <p:sp>
        <p:nvSpPr>
          <p:cNvPr id="15" name="Rectangle 14">
            <a:extLst>
              <a:ext uri="{FF2B5EF4-FFF2-40B4-BE49-F238E27FC236}">
                <a16:creationId xmlns:a16="http://schemas.microsoft.com/office/drawing/2014/main" id="{3D253DC3-BC3C-43D1-8F31-2D544FDACA31}"/>
              </a:ext>
            </a:extLst>
          </p:cNvPr>
          <p:cNvSpPr>
            <a:spLocks noGrp="1"/>
          </p:cNvSpPr>
          <p:nvPr/>
        </p:nvSpPr>
        <p:spPr>
          <a:xfrm>
            <a:off x="8972550" y="2133600"/>
            <a:ext cx="1943100" cy="457200"/>
          </a:xfrm>
          <a:prstGeom prst="rect">
            <a:avLst/>
          </a:prstGeom>
          <a:noFill/>
          <a:ln w="0">
            <a:noFill/>
            <a:prstDash val="solid"/>
          </a:ln>
        </p:spPr>
        <p:txBody>
          <a:bodyPr lIns="0" tIns="0" rIns="0" bIns="0" anchor="ctr">
            <a:noAutofit/>
          </a:bodyPr>
          <a:lstStyle/>
          <a:p>
            <a:pPr algn="l">
              <a:defRPr sz="1650" b="1">
                <a:solidFill>
                  <a:srgbClr val="FFFFFF"/>
                </a:solidFill>
                <a:latin typeface="Arial"/>
                <a:ea typeface="Arial"/>
                <a:cs typeface="Arial"/>
              </a:defRPr>
            </a:pPr>
            <a:r>
              <a:rPr sz="1650" b="1" dirty="0">
                <a:solidFill>
                  <a:srgbClr val="FFFFFF"/>
                </a:solidFill>
                <a:latin typeface="Arial"/>
                <a:ea typeface="Arial"/>
                <a:cs typeface="Arial"/>
              </a:rPr>
              <a:t>RND</a:t>
            </a:r>
          </a:p>
        </p:txBody>
      </p:sp>
      <p:sp>
        <p:nvSpPr>
          <p:cNvPr id="16" name="Rectangle 15">
            <a:extLst>
              <a:ext uri="{FF2B5EF4-FFF2-40B4-BE49-F238E27FC236}">
                <a16:creationId xmlns:a16="http://schemas.microsoft.com/office/drawing/2014/main" id="{DAB999B2-0025-4C84-A0B9-AB52661CDE38}"/>
              </a:ext>
            </a:extLst>
          </p:cNvPr>
          <p:cNvSpPr>
            <a:spLocks noGrp="1"/>
          </p:cNvSpPr>
          <p:nvPr/>
        </p:nvSpPr>
        <p:spPr>
          <a:xfrm>
            <a:off x="609600" y="2790825"/>
            <a:ext cx="2667000" cy="838200"/>
          </a:xfrm>
          <a:prstGeom prst="rect">
            <a:avLst/>
          </a:prstGeom>
          <a:solidFill>
            <a:srgbClr val="F4F8F5"/>
          </a:solidFill>
          <a:ln w="9525">
            <a:solidFill>
              <a:srgbClr val="D8E0DA"/>
            </a:solidFill>
            <a:prstDash val="solid"/>
          </a:ln>
        </p:spPr>
        <p:txBody>
          <a:bodyPr/>
          <a:lstStyle/>
          <a:p>
            <a:endParaRPr lang="en-US" dirty="0"/>
          </a:p>
        </p:txBody>
      </p:sp>
      <p:sp>
        <p:nvSpPr>
          <p:cNvPr id="17" name="Rectangle 16">
            <a:extLst>
              <a:ext uri="{FF2B5EF4-FFF2-40B4-BE49-F238E27FC236}">
                <a16:creationId xmlns:a16="http://schemas.microsoft.com/office/drawing/2014/main" id="{64F4C9F6-B805-45EA-A6C4-C46C4C8AEB70}"/>
              </a:ext>
            </a:extLst>
          </p:cNvPr>
          <p:cNvSpPr>
            <a:spLocks noGrp="1"/>
          </p:cNvSpPr>
          <p:nvPr/>
        </p:nvSpPr>
        <p:spPr>
          <a:xfrm>
            <a:off x="781050" y="2971800"/>
            <a:ext cx="2324100" cy="457200"/>
          </a:xfrm>
          <a:prstGeom prst="rect">
            <a:avLst/>
          </a:prstGeom>
          <a:noFill/>
          <a:ln w="0">
            <a:noFill/>
            <a:prstDash val="solid"/>
          </a:ln>
        </p:spPr>
        <p:txBody>
          <a:bodyPr lIns="0" tIns="0" rIns="0" bIns="0" anchor="ctr">
            <a:noAutofit/>
          </a:bodyPr>
          <a:lstStyle/>
          <a:p>
            <a:pPr algn="l">
              <a:defRPr sz="1875" b="1">
                <a:solidFill>
                  <a:srgbClr val="006A43"/>
                </a:solidFill>
                <a:latin typeface="Arial"/>
                <a:ea typeface="Arial"/>
                <a:cs typeface="Arial"/>
              </a:defRPr>
            </a:pPr>
            <a:r>
              <a:rPr sz="1875" b="1" dirty="0">
                <a:solidFill>
                  <a:srgbClr val="006A43"/>
                </a:solidFill>
                <a:latin typeface="Arial"/>
                <a:ea typeface="Arial"/>
                <a:cs typeface="Arial"/>
              </a:rPr>
              <a:t>Algorithm 1</a:t>
            </a:r>
            <a:r>
              <a:rPr lang="en-US" sz="1875" b="1" dirty="0">
                <a:solidFill>
                  <a:srgbClr val="006A43"/>
                </a:solidFill>
                <a:latin typeface="Arial"/>
                <a:ea typeface="Arial"/>
                <a:cs typeface="Arial"/>
              </a:rPr>
              <a:t>(PPO)</a:t>
            </a:r>
            <a:endParaRPr sz="1875" b="1" dirty="0">
              <a:solidFill>
                <a:srgbClr val="006A43"/>
              </a:solidFill>
              <a:latin typeface="Arial"/>
              <a:ea typeface="Arial"/>
              <a:cs typeface="Arial"/>
            </a:endParaRPr>
          </a:p>
        </p:txBody>
      </p:sp>
      <p:sp>
        <p:nvSpPr>
          <p:cNvPr id="18" name="Rectangle 17">
            <a:extLst>
              <a:ext uri="{FF2B5EF4-FFF2-40B4-BE49-F238E27FC236}">
                <a16:creationId xmlns:a16="http://schemas.microsoft.com/office/drawing/2014/main" id="{BF879676-C7CA-4218-8438-055917273CA3}"/>
              </a:ext>
            </a:extLst>
          </p:cNvPr>
          <p:cNvSpPr>
            <a:spLocks noGrp="1"/>
          </p:cNvSpPr>
          <p:nvPr/>
        </p:nvSpPr>
        <p:spPr>
          <a:xfrm>
            <a:off x="3276600" y="2790825"/>
            <a:ext cx="2476500" cy="838200"/>
          </a:xfrm>
          <a:prstGeom prst="rect">
            <a:avLst/>
          </a:prstGeom>
          <a:solidFill>
            <a:srgbClr val="FFFFFF"/>
          </a:solidFill>
          <a:ln w="9525">
            <a:solidFill>
              <a:srgbClr val="D8E0DA"/>
            </a:solidFill>
            <a:prstDash val="solid"/>
          </a:ln>
        </p:spPr>
      </p:sp>
      <p:sp>
        <p:nvSpPr>
          <p:cNvPr id="19" name="Rectangle 18">
            <a:extLst>
              <a:ext uri="{FF2B5EF4-FFF2-40B4-BE49-F238E27FC236}">
                <a16:creationId xmlns:a16="http://schemas.microsoft.com/office/drawing/2014/main" id="{DC938177-5155-4444-8A28-0EDFED8E5340}"/>
              </a:ext>
            </a:extLst>
          </p:cNvPr>
          <p:cNvSpPr>
            <a:spLocks noGrp="1"/>
          </p:cNvSpPr>
          <p:nvPr/>
        </p:nvSpPr>
        <p:spPr>
          <a:xfrm>
            <a:off x="3448050" y="2971800"/>
            <a:ext cx="21336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Baseline</a:t>
            </a:r>
          </a:p>
        </p:txBody>
      </p:sp>
      <p:sp>
        <p:nvSpPr>
          <p:cNvPr id="20" name="Rectangle 19">
            <a:extLst>
              <a:ext uri="{FF2B5EF4-FFF2-40B4-BE49-F238E27FC236}">
                <a16:creationId xmlns:a16="http://schemas.microsoft.com/office/drawing/2014/main" id="{63AFDD4A-0D5D-4CD0-99C2-0C8CF7EDEE46}"/>
              </a:ext>
            </a:extLst>
          </p:cNvPr>
          <p:cNvSpPr>
            <a:spLocks noGrp="1"/>
          </p:cNvSpPr>
          <p:nvPr/>
        </p:nvSpPr>
        <p:spPr>
          <a:xfrm>
            <a:off x="5753100" y="2790825"/>
            <a:ext cx="3048000" cy="838200"/>
          </a:xfrm>
          <a:prstGeom prst="rect">
            <a:avLst/>
          </a:prstGeom>
          <a:solidFill>
            <a:srgbClr val="FFFFFF"/>
          </a:solidFill>
          <a:ln w="9525">
            <a:solidFill>
              <a:srgbClr val="D8E0DA"/>
            </a:solidFill>
            <a:prstDash val="solid"/>
          </a:ln>
        </p:spPr>
      </p:sp>
      <p:sp>
        <p:nvSpPr>
          <p:cNvPr id="21" name="Rectangle 20">
            <a:extLst>
              <a:ext uri="{FF2B5EF4-FFF2-40B4-BE49-F238E27FC236}">
                <a16:creationId xmlns:a16="http://schemas.microsoft.com/office/drawing/2014/main" id="{C4352857-F876-4B13-BC56-366C7A9D30F0}"/>
              </a:ext>
            </a:extLst>
          </p:cNvPr>
          <p:cNvSpPr>
            <a:spLocks noGrp="1"/>
          </p:cNvSpPr>
          <p:nvPr/>
        </p:nvSpPr>
        <p:spPr>
          <a:xfrm>
            <a:off x="5924550" y="2971800"/>
            <a:ext cx="27051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With curiosity</a:t>
            </a:r>
          </a:p>
        </p:txBody>
      </p:sp>
      <p:sp>
        <p:nvSpPr>
          <p:cNvPr id="22" name="Rectangle 21">
            <a:extLst>
              <a:ext uri="{FF2B5EF4-FFF2-40B4-BE49-F238E27FC236}">
                <a16:creationId xmlns:a16="http://schemas.microsoft.com/office/drawing/2014/main" id="{5DC8763D-1B61-405E-B178-8D48BBC34703}"/>
              </a:ext>
            </a:extLst>
          </p:cNvPr>
          <p:cNvSpPr>
            <a:spLocks noGrp="1"/>
          </p:cNvSpPr>
          <p:nvPr/>
        </p:nvSpPr>
        <p:spPr>
          <a:xfrm>
            <a:off x="8801100" y="2790825"/>
            <a:ext cx="2286000" cy="838200"/>
          </a:xfrm>
          <a:prstGeom prst="rect">
            <a:avLst/>
          </a:prstGeom>
          <a:solidFill>
            <a:srgbClr val="FFFFFF"/>
          </a:solidFill>
          <a:ln w="9525">
            <a:solidFill>
              <a:srgbClr val="D8E0DA"/>
            </a:solidFill>
            <a:prstDash val="solid"/>
          </a:ln>
        </p:spPr>
      </p:sp>
      <p:sp>
        <p:nvSpPr>
          <p:cNvPr id="23" name="Rectangle 22">
            <a:extLst>
              <a:ext uri="{FF2B5EF4-FFF2-40B4-BE49-F238E27FC236}">
                <a16:creationId xmlns:a16="http://schemas.microsoft.com/office/drawing/2014/main" id="{FD0D9F3F-E168-4EAD-8A35-B4D52CD330C1}"/>
              </a:ext>
            </a:extLst>
          </p:cNvPr>
          <p:cNvSpPr>
            <a:spLocks noGrp="1"/>
          </p:cNvSpPr>
          <p:nvPr/>
        </p:nvSpPr>
        <p:spPr>
          <a:xfrm>
            <a:off x="8972550" y="2971800"/>
            <a:ext cx="19431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With RND</a:t>
            </a:r>
          </a:p>
        </p:txBody>
      </p:sp>
      <p:sp>
        <p:nvSpPr>
          <p:cNvPr id="24" name="Rectangle 23">
            <a:extLst>
              <a:ext uri="{FF2B5EF4-FFF2-40B4-BE49-F238E27FC236}">
                <a16:creationId xmlns:a16="http://schemas.microsoft.com/office/drawing/2014/main" id="{0503B8C6-651B-44C8-9801-519C4EA26E37}"/>
              </a:ext>
            </a:extLst>
          </p:cNvPr>
          <p:cNvSpPr>
            <a:spLocks noGrp="1"/>
          </p:cNvSpPr>
          <p:nvPr/>
        </p:nvSpPr>
        <p:spPr>
          <a:xfrm>
            <a:off x="609600" y="3629025"/>
            <a:ext cx="2667000" cy="838200"/>
          </a:xfrm>
          <a:prstGeom prst="rect">
            <a:avLst/>
          </a:prstGeom>
          <a:solidFill>
            <a:srgbClr val="F4F8F5"/>
          </a:solidFill>
          <a:ln w="9525">
            <a:solidFill>
              <a:srgbClr val="D8E0DA"/>
            </a:solidFill>
            <a:prstDash val="solid"/>
          </a:ln>
        </p:spPr>
      </p:sp>
      <p:sp>
        <p:nvSpPr>
          <p:cNvPr id="25" name="Rectangle 24">
            <a:extLst>
              <a:ext uri="{FF2B5EF4-FFF2-40B4-BE49-F238E27FC236}">
                <a16:creationId xmlns:a16="http://schemas.microsoft.com/office/drawing/2014/main" id="{1998FFFE-297C-43B9-B139-121D617748E5}"/>
              </a:ext>
            </a:extLst>
          </p:cNvPr>
          <p:cNvSpPr>
            <a:spLocks noGrp="1"/>
          </p:cNvSpPr>
          <p:nvPr/>
        </p:nvSpPr>
        <p:spPr>
          <a:xfrm>
            <a:off x="781050" y="3810000"/>
            <a:ext cx="2324100" cy="457200"/>
          </a:xfrm>
          <a:prstGeom prst="rect">
            <a:avLst/>
          </a:prstGeom>
          <a:noFill/>
          <a:ln w="0">
            <a:noFill/>
            <a:prstDash val="solid"/>
          </a:ln>
        </p:spPr>
        <p:txBody>
          <a:bodyPr lIns="0" tIns="0" rIns="0" bIns="0" anchor="ctr">
            <a:noAutofit/>
          </a:bodyPr>
          <a:lstStyle/>
          <a:p>
            <a:pPr algn="l">
              <a:defRPr sz="1875" b="1">
                <a:solidFill>
                  <a:srgbClr val="006A43"/>
                </a:solidFill>
                <a:latin typeface="Arial"/>
                <a:ea typeface="Arial"/>
                <a:cs typeface="Arial"/>
              </a:defRPr>
            </a:pPr>
            <a:r>
              <a:rPr sz="1875" b="1" dirty="0">
                <a:solidFill>
                  <a:srgbClr val="006A43"/>
                </a:solidFill>
                <a:latin typeface="Arial"/>
                <a:ea typeface="Arial"/>
                <a:cs typeface="Arial"/>
              </a:rPr>
              <a:t>Algorithm 2</a:t>
            </a:r>
            <a:r>
              <a:rPr lang="en-US" sz="1875" b="1" dirty="0">
                <a:solidFill>
                  <a:srgbClr val="006A43"/>
                </a:solidFill>
                <a:latin typeface="Arial"/>
                <a:ea typeface="Arial"/>
                <a:cs typeface="Arial"/>
              </a:rPr>
              <a:t>(SAC)</a:t>
            </a:r>
            <a:endParaRPr sz="1875" b="1" dirty="0">
              <a:solidFill>
                <a:srgbClr val="006A43"/>
              </a:solidFill>
              <a:latin typeface="Arial"/>
              <a:ea typeface="Arial"/>
              <a:cs typeface="Arial"/>
            </a:endParaRPr>
          </a:p>
        </p:txBody>
      </p:sp>
      <p:sp>
        <p:nvSpPr>
          <p:cNvPr id="26" name="Rectangle 25">
            <a:extLst>
              <a:ext uri="{FF2B5EF4-FFF2-40B4-BE49-F238E27FC236}">
                <a16:creationId xmlns:a16="http://schemas.microsoft.com/office/drawing/2014/main" id="{45767176-61C1-493C-9589-A9322A67F48A}"/>
              </a:ext>
            </a:extLst>
          </p:cNvPr>
          <p:cNvSpPr>
            <a:spLocks noGrp="1"/>
          </p:cNvSpPr>
          <p:nvPr/>
        </p:nvSpPr>
        <p:spPr>
          <a:xfrm>
            <a:off x="3276600" y="3629025"/>
            <a:ext cx="2476500" cy="838200"/>
          </a:xfrm>
          <a:prstGeom prst="rect">
            <a:avLst/>
          </a:prstGeom>
          <a:solidFill>
            <a:srgbClr val="FFFFFF"/>
          </a:solidFill>
          <a:ln w="9525">
            <a:solidFill>
              <a:srgbClr val="D8E0DA"/>
            </a:solidFill>
            <a:prstDash val="solid"/>
          </a:ln>
        </p:spPr>
      </p:sp>
      <p:sp>
        <p:nvSpPr>
          <p:cNvPr id="27" name="Rectangle 26">
            <a:extLst>
              <a:ext uri="{FF2B5EF4-FFF2-40B4-BE49-F238E27FC236}">
                <a16:creationId xmlns:a16="http://schemas.microsoft.com/office/drawing/2014/main" id="{17BA338C-D5F6-4812-9E0B-690D8F17EB6D}"/>
              </a:ext>
            </a:extLst>
          </p:cNvPr>
          <p:cNvSpPr>
            <a:spLocks noGrp="1"/>
          </p:cNvSpPr>
          <p:nvPr/>
        </p:nvSpPr>
        <p:spPr>
          <a:xfrm>
            <a:off x="3448050" y="3810000"/>
            <a:ext cx="21336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Baseline</a:t>
            </a:r>
          </a:p>
        </p:txBody>
      </p:sp>
      <p:sp>
        <p:nvSpPr>
          <p:cNvPr id="28" name="Rectangle 27">
            <a:extLst>
              <a:ext uri="{FF2B5EF4-FFF2-40B4-BE49-F238E27FC236}">
                <a16:creationId xmlns:a16="http://schemas.microsoft.com/office/drawing/2014/main" id="{2EEEAA7A-9684-4533-BB86-B084B32BD789}"/>
              </a:ext>
            </a:extLst>
          </p:cNvPr>
          <p:cNvSpPr>
            <a:spLocks noGrp="1"/>
          </p:cNvSpPr>
          <p:nvPr/>
        </p:nvSpPr>
        <p:spPr>
          <a:xfrm>
            <a:off x="5753100" y="3629025"/>
            <a:ext cx="3048000" cy="838200"/>
          </a:xfrm>
          <a:prstGeom prst="rect">
            <a:avLst/>
          </a:prstGeom>
          <a:solidFill>
            <a:srgbClr val="FFFFFF"/>
          </a:solidFill>
          <a:ln w="9525">
            <a:solidFill>
              <a:srgbClr val="D8E0DA"/>
            </a:solidFill>
            <a:prstDash val="solid"/>
          </a:ln>
        </p:spPr>
      </p:sp>
      <p:sp>
        <p:nvSpPr>
          <p:cNvPr id="29" name="Rectangle 28">
            <a:extLst>
              <a:ext uri="{FF2B5EF4-FFF2-40B4-BE49-F238E27FC236}">
                <a16:creationId xmlns:a16="http://schemas.microsoft.com/office/drawing/2014/main" id="{B8A70804-8947-4F76-B602-0A6D38EFF0E1}"/>
              </a:ext>
            </a:extLst>
          </p:cNvPr>
          <p:cNvSpPr>
            <a:spLocks noGrp="1"/>
          </p:cNvSpPr>
          <p:nvPr/>
        </p:nvSpPr>
        <p:spPr>
          <a:xfrm>
            <a:off x="5924550" y="3810000"/>
            <a:ext cx="27051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With curiosity</a:t>
            </a:r>
          </a:p>
        </p:txBody>
      </p:sp>
      <p:sp>
        <p:nvSpPr>
          <p:cNvPr id="30" name="Rectangle 29">
            <a:extLst>
              <a:ext uri="{FF2B5EF4-FFF2-40B4-BE49-F238E27FC236}">
                <a16:creationId xmlns:a16="http://schemas.microsoft.com/office/drawing/2014/main" id="{359F5C2C-953C-4DE7-9C99-5192DAC7522A}"/>
              </a:ext>
            </a:extLst>
          </p:cNvPr>
          <p:cNvSpPr>
            <a:spLocks noGrp="1"/>
          </p:cNvSpPr>
          <p:nvPr/>
        </p:nvSpPr>
        <p:spPr>
          <a:xfrm>
            <a:off x="8801100" y="3629025"/>
            <a:ext cx="2286000" cy="838200"/>
          </a:xfrm>
          <a:prstGeom prst="rect">
            <a:avLst/>
          </a:prstGeom>
          <a:solidFill>
            <a:srgbClr val="FFFFFF"/>
          </a:solidFill>
          <a:ln w="9525">
            <a:solidFill>
              <a:srgbClr val="D8E0DA"/>
            </a:solidFill>
            <a:prstDash val="solid"/>
          </a:ln>
        </p:spPr>
      </p:sp>
      <p:sp>
        <p:nvSpPr>
          <p:cNvPr id="31" name="Rectangle 30">
            <a:extLst>
              <a:ext uri="{FF2B5EF4-FFF2-40B4-BE49-F238E27FC236}">
                <a16:creationId xmlns:a16="http://schemas.microsoft.com/office/drawing/2014/main" id="{FE35BED1-D8E8-4AE4-9C85-2CAB3E62B15C}"/>
              </a:ext>
            </a:extLst>
          </p:cNvPr>
          <p:cNvSpPr>
            <a:spLocks noGrp="1"/>
          </p:cNvSpPr>
          <p:nvPr/>
        </p:nvSpPr>
        <p:spPr>
          <a:xfrm>
            <a:off x="8972550" y="3810000"/>
            <a:ext cx="1943100" cy="457200"/>
          </a:xfrm>
          <a:prstGeom prst="rect">
            <a:avLst/>
          </a:prstGeom>
          <a:noFill/>
          <a:ln w="0">
            <a:noFill/>
            <a:prstDash val="solid"/>
          </a:ln>
        </p:spPr>
        <p:txBody>
          <a:bodyPr lIns="0" tIns="0" rIns="0" bIns="0" anchor="ctr">
            <a:noAutofit/>
          </a:bodyPr>
          <a:lstStyle/>
          <a:p>
            <a:pPr algn="l">
              <a:defRPr sz="1875" b="0">
                <a:solidFill>
                  <a:srgbClr val="17211D"/>
                </a:solidFill>
                <a:latin typeface="Arial"/>
                <a:ea typeface="Arial"/>
                <a:cs typeface="Arial"/>
              </a:defRPr>
            </a:pPr>
            <a:r>
              <a:rPr sz="1875" b="0">
                <a:solidFill>
                  <a:srgbClr val="17211D"/>
                </a:solidFill>
                <a:latin typeface="Arial"/>
                <a:ea typeface="Arial"/>
                <a:cs typeface="Arial"/>
              </a:rPr>
              <a:t>With RND</a:t>
            </a:r>
          </a:p>
        </p:txBody>
      </p:sp>
      <p:sp>
        <p:nvSpPr>
          <p:cNvPr id="32" name="Rectangle 31">
            <a:extLst>
              <a:ext uri="{FF2B5EF4-FFF2-40B4-BE49-F238E27FC236}">
                <a16:creationId xmlns:a16="http://schemas.microsoft.com/office/drawing/2014/main" id="{6922C40E-8672-4F1B-A6F7-FBB377FFD889}"/>
              </a:ext>
            </a:extLst>
          </p:cNvPr>
          <p:cNvSpPr>
            <a:spLocks noGrp="1"/>
          </p:cNvSpPr>
          <p:nvPr/>
        </p:nvSpPr>
        <p:spPr>
          <a:xfrm>
            <a:off x="628650" y="4895850"/>
            <a:ext cx="3000375"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STAGED TEST</a:t>
            </a:r>
          </a:p>
        </p:txBody>
      </p:sp>
      <p:sp>
        <p:nvSpPr>
          <p:cNvPr id="33" name="Rectangle 32">
            <a:extLst>
              <a:ext uri="{FF2B5EF4-FFF2-40B4-BE49-F238E27FC236}">
                <a16:creationId xmlns:a16="http://schemas.microsoft.com/office/drawing/2014/main" id="{AECB542C-1B97-4793-97C1-96264F799A0A}"/>
              </a:ext>
            </a:extLst>
          </p:cNvPr>
          <p:cNvSpPr>
            <a:spLocks noGrp="1"/>
          </p:cNvSpPr>
          <p:nvPr/>
        </p:nvSpPr>
        <p:spPr>
          <a:xfrm>
            <a:off x="628650" y="5257800"/>
            <a:ext cx="10620375" cy="447675"/>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dirty="0">
                <a:solidFill>
                  <a:srgbClr val="17211D"/>
                </a:solidFill>
                <a:latin typeface="Arial"/>
                <a:ea typeface="Arial"/>
                <a:cs typeface="Arial"/>
              </a:rPr>
              <a:t>Hummingbirds: full matrix    •    Second game</a:t>
            </a:r>
            <a:r>
              <a:rPr lang="en-US" sz="1650" b="0" dirty="0">
                <a:solidFill>
                  <a:srgbClr val="17211D"/>
                </a:solidFill>
                <a:latin typeface="Arial"/>
                <a:ea typeface="Arial"/>
                <a:cs typeface="Arial"/>
              </a:rPr>
              <a:t>(TBD)</a:t>
            </a:r>
            <a:r>
              <a:rPr sz="1650" b="0" dirty="0">
                <a:solidFill>
                  <a:srgbClr val="17211D"/>
                </a:solidFill>
                <a:latin typeface="Arial"/>
                <a:ea typeface="Arial"/>
                <a:cs typeface="Arial"/>
              </a:rPr>
              <a:t>: selected comparisons</a:t>
            </a:r>
          </a:p>
        </p:txBody>
      </p:sp>
      <p:sp>
        <p:nvSpPr>
          <p:cNvPr id="38" name="TextBox 37">
            <a:extLst>
              <a:ext uri="{FF2B5EF4-FFF2-40B4-BE49-F238E27FC236}">
                <a16:creationId xmlns:a16="http://schemas.microsoft.com/office/drawing/2014/main" id="{8A69CB69-18E3-448C-3E7A-94643A892866}"/>
              </a:ext>
            </a:extLst>
          </p:cNvPr>
          <p:cNvSpPr txBox="1"/>
          <p:nvPr/>
        </p:nvSpPr>
        <p:spPr>
          <a:xfrm>
            <a:off x="5924550" y="4893195"/>
            <a:ext cx="7083552" cy="346249"/>
          </a:xfrm>
          <a:prstGeom prst="rect">
            <a:avLst/>
          </a:prstGeom>
          <a:noFill/>
        </p:spPr>
        <p:txBody>
          <a:bodyPr wrap="square">
            <a:spAutoFit/>
          </a:bodyPr>
          <a:lstStyle/>
          <a:p>
            <a:pPr algn="l">
              <a:defRPr sz="1650" b="1">
                <a:solidFill>
                  <a:srgbClr val="FFFFFF"/>
                </a:solidFill>
                <a:latin typeface="Arial"/>
                <a:ea typeface="Arial"/>
                <a:cs typeface="Arial"/>
              </a:defRPr>
            </a:pPr>
            <a:r>
              <a:rPr lang="en-US" sz="1650" b="1" dirty="0">
                <a:solidFill>
                  <a:srgbClr val="FFFFFF"/>
                </a:solidFill>
                <a:latin typeface="Arial"/>
                <a:ea typeface="Arial"/>
                <a:cs typeface="Arial"/>
              </a:rPr>
              <a:t>RND</a:t>
            </a:r>
          </a:p>
        </p:txBody>
      </p:sp>
    </p:spTree>
    <p:extLst>
      <p:ext uri="{BB962C8B-B14F-4D97-AF65-F5344CB8AC3E}">
        <p14:creationId xmlns:p14="http://schemas.microsoft.com/office/powerpoint/2010/main" val="39571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C6ABDBBA-EA71-4F27-AAB0-8B27A528D07D}"/>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Evaluation metrics</a:t>
            </a:r>
          </a:p>
        </p:txBody>
      </p:sp>
      <p:sp>
        <p:nvSpPr>
          <p:cNvPr id="3" name="Straight Connector 2">
            <a:extLst>
              <a:ext uri="{FF2B5EF4-FFF2-40B4-BE49-F238E27FC236}">
                <a16:creationId xmlns:a16="http://schemas.microsoft.com/office/drawing/2014/main" id="{09734BA1-9D99-4BE2-97A4-6B364E0A462C}"/>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3D217566-3B7A-4D78-9CFE-A2A62AE0B2FD}"/>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9755AB74-24EB-4210-9765-22BDB42E8FCC}"/>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6A2E2BBE-6728-415F-8F10-EEF9A5EAAAD4}"/>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0</a:t>
            </a:r>
            <a:r>
              <a:rPr lang="en-US" sz="975" dirty="0">
                <a:solidFill>
                  <a:srgbClr val="52605A"/>
                </a:solidFill>
                <a:latin typeface="Arial"/>
                <a:ea typeface="Arial"/>
                <a:cs typeface="Arial"/>
              </a:rPr>
              <a:t>9</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A979772E-6C1D-4D2A-8109-AE05F26C8836}"/>
              </a:ext>
            </a:extLst>
          </p:cNvPr>
          <p:cNvSpPr>
            <a:spLocks noGrp="1"/>
          </p:cNvSpPr>
          <p:nvPr/>
        </p:nvSpPr>
        <p:spPr>
          <a:xfrm>
            <a:off x="628650" y="1504950"/>
            <a:ext cx="9525000" cy="638175"/>
          </a:xfrm>
          <a:prstGeom prst="rect">
            <a:avLst/>
          </a:prstGeom>
          <a:noFill/>
          <a:ln w="0">
            <a:noFill/>
            <a:prstDash val="solid"/>
          </a:ln>
        </p:spPr>
        <p:txBody>
          <a:bodyPr lIns="0" tIns="0" rIns="0" bIns="0" anchor="ctr">
            <a:noAutofit/>
          </a:bodyPr>
          <a:lstStyle/>
          <a:p>
            <a:pPr algn="l">
              <a:defRPr sz="2925" b="1">
                <a:solidFill>
                  <a:srgbClr val="17211D"/>
                </a:solidFill>
                <a:latin typeface="Arial"/>
                <a:ea typeface="Arial"/>
                <a:cs typeface="Arial"/>
              </a:defRPr>
            </a:pPr>
            <a:r>
              <a:rPr sz="2925" b="1">
                <a:solidFill>
                  <a:srgbClr val="17211D"/>
                </a:solidFill>
                <a:latin typeface="Arial"/>
                <a:ea typeface="Arial"/>
                <a:cs typeface="Arial"/>
              </a:rPr>
              <a:t>What does “better” mean?</a:t>
            </a:r>
          </a:p>
        </p:txBody>
      </p:sp>
      <p:sp>
        <p:nvSpPr>
          <p:cNvPr id="8" name="Rectangle 7">
            <a:extLst>
              <a:ext uri="{FF2B5EF4-FFF2-40B4-BE49-F238E27FC236}">
                <a16:creationId xmlns:a16="http://schemas.microsoft.com/office/drawing/2014/main" id="{E55D8280-38CA-4508-8EEB-4BE0588C562C}"/>
              </a:ext>
            </a:extLst>
          </p:cNvPr>
          <p:cNvSpPr>
            <a:spLocks noGrp="1"/>
          </p:cNvSpPr>
          <p:nvPr/>
        </p:nvSpPr>
        <p:spPr>
          <a:xfrm>
            <a:off x="647700" y="2581275"/>
            <a:ext cx="666750" cy="333375"/>
          </a:xfrm>
          <a:prstGeom prst="rect">
            <a:avLst/>
          </a:prstGeom>
          <a:noFill/>
          <a:ln w="0">
            <a:noFill/>
            <a:prstDash val="solid"/>
          </a:ln>
        </p:spPr>
        <p:txBody>
          <a:bodyPr lIns="0" tIns="0" rIns="0" bIns="0" anchor="ctr">
            <a:noAutofit/>
          </a:bodyPr>
          <a:lstStyle/>
          <a:p>
            <a:pPr algn="l">
              <a:defRPr sz="1425" b="1">
                <a:solidFill>
                  <a:srgbClr val="D2AE45"/>
                </a:solidFill>
                <a:latin typeface="Arial"/>
                <a:ea typeface="Arial"/>
                <a:cs typeface="Arial"/>
              </a:defRPr>
            </a:pPr>
            <a:r>
              <a:rPr sz="1425" b="1">
                <a:solidFill>
                  <a:srgbClr val="D2AE45"/>
                </a:solidFill>
                <a:latin typeface="Arial"/>
                <a:ea typeface="Arial"/>
                <a:cs typeface="Arial"/>
              </a:rPr>
              <a:t>01</a:t>
            </a:r>
          </a:p>
        </p:txBody>
      </p:sp>
      <p:sp>
        <p:nvSpPr>
          <p:cNvPr id="9" name="Rectangle 8">
            <a:extLst>
              <a:ext uri="{FF2B5EF4-FFF2-40B4-BE49-F238E27FC236}">
                <a16:creationId xmlns:a16="http://schemas.microsoft.com/office/drawing/2014/main" id="{1508C588-2E19-4F2D-9F74-01854927E877}"/>
              </a:ext>
            </a:extLst>
          </p:cNvPr>
          <p:cNvSpPr>
            <a:spLocks noGrp="1"/>
          </p:cNvSpPr>
          <p:nvPr/>
        </p:nvSpPr>
        <p:spPr>
          <a:xfrm>
            <a:off x="1381125" y="2533650"/>
            <a:ext cx="3905250" cy="457200"/>
          </a:xfrm>
          <a:prstGeom prst="rect">
            <a:avLst/>
          </a:prstGeom>
          <a:noFill/>
          <a:ln w="0">
            <a:noFill/>
            <a:prstDash val="solid"/>
          </a:ln>
        </p:spPr>
        <p:txBody>
          <a:bodyPr lIns="0" tIns="0" rIns="0" bIns="0" anchor="ctr">
            <a:noAutofit/>
          </a:bodyPr>
          <a:lstStyle/>
          <a:p>
            <a:pPr algn="l">
              <a:defRPr sz="2175" b="1">
                <a:solidFill>
                  <a:srgbClr val="006A43"/>
                </a:solidFill>
                <a:latin typeface="Arial"/>
                <a:ea typeface="Arial"/>
                <a:cs typeface="Arial"/>
              </a:defRPr>
            </a:pPr>
            <a:r>
              <a:rPr sz="2175" b="1">
                <a:solidFill>
                  <a:srgbClr val="006A43"/>
                </a:solidFill>
                <a:latin typeface="Arial"/>
                <a:ea typeface="Arial"/>
                <a:cs typeface="Arial"/>
              </a:rPr>
              <a:t>Extrinsic return</a:t>
            </a:r>
          </a:p>
        </p:txBody>
      </p:sp>
      <p:sp>
        <p:nvSpPr>
          <p:cNvPr id="10" name="Rectangle 9">
            <a:extLst>
              <a:ext uri="{FF2B5EF4-FFF2-40B4-BE49-F238E27FC236}">
                <a16:creationId xmlns:a16="http://schemas.microsoft.com/office/drawing/2014/main" id="{C425ED09-B197-4F2F-9E09-C9DBCA4A8A95}"/>
              </a:ext>
            </a:extLst>
          </p:cNvPr>
          <p:cNvSpPr>
            <a:spLocks noGrp="1"/>
          </p:cNvSpPr>
          <p:nvPr/>
        </p:nvSpPr>
        <p:spPr>
          <a:xfrm>
            <a:off x="5381625" y="2562225"/>
            <a:ext cx="5905500" cy="485775"/>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a:solidFill>
                  <a:srgbClr val="17211D"/>
                </a:solidFill>
                <a:latin typeface="Arial"/>
                <a:ea typeface="Arial"/>
                <a:cs typeface="Arial"/>
              </a:rPr>
              <a:t>How much game reward did it earn?</a:t>
            </a:r>
          </a:p>
        </p:txBody>
      </p:sp>
      <p:sp>
        <p:nvSpPr>
          <p:cNvPr id="11" name="Straight Connector 10">
            <a:extLst>
              <a:ext uri="{FF2B5EF4-FFF2-40B4-BE49-F238E27FC236}">
                <a16:creationId xmlns:a16="http://schemas.microsoft.com/office/drawing/2014/main" id="{D9F40077-17CB-4C68-8CB7-E0575E5CCFE4}"/>
              </a:ext>
            </a:extLst>
          </p:cNvPr>
          <p:cNvSpPr>
            <a:spLocks noGrp="1"/>
          </p:cNvSpPr>
          <p:nvPr/>
        </p:nvSpPr>
        <p:spPr>
          <a:xfrm>
            <a:off x="647700" y="3190875"/>
            <a:ext cx="10477500" cy="0"/>
          </a:xfrm>
          <a:prstGeom prst="line">
            <a:avLst/>
          </a:prstGeom>
          <a:noFill/>
          <a:ln w="9525">
            <a:solidFill>
              <a:srgbClr val="D8E0DA"/>
            </a:solidFill>
            <a:prstDash val="solid"/>
          </a:ln>
        </p:spPr>
      </p:sp>
      <p:sp>
        <p:nvSpPr>
          <p:cNvPr id="12" name="Rectangle 11">
            <a:extLst>
              <a:ext uri="{FF2B5EF4-FFF2-40B4-BE49-F238E27FC236}">
                <a16:creationId xmlns:a16="http://schemas.microsoft.com/office/drawing/2014/main" id="{5A9A7AE1-F200-46D6-B508-CC166F1965B6}"/>
              </a:ext>
            </a:extLst>
          </p:cNvPr>
          <p:cNvSpPr>
            <a:spLocks noGrp="1"/>
          </p:cNvSpPr>
          <p:nvPr/>
        </p:nvSpPr>
        <p:spPr>
          <a:xfrm>
            <a:off x="647700" y="3571875"/>
            <a:ext cx="666750" cy="333375"/>
          </a:xfrm>
          <a:prstGeom prst="rect">
            <a:avLst/>
          </a:prstGeom>
          <a:noFill/>
          <a:ln w="0">
            <a:noFill/>
            <a:prstDash val="solid"/>
          </a:ln>
        </p:spPr>
        <p:txBody>
          <a:bodyPr lIns="0" tIns="0" rIns="0" bIns="0" anchor="ctr">
            <a:noAutofit/>
          </a:bodyPr>
          <a:lstStyle/>
          <a:p>
            <a:pPr algn="l">
              <a:defRPr sz="1425" b="1">
                <a:solidFill>
                  <a:srgbClr val="D2AE45"/>
                </a:solidFill>
                <a:latin typeface="Arial"/>
                <a:ea typeface="Arial"/>
                <a:cs typeface="Arial"/>
              </a:defRPr>
            </a:pPr>
            <a:r>
              <a:rPr sz="1425" b="1">
                <a:solidFill>
                  <a:srgbClr val="D2AE45"/>
                </a:solidFill>
                <a:latin typeface="Arial"/>
                <a:ea typeface="Arial"/>
                <a:cs typeface="Arial"/>
              </a:rPr>
              <a:t>02</a:t>
            </a:r>
          </a:p>
        </p:txBody>
      </p:sp>
      <p:sp>
        <p:nvSpPr>
          <p:cNvPr id="13" name="Rectangle 12">
            <a:extLst>
              <a:ext uri="{FF2B5EF4-FFF2-40B4-BE49-F238E27FC236}">
                <a16:creationId xmlns:a16="http://schemas.microsoft.com/office/drawing/2014/main" id="{EED1EE0B-3E8D-4A8D-93ED-04CE4A1DC247}"/>
              </a:ext>
            </a:extLst>
          </p:cNvPr>
          <p:cNvSpPr>
            <a:spLocks noGrp="1"/>
          </p:cNvSpPr>
          <p:nvPr/>
        </p:nvSpPr>
        <p:spPr>
          <a:xfrm>
            <a:off x="1381125" y="3524250"/>
            <a:ext cx="3905250" cy="457200"/>
          </a:xfrm>
          <a:prstGeom prst="rect">
            <a:avLst/>
          </a:prstGeom>
          <a:noFill/>
          <a:ln w="0">
            <a:noFill/>
            <a:prstDash val="solid"/>
          </a:ln>
        </p:spPr>
        <p:txBody>
          <a:bodyPr lIns="0" tIns="0" rIns="0" bIns="0" anchor="ctr">
            <a:noAutofit/>
          </a:bodyPr>
          <a:lstStyle/>
          <a:p>
            <a:pPr algn="l">
              <a:defRPr sz="2175" b="1">
                <a:solidFill>
                  <a:srgbClr val="006A43"/>
                </a:solidFill>
                <a:latin typeface="Arial"/>
                <a:ea typeface="Arial"/>
                <a:cs typeface="Arial"/>
              </a:defRPr>
            </a:pPr>
            <a:r>
              <a:rPr sz="2175" b="1">
                <a:solidFill>
                  <a:srgbClr val="006A43"/>
                </a:solidFill>
                <a:latin typeface="Arial"/>
                <a:ea typeface="Arial"/>
                <a:cs typeface="Arial"/>
              </a:rPr>
              <a:t>Task progress</a:t>
            </a:r>
          </a:p>
        </p:txBody>
      </p:sp>
      <p:sp>
        <p:nvSpPr>
          <p:cNvPr id="14" name="Rectangle 13">
            <a:extLst>
              <a:ext uri="{FF2B5EF4-FFF2-40B4-BE49-F238E27FC236}">
                <a16:creationId xmlns:a16="http://schemas.microsoft.com/office/drawing/2014/main" id="{13CB6B47-964E-443A-8115-31DC0E2861D9}"/>
              </a:ext>
            </a:extLst>
          </p:cNvPr>
          <p:cNvSpPr>
            <a:spLocks noGrp="1"/>
          </p:cNvSpPr>
          <p:nvPr/>
        </p:nvSpPr>
        <p:spPr>
          <a:xfrm>
            <a:off x="5381625" y="3552825"/>
            <a:ext cx="5905500" cy="485775"/>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a:solidFill>
                  <a:srgbClr val="17211D"/>
                </a:solidFill>
                <a:latin typeface="Arial"/>
                <a:ea typeface="Arial"/>
                <a:cs typeface="Arial"/>
              </a:rPr>
              <a:t>How far did it get in the game?</a:t>
            </a:r>
          </a:p>
        </p:txBody>
      </p:sp>
      <p:sp>
        <p:nvSpPr>
          <p:cNvPr id="15" name="Straight Connector 14">
            <a:extLst>
              <a:ext uri="{FF2B5EF4-FFF2-40B4-BE49-F238E27FC236}">
                <a16:creationId xmlns:a16="http://schemas.microsoft.com/office/drawing/2014/main" id="{275EB989-0FC9-44C8-BBD2-D83DAECAB875}"/>
              </a:ext>
            </a:extLst>
          </p:cNvPr>
          <p:cNvSpPr>
            <a:spLocks noGrp="1"/>
          </p:cNvSpPr>
          <p:nvPr/>
        </p:nvSpPr>
        <p:spPr>
          <a:xfrm>
            <a:off x="647700" y="4181475"/>
            <a:ext cx="10477500" cy="0"/>
          </a:xfrm>
          <a:prstGeom prst="line">
            <a:avLst/>
          </a:prstGeom>
          <a:noFill/>
          <a:ln w="9525">
            <a:solidFill>
              <a:srgbClr val="D8E0DA"/>
            </a:solidFill>
            <a:prstDash val="solid"/>
          </a:ln>
        </p:spPr>
      </p:sp>
      <p:sp>
        <p:nvSpPr>
          <p:cNvPr id="16" name="Rectangle 15">
            <a:extLst>
              <a:ext uri="{FF2B5EF4-FFF2-40B4-BE49-F238E27FC236}">
                <a16:creationId xmlns:a16="http://schemas.microsoft.com/office/drawing/2014/main" id="{4B2D78AC-9D24-4628-9E48-C42B061035B4}"/>
              </a:ext>
            </a:extLst>
          </p:cNvPr>
          <p:cNvSpPr>
            <a:spLocks noGrp="1"/>
          </p:cNvSpPr>
          <p:nvPr/>
        </p:nvSpPr>
        <p:spPr>
          <a:xfrm>
            <a:off x="647700" y="4562475"/>
            <a:ext cx="666750" cy="333375"/>
          </a:xfrm>
          <a:prstGeom prst="rect">
            <a:avLst/>
          </a:prstGeom>
          <a:noFill/>
          <a:ln w="0">
            <a:noFill/>
            <a:prstDash val="solid"/>
          </a:ln>
        </p:spPr>
        <p:txBody>
          <a:bodyPr lIns="0" tIns="0" rIns="0" bIns="0" anchor="ctr">
            <a:noAutofit/>
          </a:bodyPr>
          <a:lstStyle/>
          <a:p>
            <a:pPr algn="l">
              <a:defRPr sz="1425" b="1">
                <a:solidFill>
                  <a:srgbClr val="D2AE45"/>
                </a:solidFill>
                <a:latin typeface="Arial"/>
                <a:ea typeface="Arial"/>
                <a:cs typeface="Arial"/>
              </a:defRPr>
            </a:pPr>
            <a:r>
              <a:rPr sz="1425" b="1">
                <a:solidFill>
                  <a:srgbClr val="D2AE45"/>
                </a:solidFill>
                <a:latin typeface="Arial"/>
                <a:ea typeface="Arial"/>
                <a:cs typeface="Arial"/>
              </a:rPr>
              <a:t>03</a:t>
            </a:r>
          </a:p>
        </p:txBody>
      </p:sp>
      <p:sp>
        <p:nvSpPr>
          <p:cNvPr id="17" name="Rectangle 16">
            <a:extLst>
              <a:ext uri="{FF2B5EF4-FFF2-40B4-BE49-F238E27FC236}">
                <a16:creationId xmlns:a16="http://schemas.microsoft.com/office/drawing/2014/main" id="{C86A1A3F-D7E7-43A9-ACE8-FF5094E6B018}"/>
              </a:ext>
            </a:extLst>
          </p:cNvPr>
          <p:cNvSpPr>
            <a:spLocks noGrp="1"/>
          </p:cNvSpPr>
          <p:nvPr/>
        </p:nvSpPr>
        <p:spPr>
          <a:xfrm>
            <a:off x="1381125" y="4514850"/>
            <a:ext cx="3905250" cy="457200"/>
          </a:xfrm>
          <a:prstGeom prst="rect">
            <a:avLst/>
          </a:prstGeom>
          <a:noFill/>
          <a:ln w="0">
            <a:noFill/>
            <a:prstDash val="solid"/>
          </a:ln>
        </p:spPr>
        <p:txBody>
          <a:bodyPr lIns="0" tIns="0" rIns="0" bIns="0" anchor="ctr">
            <a:noAutofit/>
          </a:bodyPr>
          <a:lstStyle/>
          <a:p>
            <a:pPr algn="l">
              <a:defRPr sz="2175" b="1">
                <a:solidFill>
                  <a:srgbClr val="006A43"/>
                </a:solidFill>
                <a:latin typeface="Arial"/>
                <a:ea typeface="Arial"/>
                <a:cs typeface="Arial"/>
              </a:defRPr>
            </a:pPr>
            <a:r>
              <a:rPr sz="2175" b="1">
                <a:solidFill>
                  <a:srgbClr val="006A43"/>
                </a:solidFill>
                <a:latin typeface="Arial"/>
                <a:ea typeface="Arial"/>
                <a:cs typeface="Arial"/>
              </a:rPr>
              <a:t>Exploration coverage</a:t>
            </a:r>
          </a:p>
        </p:txBody>
      </p:sp>
      <p:sp>
        <p:nvSpPr>
          <p:cNvPr id="18" name="Rectangle 17">
            <a:extLst>
              <a:ext uri="{FF2B5EF4-FFF2-40B4-BE49-F238E27FC236}">
                <a16:creationId xmlns:a16="http://schemas.microsoft.com/office/drawing/2014/main" id="{11C3CE89-B808-4CBC-A30C-FBE504E1DC6E}"/>
              </a:ext>
            </a:extLst>
          </p:cNvPr>
          <p:cNvSpPr>
            <a:spLocks noGrp="1"/>
          </p:cNvSpPr>
          <p:nvPr/>
        </p:nvSpPr>
        <p:spPr>
          <a:xfrm>
            <a:off x="5381625" y="4543425"/>
            <a:ext cx="5905500" cy="485775"/>
          </a:xfrm>
          <a:prstGeom prst="rect">
            <a:avLst/>
          </a:prstGeom>
          <a:noFill/>
          <a:ln w="0">
            <a:noFill/>
            <a:prstDash val="solid"/>
          </a:ln>
        </p:spPr>
        <p:txBody>
          <a:bodyPr lIns="0" tIns="0" rIns="0" bIns="0" anchor="ctr">
            <a:noAutofit/>
          </a:bodyPr>
          <a:lstStyle/>
          <a:p>
            <a:pPr algn="l">
              <a:defRPr sz="1650" b="0">
                <a:solidFill>
                  <a:srgbClr val="17211D"/>
                </a:solidFill>
                <a:latin typeface="Arial"/>
                <a:ea typeface="Arial"/>
                <a:cs typeface="Arial"/>
              </a:defRPr>
            </a:pPr>
            <a:r>
              <a:rPr sz="1650" b="0">
                <a:solidFill>
                  <a:srgbClr val="17211D"/>
                </a:solidFill>
                <a:latin typeface="Arial"/>
                <a:ea typeface="Arial"/>
                <a:cs typeface="Arial"/>
              </a:rPr>
              <a:t>Which parts of the game did it reach?</a:t>
            </a:r>
          </a:p>
        </p:txBody>
      </p:sp>
      <p:sp>
        <p:nvSpPr>
          <p:cNvPr id="19" name="Straight Connector 18">
            <a:extLst>
              <a:ext uri="{FF2B5EF4-FFF2-40B4-BE49-F238E27FC236}">
                <a16:creationId xmlns:a16="http://schemas.microsoft.com/office/drawing/2014/main" id="{C3803BAA-1631-4D59-9652-9CA57467C9E2}"/>
              </a:ext>
            </a:extLst>
          </p:cNvPr>
          <p:cNvSpPr>
            <a:spLocks noGrp="1"/>
          </p:cNvSpPr>
          <p:nvPr/>
        </p:nvSpPr>
        <p:spPr>
          <a:xfrm>
            <a:off x="647700" y="5172075"/>
            <a:ext cx="10477500" cy="0"/>
          </a:xfrm>
          <a:prstGeom prst="line">
            <a:avLst/>
          </a:prstGeom>
          <a:noFill/>
          <a:ln w="9525">
            <a:solidFill>
              <a:srgbClr val="D8E0DA"/>
            </a:solidFill>
            <a:prstDash val="solid"/>
          </a:ln>
        </p:spPr>
      </p:sp>
    </p:spTree>
    <p:extLst>
      <p:ext uri="{BB962C8B-B14F-4D97-AF65-F5344CB8AC3E}">
        <p14:creationId xmlns:p14="http://schemas.microsoft.com/office/powerpoint/2010/main" val="374501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4E2C39B8-4DFE-4CDD-9A4E-F6B6D13C8F23}"/>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dirty="0">
                <a:solidFill>
                  <a:srgbClr val="17211D"/>
                </a:solidFill>
                <a:latin typeface="Arial"/>
                <a:ea typeface="Arial"/>
                <a:cs typeface="Arial"/>
              </a:rPr>
              <a:t>software tools</a:t>
            </a:r>
          </a:p>
        </p:txBody>
      </p:sp>
      <p:sp>
        <p:nvSpPr>
          <p:cNvPr id="3" name="Straight Connector 2">
            <a:extLst>
              <a:ext uri="{FF2B5EF4-FFF2-40B4-BE49-F238E27FC236}">
                <a16:creationId xmlns:a16="http://schemas.microsoft.com/office/drawing/2014/main" id="{1093F415-4A74-4341-979F-15CF7636E27C}"/>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A050A6BD-DE5C-4B5C-A6D2-24BE1BDEBDEE}"/>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45058396-12C9-421B-992D-19B70B3793A1}"/>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5C9EFE65-9FEF-4AF9-8559-171E3B0196BF}"/>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lang="en-US" sz="975" dirty="0">
                <a:solidFill>
                  <a:srgbClr val="52605A"/>
                </a:solidFill>
                <a:latin typeface="Arial"/>
                <a:ea typeface="Arial"/>
                <a:cs typeface="Arial"/>
              </a:rPr>
              <a:t>10</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B7BB57BC-3229-43EE-BA80-082826922100}"/>
              </a:ext>
            </a:extLst>
          </p:cNvPr>
          <p:cNvSpPr>
            <a:spLocks noGrp="1"/>
          </p:cNvSpPr>
          <p:nvPr/>
        </p:nvSpPr>
        <p:spPr>
          <a:xfrm>
            <a:off x="638175" y="1704975"/>
            <a:ext cx="4048125" cy="457200"/>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dirty="0">
                <a:solidFill>
                  <a:srgbClr val="006A43"/>
                </a:solidFill>
                <a:latin typeface="Arial"/>
                <a:ea typeface="Arial"/>
                <a:cs typeface="Arial"/>
              </a:rPr>
              <a:t>Unity </a:t>
            </a:r>
            <a:r>
              <a:rPr lang="en-US" sz="2325" b="1" dirty="0">
                <a:solidFill>
                  <a:srgbClr val="006A43"/>
                </a:solidFill>
                <a:latin typeface="Arial"/>
                <a:ea typeface="Arial"/>
                <a:cs typeface="Arial"/>
              </a:rPr>
              <a:t>,</a:t>
            </a:r>
            <a:r>
              <a:rPr sz="2325" b="1" dirty="0">
                <a:solidFill>
                  <a:srgbClr val="006A43"/>
                </a:solidFill>
                <a:latin typeface="Arial"/>
                <a:ea typeface="Arial"/>
                <a:cs typeface="Arial"/>
              </a:rPr>
              <a:t> C#</a:t>
            </a:r>
          </a:p>
        </p:txBody>
      </p:sp>
      <p:sp>
        <p:nvSpPr>
          <p:cNvPr id="8" name="Rectangle 7">
            <a:extLst>
              <a:ext uri="{FF2B5EF4-FFF2-40B4-BE49-F238E27FC236}">
                <a16:creationId xmlns:a16="http://schemas.microsoft.com/office/drawing/2014/main" id="{9EA13758-F8E5-4D73-8F10-ABEAFB512D18}"/>
              </a:ext>
            </a:extLst>
          </p:cNvPr>
          <p:cNvSpPr>
            <a:spLocks noGrp="1"/>
          </p:cNvSpPr>
          <p:nvPr/>
        </p:nvSpPr>
        <p:spPr>
          <a:xfrm>
            <a:off x="5124450" y="1704975"/>
            <a:ext cx="5676900" cy="457200"/>
          </a:xfrm>
          <a:prstGeom prst="rect">
            <a:avLst/>
          </a:prstGeom>
          <a:noFill/>
          <a:ln w="0">
            <a:noFill/>
            <a:prstDash val="solid"/>
          </a:ln>
        </p:spPr>
        <p:txBody>
          <a:bodyPr lIns="0" tIns="0" rIns="0" bIns="0" anchor="ctr">
            <a:noAutofit/>
          </a:bodyPr>
          <a:lstStyle/>
          <a:p>
            <a:pPr algn="l">
              <a:defRPr sz="1800" b="0">
                <a:solidFill>
                  <a:srgbClr val="17211D"/>
                </a:solidFill>
                <a:latin typeface="Arial"/>
                <a:ea typeface="Arial"/>
                <a:cs typeface="Arial"/>
              </a:defRPr>
            </a:pPr>
            <a:r>
              <a:rPr sz="1800" b="0">
                <a:solidFill>
                  <a:srgbClr val="17211D"/>
                </a:solidFill>
                <a:latin typeface="Arial"/>
                <a:ea typeface="Arial"/>
                <a:cs typeface="Arial"/>
              </a:rPr>
              <a:t>Build both game environments</a:t>
            </a:r>
          </a:p>
        </p:txBody>
      </p:sp>
      <p:sp>
        <p:nvSpPr>
          <p:cNvPr id="9" name="Straight Connector 8">
            <a:extLst>
              <a:ext uri="{FF2B5EF4-FFF2-40B4-BE49-F238E27FC236}">
                <a16:creationId xmlns:a16="http://schemas.microsoft.com/office/drawing/2014/main" id="{2DD96B4D-5BA2-49C6-BE6D-1475216ACB9F}"/>
              </a:ext>
            </a:extLst>
          </p:cNvPr>
          <p:cNvSpPr>
            <a:spLocks noGrp="1"/>
          </p:cNvSpPr>
          <p:nvPr/>
        </p:nvSpPr>
        <p:spPr>
          <a:xfrm>
            <a:off x="638175" y="2352675"/>
            <a:ext cx="10258425" cy="0"/>
          </a:xfrm>
          <a:prstGeom prst="line">
            <a:avLst/>
          </a:prstGeom>
          <a:noFill/>
          <a:ln w="9525">
            <a:solidFill>
              <a:srgbClr val="D8E0DA"/>
            </a:solidFill>
            <a:prstDash val="solid"/>
          </a:ln>
        </p:spPr>
      </p:sp>
      <p:sp>
        <p:nvSpPr>
          <p:cNvPr id="10" name="Rectangle 9">
            <a:extLst>
              <a:ext uri="{FF2B5EF4-FFF2-40B4-BE49-F238E27FC236}">
                <a16:creationId xmlns:a16="http://schemas.microsoft.com/office/drawing/2014/main" id="{CE289695-17C4-4A26-852A-9F74F96B4191}"/>
              </a:ext>
            </a:extLst>
          </p:cNvPr>
          <p:cNvSpPr>
            <a:spLocks noGrp="1"/>
          </p:cNvSpPr>
          <p:nvPr/>
        </p:nvSpPr>
        <p:spPr>
          <a:xfrm>
            <a:off x="638175" y="2705100"/>
            <a:ext cx="4048125" cy="457200"/>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dirty="0">
                <a:solidFill>
                  <a:srgbClr val="006A43"/>
                </a:solidFill>
                <a:latin typeface="Arial"/>
                <a:ea typeface="Arial"/>
                <a:cs typeface="Arial"/>
              </a:rPr>
              <a:t>ML-Agents </a:t>
            </a:r>
            <a:r>
              <a:rPr lang="en-US" sz="2325" b="1" dirty="0">
                <a:solidFill>
                  <a:srgbClr val="006A43"/>
                </a:solidFill>
                <a:latin typeface="Arial"/>
                <a:ea typeface="Arial"/>
                <a:cs typeface="Arial"/>
              </a:rPr>
              <a:t>,</a:t>
            </a:r>
            <a:r>
              <a:rPr sz="2325" b="1" dirty="0">
                <a:solidFill>
                  <a:srgbClr val="006A43"/>
                </a:solidFill>
                <a:latin typeface="Arial"/>
                <a:ea typeface="Arial"/>
                <a:cs typeface="Arial"/>
              </a:rPr>
              <a:t> Python</a:t>
            </a:r>
          </a:p>
        </p:txBody>
      </p:sp>
      <p:sp>
        <p:nvSpPr>
          <p:cNvPr id="11" name="Rectangle 10">
            <a:extLst>
              <a:ext uri="{FF2B5EF4-FFF2-40B4-BE49-F238E27FC236}">
                <a16:creationId xmlns:a16="http://schemas.microsoft.com/office/drawing/2014/main" id="{19758AB4-FB6D-435A-A7B7-37808A64581C}"/>
              </a:ext>
            </a:extLst>
          </p:cNvPr>
          <p:cNvSpPr>
            <a:spLocks noGrp="1"/>
          </p:cNvSpPr>
          <p:nvPr/>
        </p:nvSpPr>
        <p:spPr>
          <a:xfrm>
            <a:off x="5124450" y="2705100"/>
            <a:ext cx="5676900" cy="457200"/>
          </a:xfrm>
          <a:prstGeom prst="rect">
            <a:avLst/>
          </a:prstGeom>
          <a:noFill/>
          <a:ln w="0">
            <a:noFill/>
            <a:prstDash val="solid"/>
          </a:ln>
        </p:spPr>
        <p:txBody>
          <a:bodyPr lIns="0" tIns="0" rIns="0" bIns="0" anchor="ctr">
            <a:noAutofit/>
          </a:bodyPr>
          <a:lstStyle/>
          <a:p>
            <a:pPr algn="l">
              <a:defRPr sz="1800" b="0">
                <a:solidFill>
                  <a:srgbClr val="17211D"/>
                </a:solidFill>
                <a:latin typeface="Arial"/>
                <a:ea typeface="Arial"/>
                <a:cs typeface="Arial"/>
              </a:defRPr>
            </a:pPr>
            <a:r>
              <a:rPr sz="1800" b="0">
                <a:solidFill>
                  <a:srgbClr val="17211D"/>
                </a:solidFill>
                <a:latin typeface="Arial"/>
                <a:ea typeface="Arial"/>
                <a:cs typeface="Arial"/>
              </a:rPr>
              <a:t>Train and evaluate agents</a:t>
            </a:r>
          </a:p>
        </p:txBody>
      </p:sp>
      <p:sp>
        <p:nvSpPr>
          <p:cNvPr id="12" name="Straight Connector 11">
            <a:extLst>
              <a:ext uri="{FF2B5EF4-FFF2-40B4-BE49-F238E27FC236}">
                <a16:creationId xmlns:a16="http://schemas.microsoft.com/office/drawing/2014/main" id="{2B3A33D4-451A-4389-A50D-FEFA39C0B2C9}"/>
              </a:ext>
            </a:extLst>
          </p:cNvPr>
          <p:cNvSpPr>
            <a:spLocks noGrp="1"/>
          </p:cNvSpPr>
          <p:nvPr/>
        </p:nvSpPr>
        <p:spPr>
          <a:xfrm>
            <a:off x="638175" y="3352800"/>
            <a:ext cx="10258425" cy="0"/>
          </a:xfrm>
          <a:prstGeom prst="line">
            <a:avLst/>
          </a:prstGeom>
          <a:noFill/>
          <a:ln w="9525">
            <a:solidFill>
              <a:srgbClr val="D8E0DA"/>
            </a:solidFill>
            <a:prstDash val="solid"/>
          </a:ln>
        </p:spPr>
      </p:sp>
      <p:sp>
        <p:nvSpPr>
          <p:cNvPr id="13" name="Rectangle 12">
            <a:extLst>
              <a:ext uri="{FF2B5EF4-FFF2-40B4-BE49-F238E27FC236}">
                <a16:creationId xmlns:a16="http://schemas.microsoft.com/office/drawing/2014/main" id="{8E72F2C1-CBE7-4CF1-AE0C-EDCDB9A03F47}"/>
              </a:ext>
            </a:extLst>
          </p:cNvPr>
          <p:cNvSpPr>
            <a:spLocks noGrp="1"/>
          </p:cNvSpPr>
          <p:nvPr/>
        </p:nvSpPr>
        <p:spPr>
          <a:xfrm>
            <a:off x="638175" y="3705225"/>
            <a:ext cx="4048125" cy="457200"/>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Weights &amp; Biases</a:t>
            </a:r>
          </a:p>
        </p:txBody>
      </p:sp>
      <p:sp>
        <p:nvSpPr>
          <p:cNvPr id="14" name="Rectangle 13">
            <a:extLst>
              <a:ext uri="{FF2B5EF4-FFF2-40B4-BE49-F238E27FC236}">
                <a16:creationId xmlns:a16="http://schemas.microsoft.com/office/drawing/2014/main" id="{F0B2F7F6-DE62-4010-99DE-AE4AC684B362}"/>
              </a:ext>
            </a:extLst>
          </p:cNvPr>
          <p:cNvSpPr>
            <a:spLocks noGrp="1"/>
          </p:cNvSpPr>
          <p:nvPr/>
        </p:nvSpPr>
        <p:spPr>
          <a:xfrm>
            <a:off x="5124450" y="3705225"/>
            <a:ext cx="5676900" cy="457200"/>
          </a:xfrm>
          <a:prstGeom prst="rect">
            <a:avLst/>
          </a:prstGeom>
          <a:noFill/>
          <a:ln w="0">
            <a:noFill/>
            <a:prstDash val="solid"/>
          </a:ln>
        </p:spPr>
        <p:txBody>
          <a:bodyPr lIns="0" tIns="0" rIns="0" bIns="0" anchor="ctr">
            <a:noAutofit/>
          </a:bodyPr>
          <a:lstStyle/>
          <a:p>
            <a:pPr algn="l">
              <a:defRPr sz="1800" b="0">
                <a:solidFill>
                  <a:srgbClr val="17211D"/>
                </a:solidFill>
                <a:latin typeface="Arial"/>
                <a:ea typeface="Arial"/>
                <a:cs typeface="Arial"/>
              </a:defRPr>
            </a:pPr>
            <a:r>
              <a:rPr sz="1800" b="0">
                <a:solidFill>
                  <a:srgbClr val="17211D"/>
                </a:solidFill>
                <a:latin typeface="Arial"/>
                <a:ea typeface="Arial"/>
                <a:cs typeface="Arial"/>
              </a:rPr>
              <a:t>Log runs and inspect curves</a:t>
            </a:r>
          </a:p>
        </p:txBody>
      </p:sp>
      <p:sp>
        <p:nvSpPr>
          <p:cNvPr id="15" name="Straight Connector 14">
            <a:extLst>
              <a:ext uri="{FF2B5EF4-FFF2-40B4-BE49-F238E27FC236}">
                <a16:creationId xmlns:a16="http://schemas.microsoft.com/office/drawing/2014/main" id="{CD7D6D80-809C-41B5-8F88-AAA40D88D3D6}"/>
              </a:ext>
            </a:extLst>
          </p:cNvPr>
          <p:cNvSpPr>
            <a:spLocks noGrp="1"/>
          </p:cNvSpPr>
          <p:nvPr/>
        </p:nvSpPr>
        <p:spPr>
          <a:xfrm>
            <a:off x="638175" y="4352925"/>
            <a:ext cx="10258425" cy="0"/>
          </a:xfrm>
          <a:prstGeom prst="line">
            <a:avLst/>
          </a:prstGeom>
          <a:noFill/>
          <a:ln w="9525">
            <a:solidFill>
              <a:srgbClr val="D8E0DA"/>
            </a:solidFill>
            <a:prstDash val="solid"/>
          </a:ln>
        </p:spPr>
      </p:sp>
      <p:sp>
        <p:nvSpPr>
          <p:cNvPr id="16" name="Rectangle 15">
            <a:extLst>
              <a:ext uri="{FF2B5EF4-FFF2-40B4-BE49-F238E27FC236}">
                <a16:creationId xmlns:a16="http://schemas.microsoft.com/office/drawing/2014/main" id="{3B388AFA-7A7C-4262-BDA9-D969865F6B77}"/>
              </a:ext>
            </a:extLst>
          </p:cNvPr>
          <p:cNvSpPr>
            <a:spLocks noGrp="1"/>
          </p:cNvSpPr>
          <p:nvPr/>
        </p:nvSpPr>
        <p:spPr>
          <a:xfrm>
            <a:off x="638175" y="4705350"/>
            <a:ext cx="4048125" cy="457200"/>
          </a:xfrm>
          <a:prstGeom prst="rect">
            <a:avLst/>
          </a:prstGeom>
          <a:noFill/>
          <a:ln w="0">
            <a:noFill/>
            <a:prstDash val="solid"/>
          </a:ln>
        </p:spPr>
        <p:txBody>
          <a:bodyPr lIns="0" tIns="0" rIns="0" bIns="0" anchor="ctr">
            <a:noAutofit/>
          </a:bodyPr>
          <a:lstStyle/>
          <a:p>
            <a:pPr algn="l">
              <a:defRPr sz="2325" b="1">
                <a:solidFill>
                  <a:srgbClr val="006A43"/>
                </a:solidFill>
                <a:latin typeface="Arial"/>
                <a:ea typeface="Arial"/>
                <a:cs typeface="Arial"/>
              </a:defRPr>
            </a:pPr>
            <a:r>
              <a:rPr sz="2325" b="1">
                <a:solidFill>
                  <a:srgbClr val="006A43"/>
                </a:solidFill>
                <a:latin typeface="Arial"/>
                <a:ea typeface="Arial"/>
                <a:cs typeface="Arial"/>
              </a:rPr>
              <a:t>Git</a:t>
            </a:r>
          </a:p>
        </p:txBody>
      </p:sp>
      <p:sp>
        <p:nvSpPr>
          <p:cNvPr id="17" name="Rectangle 16">
            <a:extLst>
              <a:ext uri="{FF2B5EF4-FFF2-40B4-BE49-F238E27FC236}">
                <a16:creationId xmlns:a16="http://schemas.microsoft.com/office/drawing/2014/main" id="{478AC4C0-FD6B-4AA8-9459-C3B4005ADECF}"/>
              </a:ext>
            </a:extLst>
          </p:cNvPr>
          <p:cNvSpPr>
            <a:spLocks noGrp="1"/>
          </p:cNvSpPr>
          <p:nvPr/>
        </p:nvSpPr>
        <p:spPr>
          <a:xfrm>
            <a:off x="5124450" y="4705350"/>
            <a:ext cx="5676900" cy="457200"/>
          </a:xfrm>
          <a:prstGeom prst="rect">
            <a:avLst/>
          </a:prstGeom>
          <a:noFill/>
          <a:ln w="0">
            <a:noFill/>
            <a:prstDash val="solid"/>
          </a:ln>
        </p:spPr>
        <p:txBody>
          <a:bodyPr lIns="0" tIns="0" rIns="0" bIns="0" anchor="ctr">
            <a:noAutofit/>
          </a:bodyPr>
          <a:lstStyle/>
          <a:p>
            <a:pPr algn="l">
              <a:defRPr sz="1800" b="0">
                <a:solidFill>
                  <a:srgbClr val="17211D"/>
                </a:solidFill>
                <a:latin typeface="Arial"/>
                <a:ea typeface="Arial"/>
                <a:cs typeface="Arial"/>
              </a:defRPr>
            </a:pPr>
            <a:r>
              <a:rPr sz="1800" b="0">
                <a:solidFill>
                  <a:srgbClr val="17211D"/>
                </a:solidFill>
                <a:latin typeface="Arial"/>
                <a:ea typeface="Arial"/>
                <a:cs typeface="Arial"/>
              </a:rPr>
              <a:t>Track code and configurations</a:t>
            </a:r>
          </a:p>
        </p:txBody>
      </p:sp>
      <p:sp>
        <p:nvSpPr>
          <p:cNvPr id="18" name="Straight Connector 17">
            <a:extLst>
              <a:ext uri="{FF2B5EF4-FFF2-40B4-BE49-F238E27FC236}">
                <a16:creationId xmlns:a16="http://schemas.microsoft.com/office/drawing/2014/main" id="{E246AE5F-1CB1-495D-8ACA-C5A24D6B374C}"/>
              </a:ext>
            </a:extLst>
          </p:cNvPr>
          <p:cNvSpPr>
            <a:spLocks noGrp="1"/>
          </p:cNvSpPr>
          <p:nvPr/>
        </p:nvSpPr>
        <p:spPr>
          <a:xfrm>
            <a:off x="638175" y="5353050"/>
            <a:ext cx="10258425" cy="0"/>
          </a:xfrm>
          <a:prstGeom prst="line">
            <a:avLst/>
          </a:prstGeom>
          <a:noFill/>
          <a:ln w="9525">
            <a:solidFill>
              <a:srgbClr val="D8E0DA"/>
            </a:solidFill>
            <a:prstDash val="solid"/>
          </a:ln>
        </p:spPr>
      </p:sp>
      <p:sp>
        <p:nvSpPr>
          <p:cNvPr id="19" name="Rectangle 18">
            <a:extLst>
              <a:ext uri="{FF2B5EF4-FFF2-40B4-BE49-F238E27FC236}">
                <a16:creationId xmlns:a16="http://schemas.microsoft.com/office/drawing/2014/main" id="{D1AC8DDD-6F81-41A2-9E6F-0DD5EEDC8A80}"/>
              </a:ext>
            </a:extLst>
          </p:cNvPr>
          <p:cNvSpPr>
            <a:spLocks noGrp="1"/>
          </p:cNvSpPr>
          <p:nvPr/>
        </p:nvSpPr>
        <p:spPr>
          <a:xfrm>
            <a:off x="647700" y="5724525"/>
            <a:ext cx="10001250" cy="304800"/>
          </a:xfrm>
          <a:prstGeom prst="rect">
            <a:avLst/>
          </a:prstGeom>
          <a:noFill/>
          <a:ln w="0">
            <a:noFill/>
            <a:prstDash val="solid"/>
          </a:ln>
        </p:spPr>
        <p:txBody>
          <a:bodyPr lIns="0" tIns="0" rIns="0" bIns="0" anchor="ctr">
            <a:noAutofit/>
          </a:bodyPr>
          <a:lstStyle/>
          <a:p>
            <a:pPr algn="l">
              <a:defRPr sz="1425" b="0">
                <a:solidFill>
                  <a:srgbClr val="52605A"/>
                </a:solidFill>
                <a:latin typeface="Arial"/>
                <a:ea typeface="Arial"/>
                <a:cs typeface="Arial"/>
              </a:defRPr>
            </a:pPr>
            <a:r>
              <a:rPr sz="1425" b="0">
                <a:solidFill>
                  <a:srgbClr val="52605A"/>
                </a:solidFill>
                <a:latin typeface="Arial"/>
                <a:ea typeface="Arial"/>
                <a:cs typeface="Arial"/>
              </a:rPr>
              <a:t>Required skills: basic Unity/C#, Python, and interest in AI/ML</a:t>
            </a:r>
          </a:p>
        </p:txBody>
      </p:sp>
    </p:spTree>
    <p:extLst>
      <p:ext uri="{BB962C8B-B14F-4D97-AF65-F5344CB8AC3E}">
        <p14:creationId xmlns:p14="http://schemas.microsoft.com/office/powerpoint/2010/main" val="43398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7" name="Picture 86"/>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E566A417-EE82-4463-97CA-9F27B95D92F5}"/>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dirty="0">
                <a:solidFill>
                  <a:srgbClr val="17211D"/>
                </a:solidFill>
                <a:latin typeface="Arial"/>
                <a:ea typeface="Arial"/>
                <a:cs typeface="Arial"/>
              </a:rPr>
              <a:t>Proposed work plan</a:t>
            </a:r>
          </a:p>
        </p:txBody>
      </p:sp>
      <p:sp>
        <p:nvSpPr>
          <p:cNvPr id="3" name="Straight Connector 2">
            <a:extLst>
              <a:ext uri="{FF2B5EF4-FFF2-40B4-BE49-F238E27FC236}">
                <a16:creationId xmlns:a16="http://schemas.microsoft.com/office/drawing/2014/main" id="{9678E66B-C078-4DD4-B0F5-89F67E655D88}"/>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4D6217E3-4306-4F94-9647-61ED7BA83EE5}"/>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63141A46-1B0E-4C7D-9058-30D6B7D07E38}"/>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5BF1CD0E-5658-429F-AAAF-485DCB801C4F}"/>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lang="en-US" sz="975" dirty="0">
                <a:solidFill>
                  <a:srgbClr val="52605A"/>
                </a:solidFill>
                <a:latin typeface="Arial"/>
                <a:ea typeface="Arial"/>
                <a:cs typeface="Arial"/>
              </a:rPr>
              <a:t>11</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D3E318FA-43A5-4C9B-9833-134B4E2C73D5}"/>
              </a:ext>
            </a:extLst>
          </p:cNvPr>
          <p:cNvSpPr>
            <a:spLocks noGrp="1"/>
          </p:cNvSpPr>
          <p:nvPr/>
        </p:nvSpPr>
        <p:spPr>
          <a:xfrm>
            <a:off x="609600" y="1295400"/>
            <a:ext cx="10287000" cy="323850"/>
          </a:xfrm>
          <a:prstGeom prst="rect">
            <a:avLst/>
          </a:prstGeom>
          <a:noFill/>
          <a:ln w="0">
            <a:noFill/>
            <a:prstDash val="solid"/>
          </a:ln>
        </p:spPr>
        <p:txBody>
          <a:bodyPr lIns="0" tIns="0" rIns="0" bIns="0" anchor="ctr">
            <a:noAutofit/>
          </a:bodyPr>
          <a:lstStyle/>
          <a:p>
            <a:pPr algn="l">
              <a:defRPr sz="1425" b="0">
                <a:solidFill>
                  <a:srgbClr val="52605A"/>
                </a:solidFill>
                <a:latin typeface="Arial"/>
                <a:ea typeface="Arial"/>
                <a:cs typeface="Arial"/>
              </a:defRPr>
            </a:pPr>
            <a:r>
              <a:rPr sz="1425" b="0">
                <a:solidFill>
                  <a:srgbClr val="52605A"/>
                </a:solidFill>
                <a:latin typeface="Arial"/>
                <a:ea typeface="Arial"/>
                <a:cs typeface="Arial"/>
              </a:rPr>
              <a:t>Six to eight months, with regular reviews from Inspired Square</a:t>
            </a:r>
          </a:p>
        </p:txBody>
      </p:sp>
      <p:sp>
        <p:nvSpPr>
          <p:cNvPr id="8" name="Rectangle 7">
            <a:extLst>
              <a:ext uri="{FF2B5EF4-FFF2-40B4-BE49-F238E27FC236}">
                <a16:creationId xmlns:a16="http://schemas.microsoft.com/office/drawing/2014/main" id="{AB0BB844-9E87-4A6D-B2F4-D7DC23529515}"/>
              </a:ext>
            </a:extLst>
          </p:cNvPr>
          <p:cNvSpPr>
            <a:spLocks noGrp="1"/>
          </p:cNvSpPr>
          <p:nvPr/>
        </p:nvSpPr>
        <p:spPr>
          <a:xfrm>
            <a:off x="38576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M1</a:t>
            </a:r>
          </a:p>
        </p:txBody>
      </p:sp>
      <p:sp>
        <p:nvSpPr>
          <p:cNvPr id="9" name="Rectangle 8">
            <a:extLst>
              <a:ext uri="{FF2B5EF4-FFF2-40B4-BE49-F238E27FC236}">
                <a16:creationId xmlns:a16="http://schemas.microsoft.com/office/drawing/2014/main" id="{DEA27C23-4932-488C-A629-277D064C7A1A}"/>
              </a:ext>
            </a:extLst>
          </p:cNvPr>
          <p:cNvSpPr>
            <a:spLocks noGrp="1"/>
          </p:cNvSpPr>
          <p:nvPr/>
        </p:nvSpPr>
        <p:spPr>
          <a:xfrm>
            <a:off x="48101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M2</a:t>
            </a:r>
          </a:p>
        </p:txBody>
      </p:sp>
      <p:sp>
        <p:nvSpPr>
          <p:cNvPr id="10" name="Rectangle 9">
            <a:extLst>
              <a:ext uri="{FF2B5EF4-FFF2-40B4-BE49-F238E27FC236}">
                <a16:creationId xmlns:a16="http://schemas.microsoft.com/office/drawing/2014/main" id="{E8105FE5-D5A6-4884-BBC1-592C015F1D30}"/>
              </a:ext>
            </a:extLst>
          </p:cNvPr>
          <p:cNvSpPr>
            <a:spLocks noGrp="1"/>
          </p:cNvSpPr>
          <p:nvPr/>
        </p:nvSpPr>
        <p:spPr>
          <a:xfrm>
            <a:off x="57626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M3</a:t>
            </a:r>
          </a:p>
        </p:txBody>
      </p:sp>
      <p:sp>
        <p:nvSpPr>
          <p:cNvPr id="11" name="Rectangle 10">
            <a:extLst>
              <a:ext uri="{FF2B5EF4-FFF2-40B4-BE49-F238E27FC236}">
                <a16:creationId xmlns:a16="http://schemas.microsoft.com/office/drawing/2014/main" id="{395A5C95-EB22-48B0-A162-C2D9629334E1}"/>
              </a:ext>
            </a:extLst>
          </p:cNvPr>
          <p:cNvSpPr>
            <a:spLocks noGrp="1"/>
          </p:cNvSpPr>
          <p:nvPr/>
        </p:nvSpPr>
        <p:spPr>
          <a:xfrm>
            <a:off x="67151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M4</a:t>
            </a:r>
          </a:p>
        </p:txBody>
      </p:sp>
      <p:sp>
        <p:nvSpPr>
          <p:cNvPr id="12" name="Rectangle 11">
            <a:extLst>
              <a:ext uri="{FF2B5EF4-FFF2-40B4-BE49-F238E27FC236}">
                <a16:creationId xmlns:a16="http://schemas.microsoft.com/office/drawing/2014/main" id="{2B721E94-10EA-4216-8FCC-ED9114EE484C}"/>
              </a:ext>
            </a:extLst>
          </p:cNvPr>
          <p:cNvSpPr>
            <a:spLocks noGrp="1"/>
          </p:cNvSpPr>
          <p:nvPr/>
        </p:nvSpPr>
        <p:spPr>
          <a:xfrm>
            <a:off x="76676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M5</a:t>
            </a:r>
          </a:p>
        </p:txBody>
      </p:sp>
      <p:sp>
        <p:nvSpPr>
          <p:cNvPr id="13" name="Rectangle 12">
            <a:extLst>
              <a:ext uri="{FF2B5EF4-FFF2-40B4-BE49-F238E27FC236}">
                <a16:creationId xmlns:a16="http://schemas.microsoft.com/office/drawing/2014/main" id="{9D4D804A-1E84-4917-9938-24CFA475F402}"/>
              </a:ext>
            </a:extLst>
          </p:cNvPr>
          <p:cNvSpPr>
            <a:spLocks noGrp="1"/>
          </p:cNvSpPr>
          <p:nvPr/>
        </p:nvSpPr>
        <p:spPr>
          <a:xfrm>
            <a:off x="86201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lang="en-US" sz="1425" b="1" dirty="0">
                <a:solidFill>
                  <a:srgbClr val="006A43"/>
                </a:solidFill>
                <a:latin typeface="Arial"/>
                <a:ea typeface="Arial"/>
                <a:cs typeface="Arial"/>
              </a:rPr>
              <a:t>M</a:t>
            </a:r>
            <a:r>
              <a:rPr sz="1425" b="1" dirty="0">
                <a:solidFill>
                  <a:srgbClr val="006A43"/>
                </a:solidFill>
                <a:latin typeface="Arial"/>
                <a:ea typeface="Arial"/>
                <a:cs typeface="Arial"/>
              </a:rPr>
              <a:t>6</a:t>
            </a:r>
          </a:p>
        </p:txBody>
      </p:sp>
      <p:sp>
        <p:nvSpPr>
          <p:cNvPr id="14" name="Rectangle 13">
            <a:extLst>
              <a:ext uri="{FF2B5EF4-FFF2-40B4-BE49-F238E27FC236}">
                <a16:creationId xmlns:a16="http://schemas.microsoft.com/office/drawing/2014/main" id="{B8B6A40A-E2A3-4438-997E-D25D3EF4F593}"/>
              </a:ext>
            </a:extLst>
          </p:cNvPr>
          <p:cNvSpPr>
            <a:spLocks noGrp="1"/>
          </p:cNvSpPr>
          <p:nvPr/>
        </p:nvSpPr>
        <p:spPr>
          <a:xfrm>
            <a:off x="95726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M7</a:t>
            </a:r>
          </a:p>
        </p:txBody>
      </p:sp>
      <p:sp>
        <p:nvSpPr>
          <p:cNvPr id="15" name="Rectangle 14">
            <a:extLst>
              <a:ext uri="{FF2B5EF4-FFF2-40B4-BE49-F238E27FC236}">
                <a16:creationId xmlns:a16="http://schemas.microsoft.com/office/drawing/2014/main" id="{CFCA89E2-1242-4D7B-A914-FFDE262D5CA2}"/>
              </a:ext>
            </a:extLst>
          </p:cNvPr>
          <p:cNvSpPr>
            <a:spLocks noGrp="1"/>
          </p:cNvSpPr>
          <p:nvPr/>
        </p:nvSpPr>
        <p:spPr>
          <a:xfrm>
            <a:off x="10525125" y="1590675"/>
            <a:ext cx="952500" cy="333375"/>
          </a:xfrm>
          <a:prstGeom prst="rect">
            <a:avLst/>
          </a:prstGeom>
          <a:noFill/>
          <a:ln w="0">
            <a:noFill/>
            <a:prstDash val="solid"/>
          </a:ln>
        </p:spPr>
        <p:txBody>
          <a:bodyPr lIns="0" tIns="0" rIns="0" bIns="0" anchor="ctr">
            <a:noAutofit/>
          </a:bodyPr>
          <a:lstStyle/>
          <a:p>
            <a:pPr algn="ctr">
              <a:defRPr sz="1425" b="1">
                <a:solidFill>
                  <a:srgbClr val="006A43"/>
                </a:solidFill>
                <a:latin typeface="Arial"/>
                <a:ea typeface="Arial"/>
                <a:cs typeface="Arial"/>
              </a:defRPr>
            </a:pPr>
            <a:r>
              <a:rPr sz="1425" b="1">
                <a:solidFill>
                  <a:srgbClr val="006A43"/>
                </a:solidFill>
                <a:latin typeface="Arial"/>
                <a:ea typeface="Arial"/>
                <a:cs typeface="Arial"/>
              </a:rPr>
              <a:t>M8</a:t>
            </a:r>
          </a:p>
        </p:txBody>
      </p:sp>
      <p:sp>
        <p:nvSpPr>
          <p:cNvPr id="16" name="Rectangle 15">
            <a:extLst>
              <a:ext uri="{FF2B5EF4-FFF2-40B4-BE49-F238E27FC236}">
                <a16:creationId xmlns:a16="http://schemas.microsoft.com/office/drawing/2014/main" id="{ECF3F1A9-B87C-4E58-A0C1-A3F45D0EBE1E}"/>
              </a:ext>
            </a:extLst>
          </p:cNvPr>
          <p:cNvSpPr>
            <a:spLocks noGrp="1"/>
          </p:cNvSpPr>
          <p:nvPr/>
        </p:nvSpPr>
        <p:spPr>
          <a:xfrm>
            <a:off x="590550" y="2038350"/>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Hummingbirds setup</a:t>
            </a:r>
          </a:p>
        </p:txBody>
      </p:sp>
      <p:sp>
        <p:nvSpPr>
          <p:cNvPr id="17" name="Straight Connector 16">
            <a:extLst>
              <a:ext uri="{FF2B5EF4-FFF2-40B4-BE49-F238E27FC236}">
                <a16:creationId xmlns:a16="http://schemas.microsoft.com/office/drawing/2014/main" id="{D0C26BB2-99F3-4E65-8926-58555C49C481}"/>
              </a:ext>
            </a:extLst>
          </p:cNvPr>
          <p:cNvSpPr>
            <a:spLocks noGrp="1"/>
          </p:cNvSpPr>
          <p:nvPr/>
        </p:nvSpPr>
        <p:spPr>
          <a:xfrm>
            <a:off x="590550" y="2447925"/>
            <a:ext cx="10858500" cy="0"/>
          </a:xfrm>
          <a:prstGeom prst="line">
            <a:avLst/>
          </a:prstGeom>
          <a:noFill/>
          <a:ln w="9525">
            <a:solidFill>
              <a:srgbClr val="D8E0DA"/>
            </a:solidFill>
            <a:prstDash val="solid"/>
          </a:ln>
        </p:spPr>
      </p:sp>
      <p:sp>
        <p:nvSpPr>
          <p:cNvPr id="18" name="Rectangle: Rounded Corners 17">
            <a:extLst>
              <a:ext uri="{FF2B5EF4-FFF2-40B4-BE49-F238E27FC236}">
                <a16:creationId xmlns:a16="http://schemas.microsoft.com/office/drawing/2014/main" id="{0A55D63D-5992-43BB-BD60-D5D571C4E567}"/>
              </a:ext>
            </a:extLst>
          </p:cNvPr>
          <p:cNvSpPr>
            <a:spLocks noGrp="1"/>
          </p:cNvSpPr>
          <p:nvPr/>
        </p:nvSpPr>
        <p:spPr>
          <a:xfrm>
            <a:off x="3952875" y="2085975"/>
            <a:ext cx="762000" cy="304800"/>
          </a:xfrm>
          <a:prstGeom prst="roundRect">
            <a:avLst>
              <a:gd name="adj" fmla="val 25000"/>
            </a:avLst>
          </a:prstGeom>
          <a:solidFill>
            <a:srgbClr val="006A43"/>
          </a:solidFill>
          <a:ln w="0">
            <a:noFill/>
            <a:prstDash val="solid"/>
          </a:ln>
        </p:spPr>
      </p:sp>
      <p:sp>
        <p:nvSpPr>
          <p:cNvPr id="19" name="Rectangle: Rounded Corners 18">
            <a:extLst>
              <a:ext uri="{FF2B5EF4-FFF2-40B4-BE49-F238E27FC236}">
                <a16:creationId xmlns:a16="http://schemas.microsoft.com/office/drawing/2014/main" id="{0CB3B2B6-2900-4EEF-B8B9-03A26E9668EE}"/>
              </a:ext>
            </a:extLst>
          </p:cNvPr>
          <p:cNvSpPr>
            <a:spLocks noGrp="1"/>
          </p:cNvSpPr>
          <p:nvPr/>
        </p:nvSpPr>
        <p:spPr>
          <a:xfrm>
            <a:off x="4905375" y="2085975"/>
            <a:ext cx="762000" cy="304800"/>
          </a:xfrm>
          <a:prstGeom prst="roundRect">
            <a:avLst>
              <a:gd name="adj" fmla="val 25000"/>
            </a:avLst>
          </a:prstGeom>
          <a:solidFill>
            <a:srgbClr val="006A43"/>
          </a:solidFill>
          <a:ln w="0">
            <a:noFill/>
            <a:prstDash val="solid"/>
          </a:ln>
        </p:spPr>
      </p:sp>
      <p:sp>
        <p:nvSpPr>
          <p:cNvPr id="20" name="Rectangle 19">
            <a:extLst>
              <a:ext uri="{FF2B5EF4-FFF2-40B4-BE49-F238E27FC236}">
                <a16:creationId xmlns:a16="http://schemas.microsoft.com/office/drawing/2014/main" id="{DE04D670-89A8-4333-8100-389816DE7B34}"/>
              </a:ext>
            </a:extLst>
          </p:cNvPr>
          <p:cNvSpPr>
            <a:spLocks noGrp="1"/>
          </p:cNvSpPr>
          <p:nvPr/>
        </p:nvSpPr>
        <p:spPr>
          <a:xfrm>
            <a:off x="6229350" y="2228850"/>
            <a:ext cx="19050" cy="19050"/>
          </a:xfrm>
          <a:prstGeom prst="rect">
            <a:avLst/>
          </a:prstGeom>
          <a:solidFill>
            <a:srgbClr val="D8E0DA"/>
          </a:solidFill>
          <a:ln w="0">
            <a:noFill/>
            <a:prstDash val="solid"/>
          </a:ln>
        </p:spPr>
      </p:sp>
      <p:sp>
        <p:nvSpPr>
          <p:cNvPr id="21" name="Rectangle 20">
            <a:extLst>
              <a:ext uri="{FF2B5EF4-FFF2-40B4-BE49-F238E27FC236}">
                <a16:creationId xmlns:a16="http://schemas.microsoft.com/office/drawing/2014/main" id="{D8B234B9-3669-4184-BEC3-D53903B99F08}"/>
              </a:ext>
            </a:extLst>
          </p:cNvPr>
          <p:cNvSpPr>
            <a:spLocks noGrp="1"/>
          </p:cNvSpPr>
          <p:nvPr/>
        </p:nvSpPr>
        <p:spPr>
          <a:xfrm>
            <a:off x="7181850" y="2228850"/>
            <a:ext cx="19050" cy="19050"/>
          </a:xfrm>
          <a:prstGeom prst="rect">
            <a:avLst/>
          </a:prstGeom>
          <a:solidFill>
            <a:srgbClr val="D8E0DA"/>
          </a:solidFill>
          <a:ln w="0">
            <a:noFill/>
            <a:prstDash val="solid"/>
          </a:ln>
        </p:spPr>
      </p:sp>
      <p:sp>
        <p:nvSpPr>
          <p:cNvPr id="22" name="Rectangle 21">
            <a:extLst>
              <a:ext uri="{FF2B5EF4-FFF2-40B4-BE49-F238E27FC236}">
                <a16:creationId xmlns:a16="http://schemas.microsoft.com/office/drawing/2014/main" id="{4E0EEDAE-3556-492E-87E2-D2C541FC146D}"/>
              </a:ext>
            </a:extLst>
          </p:cNvPr>
          <p:cNvSpPr>
            <a:spLocks noGrp="1"/>
          </p:cNvSpPr>
          <p:nvPr/>
        </p:nvSpPr>
        <p:spPr>
          <a:xfrm>
            <a:off x="8134350" y="2228850"/>
            <a:ext cx="19050" cy="19050"/>
          </a:xfrm>
          <a:prstGeom prst="rect">
            <a:avLst/>
          </a:prstGeom>
          <a:solidFill>
            <a:srgbClr val="D8E0DA"/>
          </a:solidFill>
          <a:ln w="0">
            <a:noFill/>
            <a:prstDash val="solid"/>
          </a:ln>
        </p:spPr>
      </p:sp>
      <p:sp>
        <p:nvSpPr>
          <p:cNvPr id="23" name="Rectangle 22">
            <a:extLst>
              <a:ext uri="{FF2B5EF4-FFF2-40B4-BE49-F238E27FC236}">
                <a16:creationId xmlns:a16="http://schemas.microsoft.com/office/drawing/2014/main" id="{5612C8E0-A1E0-48DF-A5D3-4D10FB387475}"/>
              </a:ext>
            </a:extLst>
          </p:cNvPr>
          <p:cNvSpPr>
            <a:spLocks noGrp="1"/>
          </p:cNvSpPr>
          <p:nvPr/>
        </p:nvSpPr>
        <p:spPr>
          <a:xfrm>
            <a:off x="9086850" y="2228850"/>
            <a:ext cx="19050" cy="19050"/>
          </a:xfrm>
          <a:prstGeom prst="rect">
            <a:avLst/>
          </a:prstGeom>
          <a:solidFill>
            <a:srgbClr val="D8E0DA"/>
          </a:solidFill>
          <a:ln w="0">
            <a:noFill/>
            <a:prstDash val="solid"/>
          </a:ln>
        </p:spPr>
      </p:sp>
      <p:sp>
        <p:nvSpPr>
          <p:cNvPr id="24" name="Rectangle 23">
            <a:extLst>
              <a:ext uri="{FF2B5EF4-FFF2-40B4-BE49-F238E27FC236}">
                <a16:creationId xmlns:a16="http://schemas.microsoft.com/office/drawing/2014/main" id="{B6335ACC-FD5B-4164-A515-13D20582A4A2}"/>
              </a:ext>
            </a:extLst>
          </p:cNvPr>
          <p:cNvSpPr>
            <a:spLocks noGrp="1"/>
          </p:cNvSpPr>
          <p:nvPr/>
        </p:nvSpPr>
        <p:spPr>
          <a:xfrm>
            <a:off x="10039350" y="2228850"/>
            <a:ext cx="19050" cy="19050"/>
          </a:xfrm>
          <a:prstGeom prst="rect">
            <a:avLst/>
          </a:prstGeom>
          <a:solidFill>
            <a:srgbClr val="D8E0DA"/>
          </a:solidFill>
          <a:ln w="0">
            <a:noFill/>
            <a:prstDash val="solid"/>
          </a:ln>
        </p:spPr>
      </p:sp>
      <p:sp>
        <p:nvSpPr>
          <p:cNvPr id="25" name="Rectangle 24">
            <a:extLst>
              <a:ext uri="{FF2B5EF4-FFF2-40B4-BE49-F238E27FC236}">
                <a16:creationId xmlns:a16="http://schemas.microsoft.com/office/drawing/2014/main" id="{A5DAB238-B5E8-477E-A82D-665D08EA1328}"/>
              </a:ext>
            </a:extLst>
          </p:cNvPr>
          <p:cNvSpPr>
            <a:spLocks noGrp="1"/>
          </p:cNvSpPr>
          <p:nvPr/>
        </p:nvSpPr>
        <p:spPr>
          <a:xfrm>
            <a:off x="10991850" y="2228850"/>
            <a:ext cx="19050" cy="19050"/>
          </a:xfrm>
          <a:prstGeom prst="rect">
            <a:avLst/>
          </a:prstGeom>
          <a:solidFill>
            <a:srgbClr val="D8E0DA"/>
          </a:solidFill>
          <a:ln w="0">
            <a:noFill/>
            <a:prstDash val="solid"/>
          </a:ln>
        </p:spPr>
      </p:sp>
      <p:sp>
        <p:nvSpPr>
          <p:cNvPr id="26" name="Rectangle 25">
            <a:extLst>
              <a:ext uri="{FF2B5EF4-FFF2-40B4-BE49-F238E27FC236}">
                <a16:creationId xmlns:a16="http://schemas.microsoft.com/office/drawing/2014/main" id="{6C5F1758-EF27-4CBB-892C-AB4D65DC4575}"/>
              </a:ext>
            </a:extLst>
          </p:cNvPr>
          <p:cNvSpPr>
            <a:spLocks noGrp="1"/>
          </p:cNvSpPr>
          <p:nvPr/>
        </p:nvSpPr>
        <p:spPr>
          <a:xfrm>
            <a:off x="590550" y="2505075"/>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Algorithm baselines</a:t>
            </a:r>
          </a:p>
        </p:txBody>
      </p:sp>
      <p:sp>
        <p:nvSpPr>
          <p:cNvPr id="27" name="Straight Connector 26">
            <a:extLst>
              <a:ext uri="{FF2B5EF4-FFF2-40B4-BE49-F238E27FC236}">
                <a16:creationId xmlns:a16="http://schemas.microsoft.com/office/drawing/2014/main" id="{2CA7392A-DE04-4BA1-A0F4-62EDB7AAA275}"/>
              </a:ext>
            </a:extLst>
          </p:cNvPr>
          <p:cNvSpPr>
            <a:spLocks noGrp="1"/>
          </p:cNvSpPr>
          <p:nvPr/>
        </p:nvSpPr>
        <p:spPr>
          <a:xfrm>
            <a:off x="590550" y="2914650"/>
            <a:ext cx="10858500" cy="0"/>
          </a:xfrm>
          <a:prstGeom prst="line">
            <a:avLst/>
          </a:prstGeom>
          <a:noFill/>
          <a:ln w="9525">
            <a:solidFill>
              <a:srgbClr val="D8E0DA"/>
            </a:solidFill>
            <a:prstDash val="solid"/>
          </a:ln>
        </p:spPr>
      </p:sp>
      <p:sp>
        <p:nvSpPr>
          <p:cNvPr id="28" name="Rectangle 27">
            <a:extLst>
              <a:ext uri="{FF2B5EF4-FFF2-40B4-BE49-F238E27FC236}">
                <a16:creationId xmlns:a16="http://schemas.microsoft.com/office/drawing/2014/main" id="{0C2ED4E6-19B5-4469-9FF6-C26E2E49DD76}"/>
              </a:ext>
            </a:extLst>
          </p:cNvPr>
          <p:cNvSpPr>
            <a:spLocks noGrp="1"/>
          </p:cNvSpPr>
          <p:nvPr/>
        </p:nvSpPr>
        <p:spPr>
          <a:xfrm>
            <a:off x="4324350" y="2695575"/>
            <a:ext cx="19050" cy="19050"/>
          </a:xfrm>
          <a:prstGeom prst="rect">
            <a:avLst/>
          </a:prstGeom>
          <a:solidFill>
            <a:srgbClr val="D8E0DA"/>
          </a:solidFill>
          <a:ln w="0">
            <a:noFill/>
            <a:prstDash val="solid"/>
          </a:ln>
        </p:spPr>
      </p:sp>
      <p:sp>
        <p:nvSpPr>
          <p:cNvPr id="29" name="Rectangle: Rounded Corners 28">
            <a:extLst>
              <a:ext uri="{FF2B5EF4-FFF2-40B4-BE49-F238E27FC236}">
                <a16:creationId xmlns:a16="http://schemas.microsoft.com/office/drawing/2014/main" id="{42772ED5-9A2C-4A7B-A777-18FDAC0369C9}"/>
              </a:ext>
            </a:extLst>
          </p:cNvPr>
          <p:cNvSpPr>
            <a:spLocks noGrp="1"/>
          </p:cNvSpPr>
          <p:nvPr/>
        </p:nvSpPr>
        <p:spPr>
          <a:xfrm>
            <a:off x="4905375" y="2552700"/>
            <a:ext cx="762000" cy="304800"/>
          </a:xfrm>
          <a:prstGeom prst="roundRect">
            <a:avLst>
              <a:gd name="adj" fmla="val 25000"/>
            </a:avLst>
          </a:prstGeom>
          <a:solidFill>
            <a:srgbClr val="006A43"/>
          </a:solidFill>
          <a:ln w="0">
            <a:noFill/>
            <a:prstDash val="solid"/>
          </a:ln>
        </p:spPr>
      </p:sp>
      <p:sp>
        <p:nvSpPr>
          <p:cNvPr id="30" name="Rectangle: Rounded Corners 29">
            <a:extLst>
              <a:ext uri="{FF2B5EF4-FFF2-40B4-BE49-F238E27FC236}">
                <a16:creationId xmlns:a16="http://schemas.microsoft.com/office/drawing/2014/main" id="{63910006-DEEF-46F8-8EB4-C7605A3B04FE}"/>
              </a:ext>
            </a:extLst>
          </p:cNvPr>
          <p:cNvSpPr>
            <a:spLocks noGrp="1"/>
          </p:cNvSpPr>
          <p:nvPr/>
        </p:nvSpPr>
        <p:spPr>
          <a:xfrm>
            <a:off x="5857875" y="2552700"/>
            <a:ext cx="762000" cy="304800"/>
          </a:xfrm>
          <a:prstGeom prst="roundRect">
            <a:avLst>
              <a:gd name="adj" fmla="val 25000"/>
            </a:avLst>
          </a:prstGeom>
          <a:solidFill>
            <a:srgbClr val="006A43"/>
          </a:solidFill>
          <a:ln w="0">
            <a:noFill/>
            <a:prstDash val="solid"/>
          </a:ln>
        </p:spPr>
      </p:sp>
      <p:sp>
        <p:nvSpPr>
          <p:cNvPr id="31" name="Rectangle 30">
            <a:extLst>
              <a:ext uri="{FF2B5EF4-FFF2-40B4-BE49-F238E27FC236}">
                <a16:creationId xmlns:a16="http://schemas.microsoft.com/office/drawing/2014/main" id="{A783958C-50D1-4EB9-9C91-4EDA6835B347}"/>
              </a:ext>
            </a:extLst>
          </p:cNvPr>
          <p:cNvSpPr>
            <a:spLocks noGrp="1"/>
          </p:cNvSpPr>
          <p:nvPr/>
        </p:nvSpPr>
        <p:spPr>
          <a:xfrm>
            <a:off x="7181850" y="2695575"/>
            <a:ext cx="19050" cy="19050"/>
          </a:xfrm>
          <a:prstGeom prst="rect">
            <a:avLst/>
          </a:prstGeom>
          <a:solidFill>
            <a:srgbClr val="D8E0DA"/>
          </a:solidFill>
          <a:ln w="0">
            <a:noFill/>
            <a:prstDash val="solid"/>
          </a:ln>
        </p:spPr>
      </p:sp>
      <p:sp>
        <p:nvSpPr>
          <p:cNvPr id="32" name="Rectangle 31">
            <a:extLst>
              <a:ext uri="{FF2B5EF4-FFF2-40B4-BE49-F238E27FC236}">
                <a16:creationId xmlns:a16="http://schemas.microsoft.com/office/drawing/2014/main" id="{9EB01B00-3566-4667-AE5F-9300312B016D}"/>
              </a:ext>
            </a:extLst>
          </p:cNvPr>
          <p:cNvSpPr>
            <a:spLocks noGrp="1"/>
          </p:cNvSpPr>
          <p:nvPr/>
        </p:nvSpPr>
        <p:spPr>
          <a:xfrm>
            <a:off x="8134350" y="2695575"/>
            <a:ext cx="19050" cy="19050"/>
          </a:xfrm>
          <a:prstGeom prst="rect">
            <a:avLst/>
          </a:prstGeom>
          <a:solidFill>
            <a:srgbClr val="D8E0DA"/>
          </a:solidFill>
          <a:ln w="0">
            <a:noFill/>
            <a:prstDash val="solid"/>
          </a:ln>
        </p:spPr>
      </p:sp>
      <p:sp>
        <p:nvSpPr>
          <p:cNvPr id="33" name="Rectangle 32">
            <a:extLst>
              <a:ext uri="{FF2B5EF4-FFF2-40B4-BE49-F238E27FC236}">
                <a16:creationId xmlns:a16="http://schemas.microsoft.com/office/drawing/2014/main" id="{04148635-AA57-4016-890C-0F2B2F57D3EF}"/>
              </a:ext>
            </a:extLst>
          </p:cNvPr>
          <p:cNvSpPr>
            <a:spLocks noGrp="1"/>
          </p:cNvSpPr>
          <p:nvPr/>
        </p:nvSpPr>
        <p:spPr>
          <a:xfrm>
            <a:off x="9086850" y="2695575"/>
            <a:ext cx="19050" cy="19050"/>
          </a:xfrm>
          <a:prstGeom prst="rect">
            <a:avLst/>
          </a:prstGeom>
          <a:solidFill>
            <a:srgbClr val="D8E0DA"/>
          </a:solidFill>
          <a:ln w="0">
            <a:noFill/>
            <a:prstDash val="solid"/>
          </a:ln>
        </p:spPr>
      </p:sp>
      <p:sp>
        <p:nvSpPr>
          <p:cNvPr id="34" name="Rectangle 33">
            <a:extLst>
              <a:ext uri="{FF2B5EF4-FFF2-40B4-BE49-F238E27FC236}">
                <a16:creationId xmlns:a16="http://schemas.microsoft.com/office/drawing/2014/main" id="{925AF13B-24ED-488D-8E0D-0C47D9F71B6F}"/>
              </a:ext>
            </a:extLst>
          </p:cNvPr>
          <p:cNvSpPr>
            <a:spLocks noGrp="1"/>
          </p:cNvSpPr>
          <p:nvPr/>
        </p:nvSpPr>
        <p:spPr>
          <a:xfrm>
            <a:off x="10039350" y="2695575"/>
            <a:ext cx="19050" cy="19050"/>
          </a:xfrm>
          <a:prstGeom prst="rect">
            <a:avLst/>
          </a:prstGeom>
          <a:solidFill>
            <a:srgbClr val="D8E0DA"/>
          </a:solidFill>
          <a:ln w="0">
            <a:noFill/>
            <a:prstDash val="solid"/>
          </a:ln>
        </p:spPr>
      </p:sp>
      <p:sp>
        <p:nvSpPr>
          <p:cNvPr id="35" name="Rectangle 34">
            <a:extLst>
              <a:ext uri="{FF2B5EF4-FFF2-40B4-BE49-F238E27FC236}">
                <a16:creationId xmlns:a16="http://schemas.microsoft.com/office/drawing/2014/main" id="{510E081B-D73E-48B3-BE5F-ADD6F6960184}"/>
              </a:ext>
            </a:extLst>
          </p:cNvPr>
          <p:cNvSpPr>
            <a:spLocks noGrp="1"/>
          </p:cNvSpPr>
          <p:nvPr/>
        </p:nvSpPr>
        <p:spPr>
          <a:xfrm>
            <a:off x="10991850" y="2695575"/>
            <a:ext cx="19050" cy="19050"/>
          </a:xfrm>
          <a:prstGeom prst="rect">
            <a:avLst/>
          </a:prstGeom>
          <a:solidFill>
            <a:srgbClr val="D8E0DA"/>
          </a:solidFill>
          <a:ln w="0">
            <a:noFill/>
            <a:prstDash val="solid"/>
          </a:ln>
        </p:spPr>
      </p:sp>
      <p:sp>
        <p:nvSpPr>
          <p:cNvPr id="36" name="Rectangle 35">
            <a:extLst>
              <a:ext uri="{FF2B5EF4-FFF2-40B4-BE49-F238E27FC236}">
                <a16:creationId xmlns:a16="http://schemas.microsoft.com/office/drawing/2014/main" id="{35DBAC0D-D9BA-4F39-BEDE-60C467D4AD06}"/>
              </a:ext>
            </a:extLst>
          </p:cNvPr>
          <p:cNvSpPr>
            <a:spLocks noGrp="1"/>
          </p:cNvSpPr>
          <p:nvPr/>
        </p:nvSpPr>
        <p:spPr>
          <a:xfrm>
            <a:off x="590550" y="2971800"/>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Curiosity and RND</a:t>
            </a:r>
          </a:p>
        </p:txBody>
      </p:sp>
      <p:sp>
        <p:nvSpPr>
          <p:cNvPr id="37" name="Straight Connector 36">
            <a:extLst>
              <a:ext uri="{FF2B5EF4-FFF2-40B4-BE49-F238E27FC236}">
                <a16:creationId xmlns:a16="http://schemas.microsoft.com/office/drawing/2014/main" id="{88C0FE30-A0F7-4152-9211-AE5207B067E7}"/>
              </a:ext>
            </a:extLst>
          </p:cNvPr>
          <p:cNvSpPr>
            <a:spLocks noGrp="1"/>
          </p:cNvSpPr>
          <p:nvPr/>
        </p:nvSpPr>
        <p:spPr>
          <a:xfrm>
            <a:off x="590550" y="3381375"/>
            <a:ext cx="10858500" cy="0"/>
          </a:xfrm>
          <a:prstGeom prst="line">
            <a:avLst/>
          </a:prstGeom>
          <a:noFill/>
          <a:ln w="9525">
            <a:solidFill>
              <a:srgbClr val="D8E0DA"/>
            </a:solidFill>
            <a:prstDash val="solid"/>
          </a:ln>
        </p:spPr>
      </p:sp>
      <p:sp>
        <p:nvSpPr>
          <p:cNvPr id="38" name="Rectangle 37">
            <a:extLst>
              <a:ext uri="{FF2B5EF4-FFF2-40B4-BE49-F238E27FC236}">
                <a16:creationId xmlns:a16="http://schemas.microsoft.com/office/drawing/2014/main" id="{58C5A380-AE08-40A8-BE95-3E0E51067590}"/>
              </a:ext>
            </a:extLst>
          </p:cNvPr>
          <p:cNvSpPr>
            <a:spLocks noGrp="1"/>
          </p:cNvSpPr>
          <p:nvPr/>
        </p:nvSpPr>
        <p:spPr>
          <a:xfrm>
            <a:off x="4324350" y="3162300"/>
            <a:ext cx="19050" cy="19050"/>
          </a:xfrm>
          <a:prstGeom prst="rect">
            <a:avLst/>
          </a:prstGeom>
          <a:solidFill>
            <a:srgbClr val="D8E0DA"/>
          </a:solidFill>
          <a:ln w="0">
            <a:noFill/>
            <a:prstDash val="solid"/>
          </a:ln>
        </p:spPr>
      </p:sp>
      <p:sp>
        <p:nvSpPr>
          <p:cNvPr id="39" name="Rectangle 38">
            <a:extLst>
              <a:ext uri="{FF2B5EF4-FFF2-40B4-BE49-F238E27FC236}">
                <a16:creationId xmlns:a16="http://schemas.microsoft.com/office/drawing/2014/main" id="{626F9983-8897-467E-8623-5E77AC9672A0}"/>
              </a:ext>
            </a:extLst>
          </p:cNvPr>
          <p:cNvSpPr>
            <a:spLocks noGrp="1"/>
          </p:cNvSpPr>
          <p:nvPr/>
        </p:nvSpPr>
        <p:spPr>
          <a:xfrm>
            <a:off x="5276850" y="3162300"/>
            <a:ext cx="19050" cy="19050"/>
          </a:xfrm>
          <a:prstGeom prst="rect">
            <a:avLst/>
          </a:prstGeom>
          <a:solidFill>
            <a:srgbClr val="D8E0DA"/>
          </a:solidFill>
          <a:ln w="0">
            <a:noFill/>
            <a:prstDash val="solid"/>
          </a:ln>
        </p:spPr>
      </p:sp>
      <p:sp>
        <p:nvSpPr>
          <p:cNvPr id="40" name="Rectangle: Rounded Corners 39">
            <a:extLst>
              <a:ext uri="{FF2B5EF4-FFF2-40B4-BE49-F238E27FC236}">
                <a16:creationId xmlns:a16="http://schemas.microsoft.com/office/drawing/2014/main" id="{C50D5A7F-A4AA-4CA3-91D4-D216930813BE}"/>
              </a:ext>
            </a:extLst>
          </p:cNvPr>
          <p:cNvSpPr>
            <a:spLocks noGrp="1"/>
          </p:cNvSpPr>
          <p:nvPr/>
        </p:nvSpPr>
        <p:spPr>
          <a:xfrm>
            <a:off x="5857875" y="3019425"/>
            <a:ext cx="762000" cy="304800"/>
          </a:xfrm>
          <a:prstGeom prst="roundRect">
            <a:avLst>
              <a:gd name="adj" fmla="val 25000"/>
            </a:avLst>
          </a:prstGeom>
          <a:solidFill>
            <a:srgbClr val="006A43"/>
          </a:solidFill>
          <a:ln w="0">
            <a:noFill/>
            <a:prstDash val="solid"/>
          </a:ln>
        </p:spPr>
      </p:sp>
      <p:sp>
        <p:nvSpPr>
          <p:cNvPr id="41" name="Rectangle: Rounded Corners 40">
            <a:extLst>
              <a:ext uri="{FF2B5EF4-FFF2-40B4-BE49-F238E27FC236}">
                <a16:creationId xmlns:a16="http://schemas.microsoft.com/office/drawing/2014/main" id="{88A52F5E-0822-47C1-A32E-2E00EB23F4D8}"/>
              </a:ext>
            </a:extLst>
          </p:cNvPr>
          <p:cNvSpPr>
            <a:spLocks noGrp="1"/>
          </p:cNvSpPr>
          <p:nvPr/>
        </p:nvSpPr>
        <p:spPr>
          <a:xfrm>
            <a:off x="6810375" y="3019425"/>
            <a:ext cx="762000" cy="304800"/>
          </a:xfrm>
          <a:prstGeom prst="roundRect">
            <a:avLst>
              <a:gd name="adj" fmla="val 25000"/>
            </a:avLst>
          </a:prstGeom>
          <a:solidFill>
            <a:srgbClr val="006A43"/>
          </a:solidFill>
          <a:ln w="0">
            <a:noFill/>
            <a:prstDash val="solid"/>
          </a:ln>
        </p:spPr>
      </p:sp>
      <p:sp>
        <p:nvSpPr>
          <p:cNvPr id="42" name="Rectangle: Rounded Corners 41">
            <a:extLst>
              <a:ext uri="{FF2B5EF4-FFF2-40B4-BE49-F238E27FC236}">
                <a16:creationId xmlns:a16="http://schemas.microsoft.com/office/drawing/2014/main" id="{9FF99361-F41A-4EDB-8964-52201A9A7F73}"/>
              </a:ext>
            </a:extLst>
          </p:cNvPr>
          <p:cNvSpPr>
            <a:spLocks noGrp="1"/>
          </p:cNvSpPr>
          <p:nvPr/>
        </p:nvSpPr>
        <p:spPr>
          <a:xfrm>
            <a:off x="7762875" y="3019425"/>
            <a:ext cx="762000" cy="304800"/>
          </a:xfrm>
          <a:prstGeom prst="roundRect">
            <a:avLst>
              <a:gd name="adj" fmla="val 25000"/>
            </a:avLst>
          </a:prstGeom>
          <a:solidFill>
            <a:srgbClr val="006A43"/>
          </a:solidFill>
          <a:ln w="0">
            <a:noFill/>
            <a:prstDash val="solid"/>
          </a:ln>
        </p:spPr>
      </p:sp>
      <p:sp>
        <p:nvSpPr>
          <p:cNvPr id="43" name="Rectangle 42">
            <a:extLst>
              <a:ext uri="{FF2B5EF4-FFF2-40B4-BE49-F238E27FC236}">
                <a16:creationId xmlns:a16="http://schemas.microsoft.com/office/drawing/2014/main" id="{995093E7-3F2E-494B-B3A9-7760946188FA}"/>
              </a:ext>
            </a:extLst>
          </p:cNvPr>
          <p:cNvSpPr>
            <a:spLocks noGrp="1"/>
          </p:cNvSpPr>
          <p:nvPr/>
        </p:nvSpPr>
        <p:spPr>
          <a:xfrm>
            <a:off x="9086850" y="3162300"/>
            <a:ext cx="19050" cy="19050"/>
          </a:xfrm>
          <a:prstGeom prst="rect">
            <a:avLst/>
          </a:prstGeom>
          <a:solidFill>
            <a:srgbClr val="D8E0DA"/>
          </a:solidFill>
          <a:ln w="0">
            <a:noFill/>
            <a:prstDash val="solid"/>
          </a:ln>
        </p:spPr>
      </p:sp>
      <p:sp>
        <p:nvSpPr>
          <p:cNvPr id="44" name="Rectangle 43">
            <a:extLst>
              <a:ext uri="{FF2B5EF4-FFF2-40B4-BE49-F238E27FC236}">
                <a16:creationId xmlns:a16="http://schemas.microsoft.com/office/drawing/2014/main" id="{74C5FA25-9D0A-44F5-BFFE-C8144A33320A}"/>
              </a:ext>
            </a:extLst>
          </p:cNvPr>
          <p:cNvSpPr>
            <a:spLocks noGrp="1"/>
          </p:cNvSpPr>
          <p:nvPr/>
        </p:nvSpPr>
        <p:spPr>
          <a:xfrm>
            <a:off x="10039350" y="3162300"/>
            <a:ext cx="19050" cy="19050"/>
          </a:xfrm>
          <a:prstGeom prst="rect">
            <a:avLst/>
          </a:prstGeom>
          <a:solidFill>
            <a:srgbClr val="D8E0DA"/>
          </a:solidFill>
          <a:ln w="0">
            <a:noFill/>
            <a:prstDash val="solid"/>
          </a:ln>
        </p:spPr>
      </p:sp>
      <p:sp>
        <p:nvSpPr>
          <p:cNvPr id="45" name="Rectangle 44">
            <a:extLst>
              <a:ext uri="{FF2B5EF4-FFF2-40B4-BE49-F238E27FC236}">
                <a16:creationId xmlns:a16="http://schemas.microsoft.com/office/drawing/2014/main" id="{CAE9A5B4-CE1E-456F-B408-D11159ED53CF}"/>
              </a:ext>
            </a:extLst>
          </p:cNvPr>
          <p:cNvSpPr>
            <a:spLocks noGrp="1"/>
          </p:cNvSpPr>
          <p:nvPr/>
        </p:nvSpPr>
        <p:spPr>
          <a:xfrm>
            <a:off x="10991850" y="3162300"/>
            <a:ext cx="19050" cy="19050"/>
          </a:xfrm>
          <a:prstGeom prst="rect">
            <a:avLst/>
          </a:prstGeom>
          <a:solidFill>
            <a:srgbClr val="D8E0DA"/>
          </a:solidFill>
          <a:ln w="0">
            <a:noFill/>
            <a:prstDash val="solid"/>
          </a:ln>
        </p:spPr>
      </p:sp>
      <p:sp>
        <p:nvSpPr>
          <p:cNvPr id="46" name="Rectangle 45">
            <a:extLst>
              <a:ext uri="{FF2B5EF4-FFF2-40B4-BE49-F238E27FC236}">
                <a16:creationId xmlns:a16="http://schemas.microsoft.com/office/drawing/2014/main" id="{4D9E9590-7631-48BA-8DE3-9159F20DDF0B}"/>
              </a:ext>
            </a:extLst>
          </p:cNvPr>
          <p:cNvSpPr>
            <a:spLocks noGrp="1"/>
          </p:cNvSpPr>
          <p:nvPr/>
        </p:nvSpPr>
        <p:spPr>
          <a:xfrm>
            <a:off x="590550" y="3438525"/>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Game 1 evaluation</a:t>
            </a:r>
          </a:p>
        </p:txBody>
      </p:sp>
      <p:sp>
        <p:nvSpPr>
          <p:cNvPr id="47" name="Straight Connector 46">
            <a:extLst>
              <a:ext uri="{FF2B5EF4-FFF2-40B4-BE49-F238E27FC236}">
                <a16:creationId xmlns:a16="http://schemas.microsoft.com/office/drawing/2014/main" id="{F0360E83-2B64-4C32-9044-80D6BCF93C90}"/>
              </a:ext>
            </a:extLst>
          </p:cNvPr>
          <p:cNvSpPr>
            <a:spLocks noGrp="1"/>
          </p:cNvSpPr>
          <p:nvPr/>
        </p:nvSpPr>
        <p:spPr>
          <a:xfrm>
            <a:off x="590550" y="3848100"/>
            <a:ext cx="10858500" cy="0"/>
          </a:xfrm>
          <a:prstGeom prst="line">
            <a:avLst/>
          </a:prstGeom>
          <a:noFill/>
          <a:ln w="9525">
            <a:solidFill>
              <a:srgbClr val="D8E0DA"/>
            </a:solidFill>
            <a:prstDash val="solid"/>
          </a:ln>
        </p:spPr>
      </p:sp>
      <p:sp>
        <p:nvSpPr>
          <p:cNvPr id="48" name="Rectangle 47">
            <a:extLst>
              <a:ext uri="{FF2B5EF4-FFF2-40B4-BE49-F238E27FC236}">
                <a16:creationId xmlns:a16="http://schemas.microsoft.com/office/drawing/2014/main" id="{CE51EE7D-C6B0-493C-A8DD-817DEE412684}"/>
              </a:ext>
            </a:extLst>
          </p:cNvPr>
          <p:cNvSpPr>
            <a:spLocks noGrp="1"/>
          </p:cNvSpPr>
          <p:nvPr/>
        </p:nvSpPr>
        <p:spPr>
          <a:xfrm>
            <a:off x="4324350" y="3629025"/>
            <a:ext cx="19050" cy="19050"/>
          </a:xfrm>
          <a:prstGeom prst="rect">
            <a:avLst/>
          </a:prstGeom>
          <a:solidFill>
            <a:srgbClr val="D8E0DA"/>
          </a:solidFill>
          <a:ln w="0">
            <a:noFill/>
            <a:prstDash val="solid"/>
          </a:ln>
        </p:spPr>
      </p:sp>
      <p:sp>
        <p:nvSpPr>
          <p:cNvPr id="49" name="Rectangle 48">
            <a:extLst>
              <a:ext uri="{FF2B5EF4-FFF2-40B4-BE49-F238E27FC236}">
                <a16:creationId xmlns:a16="http://schemas.microsoft.com/office/drawing/2014/main" id="{0F7D2E08-DC85-4FC2-9DE1-1854A78BD74F}"/>
              </a:ext>
            </a:extLst>
          </p:cNvPr>
          <p:cNvSpPr>
            <a:spLocks noGrp="1"/>
          </p:cNvSpPr>
          <p:nvPr/>
        </p:nvSpPr>
        <p:spPr>
          <a:xfrm>
            <a:off x="5276850" y="3629025"/>
            <a:ext cx="19050" cy="19050"/>
          </a:xfrm>
          <a:prstGeom prst="rect">
            <a:avLst/>
          </a:prstGeom>
          <a:solidFill>
            <a:srgbClr val="D8E0DA"/>
          </a:solidFill>
          <a:ln w="0">
            <a:noFill/>
            <a:prstDash val="solid"/>
          </a:ln>
        </p:spPr>
      </p:sp>
      <p:sp>
        <p:nvSpPr>
          <p:cNvPr id="50" name="Rectangle 49">
            <a:extLst>
              <a:ext uri="{FF2B5EF4-FFF2-40B4-BE49-F238E27FC236}">
                <a16:creationId xmlns:a16="http://schemas.microsoft.com/office/drawing/2014/main" id="{5B596ED6-381D-44F4-8908-085DAB15B11D}"/>
              </a:ext>
            </a:extLst>
          </p:cNvPr>
          <p:cNvSpPr>
            <a:spLocks noGrp="1"/>
          </p:cNvSpPr>
          <p:nvPr/>
        </p:nvSpPr>
        <p:spPr>
          <a:xfrm>
            <a:off x="6229350" y="3629025"/>
            <a:ext cx="19050" cy="19050"/>
          </a:xfrm>
          <a:prstGeom prst="rect">
            <a:avLst/>
          </a:prstGeom>
          <a:solidFill>
            <a:srgbClr val="D8E0DA"/>
          </a:solidFill>
          <a:ln w="0">
            <a:noFill/>
            <a:prstDash val="solid"/>
          </a:ln>
        </p:spPr>
      </p:sp>
      <p:sp>
        <p:nvSpPr>
          <p:cNvPr id="51" name="Rectangle 50">
            <a:extLst>
              <a:ext uri="{FF2B5EF4-FFF2-40B4-BE49-F238E27FC236}">
                <a16:creationId xmlns:a16="http://schemas.microsoft.com/office/drawing/2014/main" id="{3D0B8D0B-0D2E-48AB-A06C-0057608BFA72}"/>
              </a:ext>
            </a:extLst>
          </p:cNvPr>
          <p:cNvSpPr>
            <a:spLocks noGrp="1"/>
          </p:cNvSpPr>
          <p:nvPr/>
        </p:nvSpPr>
        <p:spPr>
          <a:xfrm>
            <a:off x="7181850" y="3629025"/>
            <a:ext cx="19050" cy="19050"/>
          </a:xfrm>
          <a:prstGeom prst="rect">
            <a:avLst/>
          </a:prstGeom>
          <a:solidFill>
            <a:srgbClr val="D8E0DA"/>
          </a:solidFill>
          <a:ln w="0">
            <a:noFill/>
            <a:prstDash val="solid"/>
          </a:ln>
        </p:spPr>
      </p:sp>
      <p:sp>
        <p:nvSpPr>
          <p:cNvPr id="52" name="Rectangle: Rounded Corners 51">
            <a:extLst>
              <a:ext uri="{FF2B5EF4-FFF2-40B4-BE49-F238E27FC236}">
                <a16:creationId xmlns:a16="http://schemas.microsoft.com/office/drawing/2014/main" id="{4397CA74-490F-4F31-8DC6-D30EDB4EE65E}"/>
              </a:ext>
            </a:extLst>
          </p:cNvPr>
          <p:cNvSpPr>
            <a:spLocks noGrp="1"/>
          </p:cNvSpPr>
          <p:nvPr/>
        </p:nvSpPr>
        <p:spPr>
          <a:xfrm>
            <a:off x="7762875" y="3486150"/>
            <a:ext cx="762000" cy="304800"/>
          </a:xfrm>
          <a:prstGeom prst="roundRect">
            <a:avLst>
              <a:gd name="adj" fmla="val 25000"/>
            </a:avLst>
          </a:prstGeom>
          <a:solidFill>
            <a:srgbClr val="006A43"/>
          </a:solidFill>
          <a:ln w="0">
            <a:noFill/>
            <a:prstDash val="solid"/>
          </a:ln>
        </p:spPr>
      </p:sp>
      <p:sp>
        <p:nvSpPr>
          <p:cNvPr id="53" name="Rectangle 52">
            <a:extLst>
              <a:ext uri="{FF2B5EF4-FFF2-40B4-BE49-F238E27FC236}">
                <a16:creationId xmlns:a16="http://schemas.microsoft.com/office/drawing/2014/main" id="{5AD70CEF-702F-469A-975B-46381E671E36}"/>
              </a:ext>
            </a:extLst>
          </p:cNvPr>
          <p:cNvSpPr>
            <a:spLocks noGrp="1"/>
          </p:cNvSpPr>
          <p:nvPr/>
        </p:nvSpPr>
        <p:spPr>
          <a:xfrm>
            <a:off x="9086850" y="3629025"/>
            <a:ext cx="19050" cy="19050"/>
          </a:xfrm>
          <a:prstGeom prst="rect">
            <a:avLst/>
          </a:prstGeom>
          <a:solidFill>
            <a:srgbClr val="D8E0DA"/>
          </a:solidFill>
          <a:ln w="0">
            <a:noFill/>
            <a:prstDash val="solid"/>
          </a:ln>
        </p:spPr>
      </p:sp>
      <p:sp>
        <p:nvSpPr>
          <p:cNvPr id="54" name="Rectangle 53">
            <a:extLst>
              <a:ext uri="{FF2B5EF4-FFF2-40B4-BE49-F238E27FC236}">
                <a16:creationId xmlns:a16="http://schemas.microsoft.com/office/drawing/2014/main" id="{133BCEC9-5ECF-41B0-8001-7B41D1B18062}"/>
              </a:ext>
            </a:extLst>
          </p:cNvPr>
          <p:cNvSpPr>
            <a:spLocks noGrp="1"/>
          </p:cNvSpPr>
          <p:nvPr/>
        </p:nvSpPr>
        <p:spPr>
          <a:xfrm>
            <a:off x="10039350" y="3629025"/>
            <a:ext cx="19050" cy="19050"/>
          </a:xfrm>
          <a:prstGeom prst="rect">
            <a:avLst/>
          </a:prstGeom>
          <a:solidFill>
            <a:srgbClr val="D8E0DA"/>
          </a:solidFill>
          <a:ln w="0">
            <a:noFill/>
            <a:prstDash val="solid"/>
          </a:ln>
        </p:spPr>
      </p:sp>
      <p:sp>
        <p:nvSpPr>
          <p:cNvPr id="55" name="Rectangle 54">
            <a:extLst>
              <a:ext uri="{FF2B5EF4-FFF2-40B4-BE49-F238E27FC236}">
                <a16:creationId xmlns:a16="http://schemas.microsoft.com/office/drawing/2014/main" id="{38602A71-A128-4F08-9056-30E98562F747}"/>
              </a:ext>
            </a:extLst>
          </p:cNvPr>
          <p:cNvSpPr>
            <a:spLocks noGrp="1"/>
          </p:cNvSpPr>
          <p:nvPr/>
        </p:nvSpPr>
        <p:spPr>
          <a:xfrm>
            <a:off x="10991850" y="3629025"/>
            <a:ext cx="19050" cy="19050"/>
          </a:xfrm>
          <a:prstGeom prst="rect">
            <a:avLst/>
          </a:prstGeom>
          <a:solidFill>
            <a:srgbClr val="D8E0DA"/>
          </a:solidFill>
          <a:ln w="0">
            <a:noFill/>
            <a:prstDash val="solid"/>
          </a:ln>
        </p:spPr>
      </p:sp>
      <p:sp>
        <p:nvSpPr>
          <p:cNvPr id="56" name="Rectangle 55">
            <a:extLst>
              <a:ext uri="{FF2B5EF4-FFF2-40B4-BE49-F238E27FC236}">
                <a16:creationId xmlns:a16="http://schemas.microsoft.com/office/drawing/2014/main" id="{08C70400-7481-46A8-90B1-ACD80B2B122A}"/>
              </a:ext>
            </a:extLst>
          </p:cNvPr>
          <p:cNvSpPr>
            <a:spLocks noGrp="1"/>
          </p:cNvSpPr>
          <p:nvPr/>
        </p:nvSpPr>
        <p:spPr>
          <a:xfrm>
            <a:off x="590550" y="3905250"/>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Second game setup</a:t>
            </a:r>
          </a:p>
        </p:txBody>
      </p:sp>
      <p:sp>
        <p:nvSpPr>
          <p:cNvPr id="57" name="Straight Connector 56">
            <a:extLst>
              <a:ext uri="{FF2B5EF4-FFF2-40B4-BE49-F238E27FC236}">
                <a16:creationId xmlns:a16="http://schemas.microsoft.com/office/drawing/2014/main" id="{A1F3A8A5-87F9-4463-B46F-852CF479B42B}"/>
              </a:ext>
            </a:extLst>
          </p:cNvPr>
          <p:cNvSpPr>
            <a:spLocks noGrp="1"/>
          </p:cNvSpPr>
          <p:nvPr/>
        </p:nvSpPr>
        <p:spPr>
          <a:xfrm>
            <a:off x="590550" y="4314825"/>
            <a:ext cx="10858500" cy="0"/>
          </a:xfrm>
          <a:prstGeom prst="line">
            <a:avLst/>
          </a:prstGeom>
          <a:noFill/>
          <a:ln w="9525">
            <a:solidFill>
              <a:srgbClr val="D8E0DA"/>
            </a:solidFill>
            <a:prstDash val="solid"/>
          </a:ln>
        </p:spPr>
      </p:sp>
      <p:sp>
        <p:nvSpPr>
          <p:cNvPr id="58" name="Rectangle 57">
            <a:extLst>
              <a:ext uri="{FF2B5EF4-FFF2-40B4-BE49-F238E27FC236}">
                <a16:creationId xmlns:a16="http://schemas.microsoft.com/office/drawing/2014/main" id="{0FB6DF36-FA70-461A-BBA5-43254B926C1E}"/>
              </a:ext>
            </a:extLst>
          </p:cNvPr>
          <p:cNvSpPr>
            <a:spLocks noGrp="1"/>
          </p:cNvSpPr>
          <p:nvPr/>
        </p:nvSpPr>
        <p:spPr>
          <a:xfrm>
            <a:off x="4324350" y="4095750"/>
            <a:ext cx="19050" cy="19050"/>
          </a:xfrm>
          <a:prstGeom prst="rect">
            <a:avLst/>
          </a:prstGeom>
          <a:solidFill>
            <a:srgbClr val="D8E0DA"/>
          </a:solidFill>
          <a:ln w="0">
            <a:noFill/>
            <a:prstDash val="solid"/>
          </a:ln>
        </p:spPr>
      </p:sp>
      <p:sp>
        <p:nvSpPr>
          <p:cNvPr id="59" name="Rectangle 58">
            <a:extLst>
              <a:ext uri="{FF2B5EF4-FFF2-40B4-BE49-F238E27FC236}">
                <a16:creationId xmlns:a16="http://schemas.microsoft.com/office/drawing/2014/main" id="{88C56632-B815-4EA5-98F9-F0BA76D1AD26}"/>
              </a:ext>
            </a:extLst>
          </p:cNvPr>
          <p:cNvSpPr>
            <a:spLocks noGrp="1"/>
          </p:cNvSpPr>
          <p:nvPr/>
        </p:nvSpPr>
        <p:spPr>
          <a:xfrm>
            <a:off x="5276850" y="4095750"/>
            <a:ext cx="19050" cy="19050"/>
          </a:xfrm>
          <a:prstGeom prst="rect">
            <a:avLst/>
          </a:prstGeom>
          <a:solidFill>
            <a:srgbClr val="D8E0DA"/>
          </a:solidFill>
          <a:ln w="0">
            <a:noFill/>
            <a:prstDash val="solid"/>
          </a:ln>
        </p:spPr>
      </p:sp>
      <p:sp>
        <p:nvSpPr>
          <p:cNvPr id="60" name="Rectangle 59">
            <a:extLst>
              <a:ext uri="{FF2B5EF4-FFF2-40B4-BE49-F238E27FC236}">
                <a16:creationId xmlns:a16="http://schemas.microsoft.com/office/drawing/2014/main" id="{2316AC80-CA04-482F-A013-B5B243D958B0}"/>
              </a:ext>
            </a:extLst>
          </p:cNvPr>
          <p:cNvSpPr>
            <a:spLocks noGrp="1"/>
          </p:cNvSpPr>
          <p:nvPr/>
        </p:nvSpPr>
        <p:spPr>
          <a:xfrm>
            <a:off x="6229350" y="4095750"/>
            <a:ext cx="19050" cy="19050"/>
          </a:xfrm>
          <a:prstGeom prst="rect">
            <a:avLst/>
          </a:prstGeom>
          <a:solidFill>
            <a:srgbClr val="D8E0DA"/>
          </a:solidFill>
          <a:ln w="0">
            <a:noFill/>
            <a:prstDash val="solid"/>
          </a:ln>
        </p:spPr>
      </p:sp>
      <p:sp>
        <p:nvSpPr>
          <p:cNvPr id="61" name="Rectangle 60">
            <a:extLst>
              <a:ext uri="{FF2B5EF4-FFF2-40B4-BE49-F238E27FC236}">
                <a16:creationId xmlns:a16="http://schemas.microsoft.com/office/drawing/2014/main" id="{EA56BFC7-1EED-4BE4-B2D7-4C79BF1395F8}"/>
              </a:ext>
            </a:extLst>
          </p:cNvPr>
          <p:cNvSpPr>
            <a:spLocks noGrp="1"/>
          </p:cNvSpPr>
          <p:nvPr/>
        </p:nvSpPr>
        <p:spPr>
          <a:xfrm>
            <a:off x="7181850" y="4095750"/>
            <a:ext cx="19050" cy="19050"/>
          </a:xfrm>
          <a:prstGeom prst="rect">
            <a:avLst/>
          </a:prstGeom>
          <a:solidFill>
            <a:srgbClr val="D8E0DA"/>
          </a:solidFill>
          <a:ln w="0">
            <a:noFill/>
            <a:prstDash val="solid"/>
          </a:ln>
        </p:spPr>
      </p:sp>
      <p:sp>
        <p:nvSpPr>
          <p:cNvPr id="62" name="Rectangle: Rounded Corners 61">
            <a:extLst>
              <a:ext uri="{FF2B5EF4-FFF2-40B4-BE49-F238E27FC236}">
                <a16:creationId xmlns:a16="http://schemas.microsoft.com/office/drawing/2014/main" id="{FD6E3292-47BE-41D0-A9CE-2FF2F0C51133}"/>
              </a:ext>
            </a:extLst>
          </p:cNvPr>
          <p:cNvSpPr>
            <a:spLocks noGrp="1"/>
          </p:cNvSpPr>
          <p:nvPr/>
        </p:nvSpPr>
        <p:spPr>
          <a:xfrm>
            <a:off x="7762875" y="3952875"/>
            <a:ext cx="762000" cy="304800"/>
          </a:xfrm>
          <a:prstGeom prst="roundRect">
            <a:avLst>
              <a:gd name="adj" fmla="val 25000"/>
            </a:avLst>
          </a:prstGeom>
          <a:solidFill>
            <a:srgbClr val="006A43"/>
          </a:solidFill>
          <a:ln w="0">
            <a:noFill/>
            <a:prstDash val="solid"/>
          </a:ln>
        </p:spPr>
      </p:sp>
      <p:sp>
        <p:nvSpPr>
          <p:cNvPr id="63" name="Rectangle: Rounded Corners 62">
            <a:extLst>
              <a:ext uri="{FF2B5EF4-FFF2-40B4-BE49-F238E27FC236}">
                <a16:creationId xmlns:a16="http://schemas.microsoft.com/office/drawing/2014/main" id="{74D6CB46-FC40-4FC4-89E0-DCF9BB0110B9}"/>
              </a:ext>
            </a:extLst>
          </p:cNvPr>
          <p:cNvSpPr>
            <a:spLocks noGrp="1"/>
          </p:cNvSpPr>
          <p:nvPr/>
        </p:nvSpPr>
        <p:spPr>
          <a:xfrm>
            <a:off x="8715375" y="3952875"/>
            <a:ext cx="762000" cy="304800"/>
          </a:xfrm>
          <a:prstGeom prst="roundRect">
            <a:avLst>
              <a:gd name="adj" fmla="val 25000"/>
            </a:avLst>
          </a:prstGeom>
          <a:solidFill>
            <a:srgbClr val="006A43"/>
          </a:solidFill>
          <a:ln w="0">
            <a:noFill/>
            <a:prstDash val="solid"/>
          </a:ln>
        </p:spPr>
      </p:sp>
      <p:sp>
        <p:nvSpPr>
          <p:cNvPr id="64" name="Rectangle 63">
            <a:extLst>
              <a:ext uri="{FF2B5EF4-FFF2-40B4-BE49-F238E27FC236}">
                <a16:creationId xmlns:a16="http://schemas.microsoft.com/office/drawing/2014/main" id="{A9669A19-2438-41B7-B8C2-7B0DC8F41D05}"/>
              </a:ext>
            </a:extLst>
          </p:cNvPr>
          <p:cNvSpPr>
            <a:spLocks noGrp="1"/>
          </p:cNvSpPr>
          <p:nvPr/>
        </p:nvSpPr>
        <p:spPr>
          <a:xfrm>
            <a:off x="10039350" y="4095750"/>
            <a:ext cx="19050" cy="19050"/>
          </a:xfrm>
          <a:prstGeom prst="rect">
            <a:avLst/>
          </a:prstGeom>
          <a:solidFill>
            <a:srgbClr val="D8E0DA"/>
          </a:solidFill>
          <a:ln w="0">
            <a:noFill/>
            <a:prstDash val="solid"/>
          </a:ln>
        </p:spPr>
      </p:sp>
      <p:sp>
        <p:nvSpPr>
          <p:cNvPr id="65" name="Rectangle 64">
            <a:extLst>
              <a:ext uri="{FF2B5EF4-FFF2-40B4-BE49-F238E27FC236}">
                <a16:creationId xmlns:a16="http://schemas.microsoft.com/office/drawing/2014/main" id="{3117357A-3605-4F14-9F0F-38D8F2953D1C}"/>
              </a:ext>
            </a:extLst>
          </p:cNvPr>
          <p:cNvSpPr>
            <a:spLocks noGrp="1"/>
          </p:cNvSpPr>
          <p:nvPr/>
        </p:nvSpPr>
        <p:spPr>
          <a:xfrm>
            <a:off x="10991850" y="4095750"/>
            <a:ext cx="19050" cy="19050"/>
          </a:xfrm>
          <a:prstGeom prst="rect">
            <a:avLst/>
          </a:prstGeom>
          <a:solidFill>
            <a:srgbClr val="D8E0DA"/>
          </a:solidFill>
          <a:ln w="0">
            <a:noFill/>
            <a:prstDash val="solid"/>
          </a:ln>
        </p:spPr>
      </p:sp>
      <p:sp>
        <p:nvSpPr>
          <p:cNvPr id="66" name="Rectangle 65">
            <a:extLst>
              <a:ext uri="{FF2B5EF4-FFF2-40B4-BE49-F238E27FC236}">
                <a16:creationId xmlns:a16="http://schemas.microsoft.com/office/drawing/2014/main" id="{A70C86E3-C248-4A46-AF7E-EC0E5401607E}"/>
              </a:ext>
            </a:extLst>
          </p:cNvPr>
          <p:cNvSpPr>
            <a:spLocks noGrp="1"/>
          </p:cNvSpPr>
          <p:nvPr/>
        </p:nvSpPr>
        <p:spPr>
          <a:xfrm>
            <a:off x="590550" y="4371975"/>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Selected comparisons</a:t>
            </a:r>
          </a:p>
        </p:txBody>
      </p:sp>
      <p:sp>
        <p:nvSpPr>
          <p:cNvPr id="67" name="Straight Connector 66">
            <a:extLst>
              <a:ext uri="{FF2B5EF4-FFF2-40B4-BE49-F238E27FC236}">
                <a16:creationId xmlns:a16="http://schemas.microsoft.com/office/drawing/2014/main" id="{669155EF-E76F-4B7F-AB63-012CF65A19B0}"/>
              </a:ext>
            </a:extLst>
          </p:cNvPr>
          <p:cNvSpPr>
            <a:spLocks noGrp="1"/>
          </p:cNvSpPr>
          <p:nvPr/>
        </p:nvSpPr>
        <p:spPr>
          <a:xfrm>
            <a:off x="590550" y="4781550"/>
            <a:ext cx="10858500" cy="0"/>
          </a:xfrm>
          <a:prstGeom prst="line">
            <a:avLst/>
          </a:prstGeom>
          <a:noFill/>
          <a:ln w="9525">
            <a:solidFill>
              <a:srgbClr val="D8E0DA"/>
            </a:solidFill>
            <a:prstDash val="solid"/>
          </a:ln>
        </p:spPr>
      </p:sp>
      <p:sp>
        <p:nvSpPr>
          <p:cNvPr id="68" name="Rectangle 67">
            <a:extLst>
              <a:ext uri="{FF2B5EF4-FFF2-40B4-BE49-F238E27FC236}">
                <a16:creationId xmlns:a16="http://schemas.microsoft.com/office/drawing/2014/main" id="{ACFC59BB-A7C2-4D1F-8C36-F3D3B07220F9}"/>
              </a:ext>
            </a:extLst>
          </p:cNvPr>
          <p:cNvSpPr>
            <a:spLocks noGrp="1"/>
          </p:cNvSpPr>
          <p:nvPr/>
        </p:nvSpPr>
        <p:spPr>
          <a:xfrm>
            <a:off x="4324350" y="4562475"/>
            <a:ext cx="19050" cy="19050"/>
          </a:xfrm>
          <a:prstGeom prst="rect">
            <a:avLst/>
          </a:prstGeom>
          <a:solidFill>
            <a:srgbClr val="D8E0DA"/>
          </a:solidFill>
          <a:ln w="0">
            <a:noFill/>
            <a:prstDash val="solid"/>
          </a:ln>
        </p:spPr>
      </p:sp>
      <p:sp>
        <p:nvSpPr>
          <p:cNvPr id="69" name="Rectangle 68">
            <a:extLst>
              <a:ext uri="{FF2B5EF4-FFF2-40B4-BE49-F238E27FC236}">
                <a16:creationId xmlns:a16="http://schemas.microsoft.com/office/drawing/2014/main" id="{E07B59ED-52D3-449B-A8E6-6A0894F4E15F}"/>
              </a:ext>
            </a:extLst>
          </p:cNvPr>
          <p:cNvSpPr>
            <a:spLocks noGrp="1"/>
          </p:cNvSpPr>
          <p:nvPr/>
        </p:nvSpPr>
        <p:spPr>
          <a:xfrm>
            <a:off x="5276850" y="4562475"/>
            <a:ext cx="19050" cy="19050"/>
          </a:xfrm>
          <a:prstGeom prst="rect">
            <a:avLst/>
          </a:prstGeom>
          <a:solidFill>
            <a:srgbClr val="D8E0DA"/>
          </a:solidFill>
          <a:ln w="0">
            <a:noFill/>
            <a:prstDash val="solid"/>
          </a:ln>
        </p:spPr>
      </p:sp>
      <p:sp>
        <p:nvSpPr>
          <p:cNvPr id="70" name="Rectangle 69">
            <a:extLst>
              <a:ext uri="{FF2B5EF4-FFF2-40B4-BE49-F238E27FC236}">
                <a16:creationId xmlns:a16="http://schemas.microsoft.com/office/drawing/2014/main" id="{FABB1723-3D3F-4CFC-991D-856389663D89}"/>
              </a:ext>
            </a:extLst>
          </p:cNvPr>
          <p:cNvSpPr>
            <a:spLocks noGrp="1"/>
          </p:cNvSpPr>
          <p:nvPr/>
        </p:nvSpPr>
        <p:spPr>
          <a:xfrm>
            <a:off x="6229350" y="4562475"/>
            <a:ext cx="19050" cy="19050"/>
          </a:xfrm>
          <a:prstGeom prst="rect">
            <a:avLst/>
          </a:prstGeom>
          <a:solidFill>
            <a:srgbClr val="D8E0DA"/>
          </a:solidFill>
          <a:ln w="0">
            <a:noFill/>
            <a:prstDash val="solid"/>
          </a:ln>
        </p:spPr>
      </p:sp>
      <p:sp>
        <p:nvSpPr>
          <p:cNvPr id="71" name="Rectangle 70">
            <a:extLst>
              <a:ext uri="{FF2B5EF4-FFF2-40B4-BE49-F238E27FC236}">
                <a16:creationId xmlns:a16="http://schemas.microsoft.com/office/drawing/2014/main" id="{503DB25E-557E-4D3B-80F8-353FC59206A5}"/>
              </a:ext>
            </a:extLst>
          </p:cNvPr>
          <p:cNvSpPr>
            <a:spLocks noGrp="1"/>
          </p:cNvSpPr>
          <p:nvPr/>
        </p:nvSpPr>
        <p:spPr>
          <a:xfrm>
            <a:off x="7181850" y="4562475"/>
            <a:ext cx="19050" cy="19050"/>
          </a:xfrm>
          <a:prstGeom prst="rect">
            <a:avLst/>
          </a:prstGeom>
          <a:solidFill>
            <a:srgbClr val="D8E0DA"/>
          </a:solidFill>
          <a:ln w="0">
            <a:noFill/>
            <a:prstDash val="solid"/>
          </a:ln>
        </p:spPr>
      </p:sp>
      <p:sp>
        <p:nvSpPr>
          <p:cNvPr id="72" name="Rectangle 71">
            <a:extLst>
              <a:ext uri="{FF2B5EF4-FFF2-40B4-BE49-F238E27FC236}">
                <a16:creationId xmlns:a16="http://schemas.microsoft.com/office/drawing/2014/main" id="{6B2D9612-7E8B-434F-9DEE-AB39DC02DDAD}"/>
              </a:ext>
            </a:extLst>
          </p:cNvPr>
          <p:cNvSpPr>
            <a:spLocks noGrp="1"/>
          </p:cNvSpPr>
          <p:nvPr/>
        </p:nvSpPr>
        <p:spPr>
          <a:xfrm>
            <a:off x="8134350" y="4562475"/>
            <a:ext cx="19050" cy="19050"/>
          </a:xfrm>
          <a:prstGeom prst="rect">
            <a:avLst/>
          </a:prstGeom>
          <a:solidFill>
            <a:srgbClr val="D8E0DA"/>
          </a:solidFill>
          <a:ln w="0">
            <a:noFill/>
            <a:prstDash val="solid"/>
          </a:ln>
        </p:spPr>
      </p:sp>
      <p:sp>
        <p:nvSpPr>
          <p:cNvPr id="73" name="Rectangle: Rounded Corners 72">
            <a:extLst>
              <a:ext uri="{FF2B5EF4-FFF2-40B4-BE49-F238E27FC236}">
                <a16:creationId xmlns:a16="http://schemas.microsoft.com/office/drawing/2014/main" id="{F121076F-E06B-4E7B-990A-748A6F8ADFD8}"/>
              </a:ext>
            </a:extLst>
          </p:cNvPr>
          <p:cNvSpPr>
            <a:spLocks noGrp="1"/>
          </p:cNvSpPr>
          <p:nvPr/>
        </p:nvSpPr>
        <p:spPr>
          <a:xfrm>
            <a:off x="8715375" y="4419600"/>
            <a:ext cx="762000" cy="304800"/>
          </a:xfrm>
          <a:prstGeom prst="roundRect">
            <a:avLst>
              <a:gd name="adj" fmla="val 25000"/>
            </a:avLst>
          </a:prstGeom>
          <a:solidFill>
            <a:srgbClr val="006A43"/>
          </a:solidFill>
          <a:ln w="0">
            <a:noFill/>
            <a:prstDash val="solid"/>
          </a:ln>
        </p:spPr>
      </p:sp>
      <p:sp>
        <p:nvSpPr>
          <p:cNvPr id="74" name="Rectangle: Rounded Corners 73">
            <a:extLst>
              <a:ext uri="{FF2B5EF4-FFF2-40B4-BE49-F238E27FC236}">
                <a16:creationId xmlns:a16="http://schemas.microsoft.com/office/drawing/2014/main" id="{970CDD65-4C8D-4242-8729-3FBCC981E3D9}"/>
              </a:ext>
            </a:extLst>
          </p:cNvPr>
          <p:cNvSpPr>
            <a:spLocks noGrp="1"/>
          </p:cNvSpPr>
          <p:nvPr/>
        </p:nvSpPr>
        <p:spPr>
          <a:xfrm>
            <a:off x="9667875" y="4419600"/>
            <a:ext cx="762000" cy="304800"/>
          </a:xfrm>
          <a:prstGeom prst="roundRect">
            <a:avLst>
              <a:gd name="adj" fmla="val 25000"/>
            </a:avLst>
          </a:prstGeom>
          <a:solidFill>
            <a:srgbClr val="006A43"/>
          </a:solidFill>
          <a:ln w="0">
            <a:noFill/>
            <a:prstDash val="solid"/>
          </a:ln>
        </p:spPr>
      </p:sp>
      <p:sp>
        <p:nvSpPr>
          <p:cNvPr id="75" name="Rectangle 74">
            <a:extLst>
              <a:ext uri="{FF2B5EF4-FFF2-40B4-BE49-F238E27FC236}">
                <a16:creationId xmlns:a16="http://schemas.microsoft.com/office/drawing/2014/main" id="{35BA4CE2-9DF5-4B30-B58F-BA33607D321F}"/>
              </a:ext>
            </a:extLst>
          </p:cNvPr>
          <p:cNvSpPr>
            <a:spLocks noGrp="1"/>
          </p:cNvSpPr>
          <p:nvPr/>
        </p:nvSpPr>
        <p:spPr>
          <a:xfrm>
            <a:off x="10991850" y="4562475"/>
            <a:ext cx="19050" cy="19050"/>
          </a:xfrm>
          <a:prstGeom prst="rect">
            <a:avLst/>
          </a:prstGeom>
          <a:solidFill>
            <a:srgbClr val="D8E0DA"/>
          </a:solidFill>
          <a:ln w="0">
            <a:noFill/>
            <a:prstDash val="solid"/>
          </a:ln>
        </p:spPr>
      </p:sp>
      <p:sp>
        <p:nvSpPr>
          <p:cNvPr id="76" name="Rectangle 75">
            <a:extLst>
              <a:ext uri="{FF2B5EF4-FFF2-40B4-BE49-F238E27FC236}">
                <a16:creationId xmlns:a16="http://schemas.microsoft.com/office/drawing/2014/main" id="{8A6529F2-94FF-4016-9079-D37AAF8C02C9}"/>
              </a:ext>
            </a:extLst>
          </p:cNvPr>
          <p:cNvSpPr>
            <a:spLocks noGrp="1"/>
          </p:cNvSpPr>
          <p:nvPr/>
        </p:nvSpPr>
        <p:spPr>
          <a:xfrm>
            <a:off x="590550" y="4838700"/>
            <a:ext cx="3048000" cy="342900"/>
          </a:xfrm>
          <a:prstGeom prst="rect">
            <a:avLst/>
          </a:prstGeom>
          <a:noFill/>
          <a:ln w="0">
            <a:noFill/>
            <a:prstDash val="solid"/>
          </a:ln>
        </p:spPr>
        <p:txBody>
          <a:bodyPr lIns="0" tIns="0" rIns="0" bIns="0" anchor="ctr">
            <a:noAutofit/>
          </a:bodyPr>
          <a:lstStyle/>
          <a:p>
            <a:pPr algn="l">
              <a:defRPr sz="1500" b="0">
                <a:solidFill>
                  <a:srgbClr val="17211D"/>
                </a:solidFill>
                <a:latin typeface="Arial"/>
                <a:ea typeface="Arial"/>
                <a:cs typeface="Arial"/>
              </a:defRPr>
            </a:pPr>
            <a:r>
              <a:rPr sz="1500" b="0">
                <a:solidFill>
                  <a:srgbClr val="17211D"/>
                </a:solidFill>
                <a:latin typeface="Arial"/>
                <a:ea typeface="Arial"/>
                <a:cs typeface="Arial"/>
              </a:rPr>
              <a:t>Report and presentation</a:t>
            </a:r>
          </a:p>
        </p:txBody>
      </p:sp>
      <p:sp>
        <p:nvSpPr>
          <p:cNvPr id="77" name="Straight Connector 76">
            <a:extLst>
              <a:ext uri="{FF2B5EF4-FFF2-40B4-BE49-F238E27FC236}">
                <a16:creationId xmlns:a16="http://schemas.microsoft.com/office/drawing/2014/main" id="{6290C38C-E7B3-4D08-AA1F-804E04AEE3FA}"/>
              </a:ext>
            </a:extLst>
          </p:cNvPr>
          <p:cNvSpPr>
            <a:spLocks noGrp="1"/>
          </p:cNvSpPr>
          <p:nvPr/>
        </p:nvSpPr>
        <p:spPr>
          <a:xfrm>
            <a:off x="590550" y="5248275"/>
            <a:ext cx="10858500" cy="0"/>
          </a:xfrm>
          <a:prstGeom prst="line">
            <a:avLst/>
          </a:prstGeom>
          <a:noFill/>
          <a:ln w="9525">
            <a:solidFill>
              <a:srgbClr val="D8E0DA"/>
            </a:solidFill>
            <a:prstDash val="solid"/>
          </a:ln>
        </p:spPr>
      </p:sp>
      <p:sp>
        <p:nvSpPr>
          <p:cNvPr id="78" name="Rectangle 77">
            <a:extLst>
              <a:ext uri="{FF2B5EF4-FFF2-40B4-BE49-F238E27FC236}">
                <a16:creationId xmlns:a16="http://schemas.microsoft.com/office/drawing/2014/main" id="{AF662B02-85C0-4F6A-8078-917AEF01FD66}"/>
              </a:ext>
            </a:extLst>
          </p:cNvPr>
          <p:cNvSpPr>
            <a:spLocks noGrp="1"/>
          </p:cNvSpPr>
          <p:nvPr/>
        </p:nvSpPr>
        <p:spPr>
          <a:xfrm>
            <a:off x="4324350" y="5029200"/>
            <a:ext cx="19050" cy="19050"/>
          </a:xfrm>
          <a:prstGeom prst="rect">
            <a:avLst/>
          </a:prstGeom>
          <a:solidFill>
            <a:srgbClr val="D8E0DA"/>
          </a:solidFill>
          <a:ln w="0">
            <a:noFill/>
            <a:prstDash val="solid"/>
          </a:ln>
        </p:spPr>
      </p:sp>
      <p:sp>
        <p:nvSpPr>
          <p:cNvPr id="79" name="Rectangle 78">
            <a:extLst>
              <a:ext uri="{FF2B5EF4-FFF2-40B4-BE49-F238E27FC236}">
                <a16:creationId xmlns:a16="http://schemas.microsoft.com/office/drawing/2014/main" id="{5CCECC70-CB5D-46BB-B0A6-4C247C3F0F14}"/>
              </a:ext>
            </a:extLst>
          </p:cNvPr>
          <p:cNvSpPr>
            <a:spLocks noGrp="1"/>
          </p:cNvSpPr>
          <p:nvPr/>
        </p:nvSpPr>
        <p:spPr>
          <a:xfrm>
            <a:off x="5276850" y="5029200"/>
            <a:ext cx="19050" cy="19050"/>
          </a:xfrm>
          <a:prstGeom prst="rect">
            <a:avLst/>
          </a:prstGeom>
          <a:solidFill>
            <a:srgbClr val="D8E0DA"/>
          </a:solidFill>
          <a:ln w="0">
            <a:noFill/>
            <a:prstDash val="solid"/>
          </a:ln>
        </p:spPr>
      </p:sp>
      <p:sp>
        <p:nvSpPr>
          <p:cNvPr id="80" name="Rectangle 79">
            <a:extLst>
              <a:ext uri="{FF2B5EF4-FFF2-40B4-BE49-F238E27FC236}">
                <a16:creationId xmlns:a16="http://schemas.microsoft.com/office/drawing/2014/main" id="{ACC8DA96-69F7-46E6-B886-FADAAFFA9CC8}"/>
              </a:ext>
            </a:extLst>
          </p:cNvPr>
          <p:cNvSpPr>
            <a:spLocks noGrp="1"/>
          </p:cNvSpPr>
          <p:nvPr/>
        </p:nvSpPr>
        <p:spPr>
          <a:xfrm>
            <a:off x="6229350" y="5029200"/>
            <a:ext cx="19050" cy="19050"/>
          </a:xfrm>
          <a:prstGeom prst="rect">
            <a:avLst/>
          </a:prstGeom>
          <a:solidFill>
            <a:srgbClr val="D8E0DA"/>
          </a:solidFill>
          <a:ln w="0">
            <a:noFill/>
            <a:prstDash val="solid"/>
          </a:ln>
        </p:spPr>
      </p:sp>
      <p:sp>
        <p:nvSpPr>
          <p:cNvPr id="81" name="Rectangle 80">
            <a:extLst>
              <a:ext uri="{FF2B5EF4-FFF2-40B4-BE49-F238E27FC236}">
                <a16:creationId xmlns:a16="http://schemas.microsoft.com/office/drawing/2014/main" id="{B38BB9CE-34FE-461B-BDF2-2B9DFE83CEE5}"/>
              </a:ext>
            </a:extLst>
          </p:cNvPr>
          <p:cNvSpPr>
            <a:spLocks noGrp="1"/>
          </p:cNvSpPr>
          <p:nvPr/>
        </p:nvSpPr>
        <p:spPr>
          <a:xfrm>
            <a:off x="7181850" y="5029200"/>
            <a:ext cx="19050" cy="19050"/>
          </a:xfrm>
          <a:prstGeom prst="rect">
            <a:avLst/>
          </a:prstGeom>
          <a:solidFill>
            <a:srgbClr val="D8E0DA"/>
          </a:solidFill>
          <a:ln w="0">
            <a:noFill/>
            <a:prstDash val="solid"/>
          </a:ln>
        </p:spPr>
      </p:sp>
      <p:sp>
        <p:nvSpPr>
          <p:cNvPr id="82" name="Rectangle 81">
            <a:extLst>
              <a:ext uri="{FF2B5EF4-FFF2-40B4-BE49-F238E27FC236}">
                <a16:creationId xmlns:a16="http://schemas.microsoft.com/office/drawing/2014/main" id="{A13B310B-D1F4-4D08-8DC1-13536B0D1CFF}"/>
              </a:ext>
            </a:extLst>
          </p:cNvPr>
          <p:cNvSpPr>
            <a:spLocks noGrp="1"/>
          </p:cNvSpPr>
          <p:nvPr/>
        </p:nvSpPr>
        <p:spPr>
          <a:xfrm>
            <a:off x="8134350" y="5029200"/>
            <a:ext cx="19050" cy="19050"/>
          </a:xfrm>
          <a:prstGeom prst="rect">
            <a:avLst/>
          </a:prstGeom>
          <a:solidFill>
            <a:srgbClr val="D8E0DA"/>
          </a:solidFill>
          <a:ln w="0">
            <a:noFill/>
            <a:prstDash val="solid"/>
          </a:ln>
        </p:spPr>
      </p:sp>
      <p:sp>
        <p:nvSpPr>
          <p:cNvPr id="83" name="Rectangle 82">
            <a:extLst>
              <a:ext uri="{FF2B5EF4-FFF2-40B4-BE49-F238E27FC236}">
                <a16:creationId xmlns:a16="http://schemas.microsoft.com/office/drawing/2014/main" id="{105EC90D-44D6-4AE1-AFB5-9374B5483A2D}"/>
              </a:ext>
            </a:extLst>
          </p:cNvPr>
          <p:cNvSpPr>
            <a:spLocks noGrp="1"/>
          </p:cNvSpPr>
          <p:nvPr/>
        </p:nvSpPr>
        <p:spPr>
          <a:xfrm>
            <a:off x="9086850" y="5029200"/>
            <a:ext cx="19050" cy="19050"/>
          </a:xfrm>
          <a:prstGeom prst="rect">
            <a:avLst/>
          </a:prstGeom>
          <a:solidFill>
            <a:srgbClr val="D8E0DA"/>
          </a:solidFill>
          <a:ln w="0">
            <a:noFill/>
            <a:prstDash val="solid"/>
          </a:ln>
        </p:spPr>
      </p:sp>
      <p:sp>
        <p:nvSpPr>
          <p:cNvPr id="84" name="Rectangle: Rounded Corners 83">
            <a:extLst>
              <a:ext uri="{FF2B5EF4-FFF2-40B4-BE49-F238E27FC236}">
                <a16:creationId xmlns:a16="http://schemas.microsoft.com/office/drawing/2014/main" id="{EAA8E60F-A929-4F5D-AA3B-6E971433DC2E}"/>
              </a:ext>
            </a:extLst>
          </p:cNvPr>
          <p:cNvSpPr>
            <a:spLocks noGrp="1"/>
          </p:cNvSpPr>
          <p:nvPr/>
        </p:nvSpPr>
        <p:spPr>
          <a:xfrm>
            <a:off x="9667875" y="4886325"/>
            <a:ext cx="762000" cy="304800"/>
          </a:xfrm>
          <a:prstGeom prst="roundRect">
            <a:avLst>
              <a:gd name="adj" fmla="val 25000"/>
            </a:avLst>
          </a:prstGeom>
          <a:solidFill>
            <a:srgbClr val="006A43"/>
          </a:solidFill>
          <a:ln w="0">
            <a:noFill/>
            <a:prstDash val="solid"/>
          </a:ln>
        </p:spPr>
      </p:sp>
      <p:sp>
        <p:nvSpPr>
          <p:cNvPr id="85" name="Rectangle: Rounded Corners 84">
            <a:extLst>
              <a:ext uri="{FF2B5EF4-FFF2-40B4-BE49-F238E27FC236}">
                <a16:creationId xmlns:a16="http://schemas.microsoft.com/office/drawing/2014/main" id="{D95B8E14-3EE5-4FC1-9D2B-AE0C68D37C86}"/>
              </a:ext>
            </a:extLst>
          </p:cNvPr>
          <p:cNvSpPr>
            <a:spLocks noGrp="1"/>
          </p:cNvSpPr>
          <p:nvPr/>
        </p:nvSpPr>
        <p:spPr>
          <a:xfrm>
            <a:off x="10620375" y="4886325"/>
            <a:ext cx="762000" cy="304800"/>
          </a:xfrm>
          <a:prstGeom prst="roundRect">
            <a:avLst>
              <a:gd name="adj" fmla="val 25000"/>
            </a:avLst>
          </a:prstGeom>
          <a:solidFill>
            <a:srgbClr val="006A43"/>
          </a:solidFill>
          <a:ln w="0">
            <a:noFill/>
            <a:prstDash val="solid"/>
          </a:ln>
        </p:spPr>
      </p:sp>
      <p:sp>
        <p:nvSpPr>
          <p:cNvPr id="86" name="Rectangle 85">
            <a:extLst>
              <a:ext uri="{FF2B5EF4-FFF2-40B4-BE49-F238E27FC236}">
                <a16:creationId xmlns:a16="http://schemas.microsoft.com/office/drawing/2014/main" id="{12A5EF4E-C43C-46CE-9F5E-780898E7D7D5}"/>
              </a:ext>
            </a:extLst>
          </p:cNvPr>
          <p:cNvSpPr>
            <a:spLocks noGrp="1"/>
          </p:cNvSpPr>
          <p:nvPr/>
        </p:nvSpPr>
        <p:spPr>
          <a:xfrm>
            <a:off x="609600" y="5534025"/>
            <a:ext cx="10001250" cy="381000"/>
          </a:xfrm>
          <a:prstGeom prst="rect">
            <a:avLst/>
          </a:prstGeom>
          <a:noFill/>
          <a:ln w="0">
            <a:noFill/>
            <a:prstDash val="solid"/>
          </a:ln>
        </p:spPr>
        <p:txBody>
          <a:bodyPr lIns="0" tIns="0" rIns="0" bIns="0" anchor="ctr">
            <a:noAutofit/>
          </a:bodyPr>
          <a:lstStyle/>
          <a:p>
            <a:pPr algn="l">
              <a:defRPr sz="1500" b="0">
                <a:solidFill>
                  <a:srgbClr val="52605A"/>
                </a:solidFill>
                <a:latin typeface="Arial"/>
                <a:ea typeface="Arial"/>
                <a:cs typeface="Arial"/>
              </a:defRPr>
            </a:pPr>
            <a:r>
              <a:rPr sz="1500" b="0" dirty="0">
                <a:solidFill>
                  <a:srgbClr val="52605A"/>
                </a:solidFill>
                <a:latin typeface="Arial"/>
                <a:ea typeface="Arial"/>
                <a:cs typeface="Arial"/>
              </a:rPr>
              <a:t>Technical guidance and review meetings throughout</a:t>
            </a:r>
          </a:p>
        </p:txBody>
      </p:sp>
      <p:pic>
        <p:nvPicPr>
          <p:cNvPr id="91" name="Picture 90">
            <a:extLst>
              <a:ext uri="{FF2B5EF4-FFF2-40B4-BE49-F238E27FC236}">
                <a16:creationId xmlns:a16="http://schemas.microsoft.com/office/drawing/2014/main" id="{8E296029-BF33-80EC-99A5-6E2EB64526EC}"/>
              </a:ext>
            </a:extLst>
          </p:cNvPr>
          <p:cNvPicPr>
            <a:picLocks noChangeAspect="1"/>
          </p:cNvPicPr>
          <p:nvPr/>
        </p:nvPicPr>
        <p:blipFill>
          <a:blip r:embed="rId4"/>
          <a:srcRect l="1214" b="14658"/>
          <a:stretch>
            <a:fillRect/>
          </a:stretch>
        </p:blipFill>
        <p:spPr>
          <a:xfrm>
            <a:off x="312820" y="1608599"/>
            <a:ext cx="11752345" cy="3820652"/>
          </a:xfrm>
          <a:prstGeom prst="rect">
            <a:avLst/>
          </a:prstGeom>
        </p:spPr>
      </p:pic>
    </p:spTree>
    <p:extLst>
      <p:ext uri="{BB962C8B-B14F-4D97-AF65-F5344CB8AC3E}">
        <p14:creationId xmlns:p14="http://schemas.microsoft.com/office/powerpoint/2010/main" val="1567608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0896600" y="190500"/>
            <a:ext cx="1028700" cy="1028700"/>
          </a:xfrm>
          <a:prstGeom prst="rect">
            <a:avLst/>
          </a:prstGeom>
        </p:spPr>
      </p:pic>
      <p:sp>
        <p:nvSpPr>
          <p:cNvPr id="2" name="slide-title">
            <a:extLst>
              <a:ext uri="{FF2B5EF4-FFF2-40B4-BE49-F238E27FC236}">
                <a16:creationId xmlns:a16="http://schemas.microsoft.com/office/drawing/2014/main" id="{C11B24A7-B629-4C58-B69D-BD9E49DCB0C5}"/>
              </a:ext>
            </a:extLst>
          </p:cNvPr>
          <p:cNvSpPr>
            <a:spLocks noGrp="1"/>
          </p:cNvSpPr>
          <p:nvPr/>
        </p:nvSpPr>
        <p:spPr>
          <a:xfrm>
            <a:off x="590550" y="457200"/>
            <a:ext cx="9953625" cy="704850"/>
          </a:xfrm>
          <a:prstGeom prst="rect">
            <a:avLst/>
          </a:prstGeom>
          <a:noFill/>
          <a:ln w="0">
            <a:noFill/>
            <a:prstDash val="solid"/>
          </a:ln>
        </p:spPr>
        <p:txBody>
          <a:bodyPr lIns="0" tIns="0" rIns="0" bIns="0" anchor="ctr">
            <a:noAutofit/>
          </a:bodyPr>
          <a:lstStyle/>
          <a:p>
            <a:pPr algn="l">
              <a:defRPr sz="3150" b="1">
                <a:solidFill>
                  <a:srgbClr val="17211D"/>
                </a:solidFill>
                <a:latin typeface="Arial"/>
                <a:ea typeface="Arial"/>
                <a:cs typeface="Arial"/>
              </a:defRPr>
            </a:pPr>
            <a:r>
              <a:rPr sz="3150" b="1">
                <a:solidFill>
                  <a:srgbClr val="17211D"/>
                </a:solidFill>
                <a:latin typeface="Arial"/>
                <a:ea typeface="Arial"/>
                <a:cs typeface="Arial"/>
              </a:rPr>
              <a:t>Expected deliverables</a:t>
            </a:r>
          </a:p>
        </p:txBody>
      </p:sp>
      <p:sp>
        <p:nvSpPr>
          <p:cNvPr id="3" name="Straight Connector 2">
            <a:extLst>
              <a:ext uri="{FF2B5EF4-FFF2-40B4-BE49-F238E27FC236}">
                <a16:creationId xmlns:a16="http://schemas.microsoft.com/office/drawing/2014/main" id="{2A4E58EE-3B37-4966-86A7-AABE26537195}"/>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F42C2E9B-C592-434D-B967-97A4699BF356}"/>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59CE2DDA-9BF1-4D5C-B92D-C861B4DA7838}"/>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BE5398D2-B6BA-42CB-90D5-1B87C634BD89}"/>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1</a:t>
            </a:r>
            <a:r>
              <a:rPr lang="en-US" sz="975" dirty="0">
                <a:solidFill>
                  <a:srgbClr val="52605A"/>
                </a:solidFill>
                <a:latin typeface="Arial"/>
                <a:ea typeface="Arial"/>
                <a:cs typeface="Arial"/>
              </a:rPr>
              <a:t>2</a:t>
            </a:r>
            <a:endParaRPr sz="975" b="0" dirty="0">
              <a:solidFill>
                <a:srgbClr val="52605A"/>
              </a:solidFill>
              <a:latin typeface="Arial"/>
              <a:ea typeface="Arial"/>
              <a:cs typeface="Arial"/>
            </a:endParaRPr>
          </a:p>
        </p:txBody>
      </p:sp>
      <p:sp>
        <p:nvSpPr>
          <p:cNvPr id="7" name="Rectangle 6">
            <a:extLst>
              <a:ext uri="{FF2B5EF4-FFF2-40B4-BE49-F238E27FC236}">
                <a16:creationId xmlns:a16="http://schemas.microsoft.com/office/drawing/2014/main" id="{D3F23AD8-30A2-4857-8D55-58222F9E0B2D}"/>
              </a:ext>
            </a:extLst>
          </p:cNvPr>
          <p:cNvSpPr>
            <a:spLocks noGrp="1"/>
          </p:cNvSpPr>
          <p:nvPr/>
        </p:nvSpPr>
        <p:spPr>
          <a:xfrm>
            <a:off x="619125" y="1676400"/>
            <a:ext cx="4762500" cy="466725"/>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Unity project</a:t>
            </a:r>
          </a:p>
        </p:txBody>
      </p:sp>
      <p:sp>
        <p:nvSpPr>
          <p:cNvPr id="8" name="Rectangle 7">
            <a:extLst>
              <a:ext uri="{FF2B5EF4-FFF2-40B4-BE49-F238E27FC236}">
                <a16:creationId xmlns:a16="http://schemas.microsoft.com/office/drawing/2014/main" id="{C72D3BC4-60FF-432A-84EE-D84BA84CC85A}"/>
              </a:ext>
            </a:extLst>
          </p:cNvPr>
          <p:cNvSpPr>
            <a:spLocks noGrp="1"/>
          </p:cNvSpPr>
          <p:nvPr/>
        </p:nvSpPr>
        <p:spPr>
          <a:xfrm>
            <a:off x="619125" y="2209800"/>
            <a:ext cx="4762500" cy="514350"/>
          </a:xfrm>
          <a:prstGeom prst="rect">
            <a:avLst/>
          </a:prstGeom>
          <a:noFill/>
          <a:ln w="0">
            <a:noFill/>
            <a:prstDash val="solid"/>
          </a:ln>
        </p:spPr>
        <p:txBody>
          <a:bodyPr lIns="0" tIns="0" rIns="0" bIns="0" anchor="ctr">
            <a:noAutofit/>
          </a:bodyPr>
          <a:lstStyle/>
          <a:p>
            <a:pPr algn="l">
              <a:defRPr sz="1575" b="0">
                <a:solidFill>
                  <a:srgbClr val="17211D"/>
                </a:solidFill>
                <a:latin typeface="Arial"/>
                <a:ea typeface="Arial"/>
                <a:cs typeface="Arial"/>
              </a:defRPr>
            </a:pPr>
            <a:r>
              <a:rPr sz="1575" b="0">
                <a:solidFill>
                  <a:srgbClr val="17211D"/>
                </a:solidFill>
                <a:latin typeface="Arial"/>
                <a:ea typeface="Arial"/>
                <a:cs typeface="Arial"/>
              </a:rPr>
              <a:t>Two games with trained agents</a:t>
            </a:r>
          </a:p>
        </p:txBody>
      </p:sp>
      <p:sp>
        <p:nvSpPr>
          <p:cNvPr id="9" name="Straight Connector 8">
            <a:extLst>
              <a:ext uri="{FF2B5EF4-FFF2-40B4-BE49-F238E27FC236}">
                <a16:creationId xmlns:a16="http://schemas.microsoft.com/office/drawing/2014/main" id="{AE9C3DB7-8F04-4618-A785-196D8EE2902B}"/>
              </a:ext>
            </a:extLst>
          </p:cNvPr>
          <p:cNvSpPr>
            <a:spLocks noGrp="1"/>
          </p:cNvSpPr>
          <p:nvPr/>
        </p:nvSpPr>
        <p:spPr>
          <a:xfrm>
            <a:off x="619125" y="2819400"/>
            <a:ext cx="4762500" cy="0"/>
          </a:xfrm>
          <a:prstGeom prst="line">
            <a:avLst/>
          </a:prstGeom>
          <a:noFill/>
          <a:ln w="9525">
            <a:solidFill>
              <a:srgbClr val="D8E0DA"/>
            </a:solidFill>
            <a:prstDash val="solid"/>
          </a:ln>
        </p:spPr>
      </p:sp>
      <p:sp>
        <p:nvSpPr>
          <p:cNvPr id="10" name="Rectangle 9">
            <a:extLst>
              <a:ext uri="{FF2B5EF4-FFF2-40B4-BE49-F238E27FC236}">
                <a16:creationId xmlns:a16="http://schemas.microsoft.com/office/drawing/2014/main" id="{BED758B2-A8FF-4C69-A37C-9A287FF3A94B}"/>
              </a:ext>
            </a:extLst>
          </p:cNvPr>
          <p:cNvSpPr>
            <a:spLocks noGrp="1"/>
          </p:cNvSpPr>
          <p:nvPr/>
        </p:nvSpPr>
        <p:spPr>
          <a:xfrm>
            <a:off x="6143625" y="1676400"/>
            <a:ext cx="4762500" cy="466725"/>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Git repository</a:t>
            </a:r>
          </a:p>
        </p:txBody>
      </p:sp>
      <p:sp>
        <p:nvSpPr>
          <p:cNvPr id="11" name="Rectangle 10">
            <a:extLst>
              <a:ext uri="{FF2B5EF4-FFF2-40B4-BE49-F238E27FC236}">
                <a16:creationId xmlns:a16="http://schemas.microsoft.com/office/drawing/2014/main" id="{A2E7774C-8BE2-4DBB-8FC8-2BBFC486F70F}"/>
              </a:ext>
            </a:extLst>
          </p:cNvPr>
          <p:cNvSpPr>
            <a:spLocks noGrp="1"/>
          </p:cNvSpPr>
          <p:nvPr/>
        </p:nvSpPr>
        <p:spPr>
          <a:xfrm>
            <a:off x="6143625" y="2209800"/>
            <a:ext cx="4762500" cy="514350"/>
          </a:xfrm>
          <a:prstGeom prst="rect">
            <a:avLst/>
          </a:prstGeom>
          <a:noFill/>
          <a:ln w="0">
            <a:noFill/>
            <a:prstDash val="solid"/>
          </a:ln>
        </p:spPr>
        <p:txBody>
          <a:bodyPr lIns="0" tIns="0" rIns="0" bIns="0" anchor="ctr">
            <a:noAutofit/>
          </a:bodyPr>
          <a:lstStyle/>
          <a:p>
            <a:pPr algn="l">
              <a:defRPr sz="1575" b="0">
                <a:solidFill>
                  <a:srgbClr val="17211D"/>
                </a:solidFill>
                <a:latin typeface="Arial"/>
                <a:ea typeface="Arial"/>
                <a:cs typeface="Arial"/>
              </a:defRPr>
            </a:pPr>
            <a:r>
              <a:rPr sz="1575" b="0">
                <a:solidFill>
                  <a:srgbClr val="17211D"/>
                </a:solidFill>
                <a:latin typeface="Arial"/>
                <a:ea typeface="Arial"/>
                <a:cs typeface="Arial"/>
              </a:rPr>
              <a:t>Code and experiment settings</a:t>
            </a:r>
          </a:p>
        </p:txBody>
      </p:sp>
      <p:sp>
        <p:nvSpPr>
          <p:cNvPr id="12" name="Straight Connector 11">
            <a:extLst>
              <a:ext uri="{FF2B5EF4-FFF2-40B4-BE49-F238E27FC236}">
                <a16:creationId xmlns:a16="http://schemas.microsoft.com/office/drawing/2014/main" id="{0E98CD7C-853A-420C-99F7-900F0D4072A3}"/>
              </a:ext>
            </a:extLst>
          </p:cNvPr>
          <p:cNvSpPr>
            <a:spLocks noGrp="1"/>
          </p:cNvSpPr>
          <p:nvPr/>
        </p:nvSpPr>
        <p:spPr>
          <a:xfrm>
            <a:off x="6143625" y="2819400"/>
            <a:ext cx="4762500" cy="0"/>
          </a:xfrm>
          <a:prstGeom prst="line">
            <a:avLst/>
          </a:prstGeom>
          <a:noFill/>
          <a:ln w="9525">
            <a:solidFill>
              <a:srgbClr val="D8E0DA"/>
            </a:solidFill>
            <a:prstDash val="solid"/>
          </a:ln>
        </p:spPr>
      </p:sp>
      <p:sp>
        <p:nvSpPr>
          <p:cNvPr id="13" name="Rectangle 12">
            <a:extLst>
              <a:ext uri="{FF2B5EF4-FFF2-40B4-BE49-F238E27FC236}">
                <a16:creationId xmlns:a16="http://schemas.microsoft.com/office/drawing/2014/main" id="{57E5A722-2AFA-4327-B361-952C827D9789}"/>
              </a:ext>
            </a:extLst>
          </p:cNvPr>
          <p:cNvSpPr>
            <a:spLocks noGrp="1"/>
          </p:cNvSpPr>
          <p:nvPr/>
        </p:nvSpPr>
        <p:spPr>
          <a:xfrm>
            <a:off x="619125" y="3257550"/>
            <a:ext cx="4762500" cy="466725"/>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Results package</a:t>
            </a:r>
          </a:p>
        </p:txBody>
      </p:sp>
      <p:sp>
        <p:nvSpPr>
          <p:cNvPr id="14" name="Rectangle 13">
            <a:extLst>
              <a:ext uri="{FF2B5EF4-FFF2-40B4-BE49-F238E27FC236}">
                <a16:creationId xmlns:a16="http://schemas.microsoft.com/office/drawing/2014/main" id="{01C06B38-7A4E-4D7A-9D32-2D27010DED4D}"/>
              </a:ext>
            </a:extLst>
          </p:cNvPr>
          <p:cNvSpPr>
            <a:spLocks noGrp="1"/>
          </p:cNvSpPr>
          <p:nvPr/>
        </p:nvSpPr>
        <p:spPr>
          <a:xfrm>
            <a:off x="619125" y="3790950"/>
            <a:ext cx="4762500" cy="514350"/>
          </a:xfrm>
          <a:prstGeom prst="rect">
            <a:avLst/>
          </a:prstGeom>
          <a:noFill/>
          <a:ln w="0">
            <a:noFill/>
            <a:prstDash val="solid"/>
          </a:ln>
        </p:spPr>
        <p:txBody>
          <a:bodyPr lIns="0" tIns="0" rIns="0" bIns="0" anchor="ctr">
            <a:noAutofit/>
          </a:bodyPr>
          <a:lstStyle/>
          <a:p>
            <a:pPr algn="l">
              <a:defRPr sz="1575" b="0">
                <a:solidFill>
                  <a:srgbClr val="17211D"/>
                </a:solidFill>
                <a:latin typeface="Arial"/>
                <a:ea typeface="Arial"/>
                <a:cs typeface="Arial"/>
              </a:defRPr>
            </a:pPr>
            <a:r>
              <a:rPr sz="1575" b="0">
                <a:solidFill>
                  <a:srgbClr val="17211D"/>
                </a:solidFill>
                <a:latin typeface="Arial"/>
                <a:ea typeface="Arial"/>
                <a:cs typeface="Arial"/>
              </a:rPr>
              <a:t>Return and progress comparisons</a:t>
            </a:r>
          </a:p>
        </p:txBody>
      </p:sp>
      <p:sp>
        <p:nvSpPr>
          <p:cNvPr id="15" name="Straight Connector 14">
            <a:extLst>
              <a:ext uri="{FF2B5EF4-FFF2-40B4-BE49-F238E27FC236}">
                <a16:creationId xmlns:a16="http://schemas.microsoft.com/office/drawing/2014/main" id="{215C42E6-7F52-4637-ACF6-9B187F19197D}"/>
              </a:ext>
            </a:extLst>
          </p:cNvPr>
          <p:cNvSpPr>
            <a:spLocks noGrp="1"/>
          </p:cNvSpPr>
          <p:nvPr/>
        </p:nvSpPr>
        <p:spPr>
          <a:xfrm>
            <a:off x="619125" y="4400550"/>
            <a:ext cx="4762500" cy="0"/>
          </a:xfrm>
          <a:prstGeom prst="line">
            <a:avLst/>
          </a:prstGeom>
          <a:noFill/>
          <a:ln w="9525">
            <a:solidFill>
              <a:srgbClr val="D8E0DA"/>
            </a:solidFill>
            <a:prstDash val="solid"/>
          </a:ln>
        </p:spPr>
      </p:sp>
      <p:sp>
        <p:nvSpPr>
          <p:cNvPr id="16" name="Rectangle 15">
            <a:extLst>
              <a:ext uri="{FF2B5EF4-FFF2-40B4-BE49-F238E27FC236}">
                <a16:creationId xmlns:a16="http://schemas.microsoft.com/office/drawing/2014/main" id="{C48CF5BA-70DF-4969-91FC-832376799F63}"/>
              </a:ext>
            </a:extLst>
          </p:cNvPr>
          <p:cNvSpPr>
            <a:spLocks noGrp="1"/>
          </p:cNvSpPr>
          <p:nvPr/>
        </p:nvSpPr>
        <p:spPr>
          <a:xfrm>
            <a:off x="6143625" y="3257550"/>
            <a:ext cx="4762500" cy="466725"/>
          </a:xfrm>
          <a:prstGeom prst="rect">
            <a:avLst/>
          </a:prstGeom>
          <a:noFill/>
          <a:ln w="0">
            <a:noFill/>
            <a:prstDash val="solid"/>
          </a:ln>
        </p:spPr>
        <p:txBody>
          <a:bodyPr lIns="0" tIns="0" rIns="0" bIns="0" anchor="ctr">
            <a:noAutofit/>
          </a:bodyPr>
          <a:lstStyle/>
          <a:p>
            <a:pPr algn="l">
              <a:defRPr sz="2250" b="1">
                <a:solidFill>
                  <a:srgbClr val="006A43"/>
                </a:solidFill>
                <a:latin typeface="Arial"/>
                <a:ea typeface="Arial"/>
                <a:cs typeface="Arial"/>
              </a:defRPr>
            </a:pPr>
            <a:r>
              <a:rPr sz="2250" b="1">
                <a:solidFill>
                  <a:srgbClr val="006A43"/>
                </a:solidFill>
                <a:latin typeface="Arial"/>
                <a:ea typeface="Arial"/>
                <a:cs typeface="Arial"/>
              </a:rPr>
              <a:t>Research outputs</a:t>
            </a:r>
          </a:p>
        </p:txBody>
      </p:sp>
      <p:sp>
        <p:nvSpPr>
          <p:cNvPr id="17" name="Rectangle 16">
            <a:extLst>
              <a:ext uri="{FF2B5EF4-FFF2-40B4-BE49-F238E27FC236}">
                <a16:creationId xmlns:a16="http://schemas.microsoft.com/office/drawing/2014/main" id="{E16EC704-80BB-451C-9621-09CE0F6F56DB}"/>
              </a:ext>
            </a:extLst>
          </p:cNvPr>
          <p:cNvSpPr>
            <a:spLocks noGrp="1"/>
          </p:cNvSpPr>
          <p:nvPr/>
        </p:nvSpPr>
        <p:spPr>
          <a:xfrm>
            <a:off x="6143625" y="3790950"/>
            <a:ext cx="4762500" cy="514350"/>
          </a:xfrm>
          <a:prstGeom prst="rect">
            <a:avLst/>
          </a:prstGeom>
          <a:noFill/>
          <a:ln w="0">
            <a:noFill/>
            <a:prstDash val="solid"/>
          </a:ln>
        </p:spPr>
        <p:txBody>
          <a:bodyPr lIns="0" tIns="0" rIns="0" bIns="0" anchor="ctr">
            <a:noAutofit/>
          </a:bodyPr>
          <a:lstStyle/>
          <a:p>
            <a:pPr algn="l">
              <a:defRPr sz="1575" b="0">
                <a:solidFill>
                  <a:srgbClr val="17211D"/>
                </a:solidFill>
                <a:latin typeface="Arial"/>
                <a:ea typeface="Arial"/>
                <a:cs typeface="Arial"/>
              </a:defRPr>
            </a:pPr>
            <a:r>
              <a:rPr sz="1575" b="0">
                <a:solidFill>
                  <a:srgbClr val="17211D"/>
                </a:solidFill>
                <a:latin typeface="Arial"/>
                <a:ea typeface="Arial"/>
                <a:cs typeface="Arial"/>
              </a:rPr>
              <a:t>Report and final presentation</a:t>
            </a:r>
          </a:p>
        </p:txBody>
      </p:sp>
      <p:sp>
        <p:nvSpPr>
          <p:cNvPr id="18" name="Straight Connector 17">
            <a:extLst>
              <a:ext uri="{FF2B5EF4-FFF2-40B4-BE49-F238E27FC236}">
                <a16:creationId xmlns:a16="http://schemas.microsoft.com/office/drawing/2014/main" id="{173D2546-E991-4601-889F-C349FEDD0FA7}"/>
              </a:ext>
            </a:extLst>
          </p:cNvPr>
          <p:cNvSpPr>
            <a:spLocks noGrp="1"/>
          </p:cNvSpPr>
          <p:nvPr/>
        </p:nvSpPr>
        <p:spPr>
          <a:xfrm>
            <a:off x="6143625" y="4400550"/>
            <a:ext cx="4762500" cy="0"/>
          </a:xfrm>
          <a:prstGeom prst="line">
            <a:avLst/>
          </a:prstGeom>
          <a:noFill/>
          <a:ln w="9525">
            <a:solidFill>
              <a:srgbClr val="D8E0DA"/>
            </a:solidFill>
            <a:prstDash val="solid"/>
          </a:ln>
        </p:spPr>
      </p:sp>
      <p:sp>
        <p:nvSpPr>
          <p:cNvPr id="19" name="Rectangle 18">
            <a:extLst>
              <a:ext uri="{FF2B5EF4-FFF2-40B4-BE49-F238E27FC236}">
                <a16:creationId xmlns:a16="http://schemas.microsoft.com/office/drawing/2014/main" id="{9AEA1168-A2D8-497E-9A8F-64850C80047C}"/>
              </a:ext>
            </a:extLst>
          </p:cNvPr>
          <p:cNvSpPr>
            <a:spLocks noGrp="1"/>
          </p:cNvSpPr>
          <p:nvPr/>
        </p:nvSpPr>
        <p:spPr>
          <a:xfrm>
            <a:off x="619125" y="5105400"/>
            <a:ext cx="2286000" cy="228600"/>
          </a:xfrm>
          <a:prstGeom prst="rect">
            <a:avLst/>
          </a:prstGeom>
          <a:noFill/>
          <a:ln w="0">
            <a:noFill/>
            <a:prstDash val="solid"/>
          </a:ln>
        </p:spPr>
        <p:txBody>
          <a:bodyPr lIns="0" tIns="0" rIns="0" bIns="0" anchor="ctr">
            <a:noAutofit/>
          </a:bodyPr>
          <a:lstStyle/>
          <a:p>
            <a:pPr algn="l">
              <a:defRPr sz="1200" b="1">
                <a:solidFill>
                  <a:srgbClr val="006A43"/>
                </a:solidFill>
                <a:latin typeface="Arial"/>
                <a:ea typeface="Arial"/>
                <a:cs typeface="Arial"/>
              </a:defRPr>
            </a:pPr>
            <a:r>
              <a:rPr sz="1200" b="1">
                <a:solidFill>
                  <a:srgbClr val="006A43"/>
                </a:solidFill>
                <a:latin typeface="Arial"/>
                <a:ea typeface="Arial"/>
                <a:cs typeface="Arial"/>
              </a:rPr>
              <a:t>FUTURE SCOPE</a:t>
            </a:r>
          </a:p>
        </p:txBody>
      </p:sp>
      <p:sp>
        <p:nvSpPr>
          <p:cNvPr id="20" name="Rectangle 19">
            <a:extLst>
              <a:ext uri="{FF2B5EF4-FFF2-40B4-BE49-F238E27FC236}">
                <a16:creationId xmlns:a16="http://schemas.microsoft.com/office/drawing/2014/main" id="{8F97F627-0759-4A1F-A532-86DD188A265A}"/>
              </a:ext>
            </a:extLst>
          </p:cNvPr>
          <p:cNvSpPr>
            <a:spLocks noGrp="1"/>
          </p:cNvSpPr>
          <p:nvPr/>
        </p:nvSpPr>
        <p:spPr>
          <a:xfrm>
            <a:off x="619125" y="5410200"/>
            <a:ext cx="10191750" cy="447675"/>
          </a:xfrm>
          <a:prstGeom prst="rect">
            <a:avLst/>
          </a:prstGeom>
          <a:noFill/>
          <a:ln w="0">
            <a:noFill/>
            <a:prstDash val="solid"/>
          </a:ln>
        </p:spPr>
        <p:txBody>
          <a:bodyPr lIns="0" tIns="0" rIns="0" bIns="0" anchor="ctr">
            <a:noAutofit/>
          </a:bodyPr>
          <a:lstStyle/>
          <a:p>
            <a:pPr algn="l">
              <a:defRPr sz="1725" b="0">
                <a:solidFill>
                  <a:srgbClr val="17211D"/>
                </a:solidFill>
                <a:latin typeface="Arial"/>
                <a:ea typeface="Arial"/>
                <a:cs typeface="Arial"/>
              </a:defRPr>
            </a:pPr>
            <a:r>
              <a:rPr sz="1725" b="0">
                <a:solidFill>
                  <a:srgbClr val="17211D"/>
                </a:solidFill>
                <a:latin typeface="Arial"/>
                <a:ea typeface="Arial"/>
                <a:cs typeface="Arial"/>
              </a:rPr>
              <a:t>Explore use in Inspired Square games after reviewing the evidence</a:t>
            </a:r>
          </a:p>
        </p:txBody>
      </p:sp>
    </p:spTree>
    <p:extLst>
      <p:ext uri="{BB962C8B-B14F-4D97-AF65-F5344CB8AC3E}">
        <p14:creationId xmlns:p14="http://schemas.microsoft.com/office/powerpoint/2010/main" val="187556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79B33-1F27-D1E5-FBA7-5F37F34CA780}"/>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2F90E9DE-F11D-B005-A75F-5859F65BC4DB}"/>
              </a:ext>
            </a:extLst>
          </p:cNvPr>
          <p:cNvPicPr>
            <a:picLocks noChangeAspect="1"/>
          </p:cNvPicPr>
          <p:nvPr/>
        </p:nvPicPr>
        <p:blipFill>
          <a:blip r:embed="rId3"/>
          <a:stretch/>
        </p:blipFill>
        <p:spPr>
          <a:xfrm>
            <a:off x="10896600" y="190500"/>
            <a:ext cx="1028700" cy="1028700"/>
          </a:xfrm>
          <a:prstGeom prst="rect">
            <a:avLst/>
          </a:prstGeom>
        </p:spPr>
      </p:pic>
      <p:sp>
        <p:nvSpPr>
          <p:cNvPr id="3" name="Straight Connector 2">
            <a:extLst>
              <a:ext uri="{FF2B5EF4-FFF2-40B4-BE49-F238E27FC236}">
                <a16:creationId xmlns:a16="http://schemas.microsoft.com/office/drawing/2014/main" id="{86D986A7-2342-28B0-E96E-48367DECFFB8}"/>
              </a:ext>
            </a:extLst>
          </p:cNvPr>
          <p:cNvSpPr>
            <a:spLocks noGrp="1"/>
          </p:cNvSpPr>
          <p:nvPr/>
        </p:nvSpPr>
        <p:spPr>
          <a:xfrm>
            <a:off x="590550" y="6191250"/>
            <a:ext cx="11334750" cy="0"/>
          </a:xfrm>
          <a:prstGeom prst="line">
            <a:avLst/>
          </a:prstGeom>
          <a:noFill/>
          <a:ln w="9525">
            <a:solidFill>
              <a:srgbClr val="D8E0DA"/>
            </a:solidFill>
            <a:prstDash val="solid"/>
          </a:ln>
        </p:spPr>
      </p:sp>
      <p:sp>
        <p:nvSpPr>
          <p:cNvPr id="4" name="Rectangle 3">
            <a:extLst>
              <a:ext uri="{FF2B5EF4-FFF2-40B4-BE49-F238E27FC236}">
                <a16:creationId xmlns:a16="http://schemas.microsoft.com/office/drawing/2014/main" id="{08DD51F7-85C0-F923-462D-E8FE5F38B48E}"/>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5" name="Rectangle 4">
            <a:extLst>
              <a:ext uri="{FF2B5EF4-FFF2-40B4-BE49-F238E27FC236}">
                <a16:creationId xmlns:a16="http://schemas.microsoft.com/office/drawing/2014/main" id="{0F83719B-EF15-79DE-8658-C9FF4A4F4885}"/>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6" name="Rectangle 5">
            <a:extLst>
              <a:ext uri="{FF2B5EF4-FFF2-40B4-BE49-F238E27FC236}">
                <a16:creationId xmlns:a16="http://schemas.microsoft.com/office/drawing/2014/main" id="{E15F7996-4952-821F-0DAB-FAFEAEC14A68}"/>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1</a:t>
            </a:r>
            <a:r>
              <a:rPr lang="en-US" sz="975" dirty="0">
                <a:solidFill>
                  <a:srgbClr val="52605A"/>
                </a:solidFill>
                <a:latin typeface="Arial"/>
                <a:ea typeface="Arial"/>
                <a:cs typeface="Arial"/>
              </a:rPr>
              <a:t>3</a:t>
            </a:r>
            <a:endParaRPr sz="975" b="0" dirty="0">
              <a:solidFill>
                <a:srgbClr val="52605A"/>
              </a:solidFill>
              <a:latin typeface="Arial"/>
              <a:ea typeface="Arial"/>
              <a:cs typeface="Arial"/>
            </a:endParaRPr>
          </a:p>
        </p:txBody>
      </p:sp>
      <p:sp>
        <p:nvSpPr>
          <p:cNvPr id="20" name="Rectangle 19">
            <a:extLst>
              <a:ext uri="{FF2B5EF4-FFF2-40B4-BE49-F238E27FC236}">
                <a16:creationId xmlns:a16="http://schemas.microsoft.com/office/drawing/2014/main" id="{04D4C2C0-9126-4CCA-70D3-81016A99CAFE}"/>
              </a:ext>
            </a:extLst>
          </p:cNvPr>
          <p:cNvSpPr>
            <a:spLocks noGrp="1"/>
          </p:cNvSpPr>
          <p:nvPr/>
        </p:nvSpPr>
        <p:spPr>
          <a:xfrm>
            <a:off x="619125" y="5410200"/>
            <a:ext cx="10191750" cy="447675"/>
          </a:xfrm>
          <a:prstGeom prst="rect">
            <a:avLst/>
          </a:prstGeom>
          <a:noFill/>
          <a:ln w="0">
            <a:noFill/>
            <a:prstDash val="solid"/>
          </a:ln>
        </p:spPr>
        <p:txBody>
          <a:bodyPr lIns="0" tIns="0" rIns="0" bIns="0" anchor="ctr">
            <a:noAutofit/>
          </a:bodyPr>
          <a:lstStyle/>
          <a:p>
            <a:pPr algn="l">
              <a:defRPr sz="1725" b="0">
                <a:solidFill>
                  <a:srgbClr val="17211D"/>
                </a:solidFill>
                <a:latin typeface="Arial"/>
                <a:ea typeface="Arial"/>
                <a:cs typeface="Arial"/>
              </a:defRPr>
            </a:pPr>
            <a:endParaRPr sz="1725" b="0" dirty="0">
              <a:solidFill>
                <a:srgbClr val="17211D"/>
              </a:solidFill>
              <a:latin typeface="Arial"/>
              <a:ea typeface="Arial"/>
              <a:cs typeface="Arial"/>
            </a:endParaRPr>
          </a:p>
        </p:txBody>
      </p:sp>
      <p:sp>
        <p:nvSpPr>
          <p:cNvPr id="23" name="TextBox 22">
            <a:extLst>
              <a:ext uri="{FF2B5EF4-FFF2-40B4-BE49-F238E27FC236}">
                <a16:creationId xmlns:a16="http://schemas.microsoft.com/office/drawing/2014/main" id="{2F6903A6-D43C-6F45-A629-3CA123DBFAAE}"/>
              </a:ext>
            </a:extLst>
          </p:cNvPr>
          <p:cNvSpPr txBox="1"/>
          <p:nvPr/>
        </p:nvSpPr>
        <p:spPr>
          <a:xfrm>
            <a:off x="743712" y="87493"/>
            <a:ext cx="6096000" cy="1446550"/>
          </a:xfrm>
          <a:prstGeom prst="rect">
            <a:avLst/>
          </a:prstGeom>
          <a:noFill/>
        </p:spPr>
        <p:txBody>
          <a:bodyPr wrap="square">
            <a:spAutoFit/>
          </a:bodyPr>
          <a:lstStyle/>
          <a:p>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Dr. Aaron Chen</a:t>
            </a:r>
            <a:endParaRPr lang="en-US" dirty="0"/>
          </a:p>
        </p:txBody>
      </p:sp>
      <p:pic>
        <p:nvPicPr>
          <p:cNvPr id="24" name="Picture 23">
            <a:extLst>
              <a:ext uri="{FF2B5EF4-FFF2-40B4-BE49-F238E27FC236}">
                <a16:creationId xmlns:a16="http://schemas.microsoft.com/office/drawing/2014/main" id="{61BF63FD-20C6-DB86-E7A9-B888E57DA16C}"/>
              </a:ext>
            </a:extLst>
          </p:cNvPr>
          <p:cNvPicPr>
            <a:picLocks noChangeAspect="1"/>
          </p:cNvPicPr>
          <p:nvPr/>
        </p:nvPicPr>
        <p:blipFill>
          <a:blip r:embed="rId4"/>
          <a:stretch>
            <a:fillRect/>
          </a:stretch>
        </p:blipFill>
        <p:spPr>
          <a:xfrm>
            <a:off x="1146202" y="1534043"/>
            <a:ext cx="2645510" cy="2776910"/>
          </a:xfrm>
          <a:prstGeom prst="rect">
            <a:avLst/>
          </a:prstGeom>
        </p:spPr>
      </p:pic>
      <p:sp>
        <p:nvSpPr>
          <p:cNvPr id="25" name="TextBox 24">
            <a:extLst>
              <a:ext uri="{FF2B5EF4-FFF2-40B4-BE49-F238E27FC236}">
                <a16:creationId xmlns:a16="http://schemas.microsoft.com/office/drawing/2014/main" id="{514C4EA7-0E0D-D232-2D2D-EA84FA7C6BC2}"/>
              </a:ext>
            </a:extLst>
          </p:cNvPr>
          <p:cNvSpPr txBox="1"/>
          <p:nvPr/>
        </p:nvSpPr>
        <p:spPr>
          <a:xfrm>
            <a:off x="926592" y="4920347"/>
            <a:ext cx="10109049" cy="646331"/>
          </a:xfrm>
          <a:prstGeom prst="rect">
            <a:avLst/>
          </a:prstGeom>
          <a:noFill/>
        </p:spPr>
        <p:txBody>
          <a:bodyPr wrap="none" rtlCol="0">
            <a:spAutoFit/>
          </a:bodyPr>
          <a:lstStyle/>
          <a:p>
            <a:r>
              <a:rPr lang="en-US" b="1" cap="all" dirty="0">
                <a:latin typeface="Times New Roman" panose="02020603050405020304" pitchFamily="18" charset="0"/>
                <a:cs typeface="Times New Roman" panose="02020603050405020304" pitchFamily="18" charset="0"/>
              </a:rPr>
              <a:t>ACADEMIC POSITIONS</a:t>
            </a:r>
            <a:r>
              <a:rPr lang="en-US" cap="all"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Victoria University of Wellington, School of Engineering and Computer Science, Wellington, New Zealand</a:t>
            </a:r>
          </a:p>
        </p:txBody>
      </p:sp>
      <p:sp>
        <p:nvSpPr>
          <p:cNvPr id="26" name="TextBox 25">
            <a:extLst>
              <a:ext uri="{FF2B5EF4-FFF2-40B4-BE49-F238E27FC236}">
                <a16:creationId xmlns:a16="http://schemas.microsoft.com/office/drawing/2014/main" id="{10224119-ED27-3D6C-63D0-D44DADCDAFED}"/>
              </a:ext>
            </a:extLst>
          </p:cNvPr>
          <p:cNvSpPr txBox="1"/>
          <p:nvPr/>
        </p:nvSpPr>
        <p:spPr>
          <a:xfrm>
            <a:off x="4558630" y="1937653"/>
            <a:ext cx="6337969"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Research profile: </a:t>
            </a:r>
            <a:r>
              <a:rPr lang="en-US" u="sng" dirty="0">
                <a:latin typeface="Times New Roman" panose="02020603050405020304" pitchFamily="18" charset="0"/>
                <a:cs typeface="Times New Roman" panose="02020603050405020304" pitchFamily="18" charset="0"/>
                <a:hlinkClick r:id="rId5"/>
              </a:rPr>
              <a:t>https://people.wgtn.ac.nz/Aaron.Chen</a:t>
            </a:r>
            <a:endParaRPr lang="en-US" u="sng"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Paper: </a:t>
            </a:r>
            <a:r>
              <a:rPr lang="en-US" u="sng" dirty="0">
                <a:latin typeface="Times New Roman" panose="02020603050405020304" pitchFamily="18" charset="0"/>
                <a:cs typeface="Times New Roman" panose="02020603050405020304" pitchFamily="18" charset="0"/>
                <a:hlinkClick r:id="rId6"/>
              </a:rPr>
              <a:t>https://www.ijcai.org/proceedings/2023/0391.pdf</a:t>
            </a:r>
            <a:endParaRPr lang="en-US" cap="all"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47626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10896600" y="190500"/>
            <a:ext cx="1028700" cy="1028700"/>
          </a:xfrm>
          <a:prstGeom prst="rect">
            <a:avLst/>
          </a:prstGeom>
        </p:spPr>
      </p:pic>
      <p:sp>
        <p:nvSpPr>
          <p:cNvPr id="2" name="Straight Connector 1">
            <a:extLst>
              <a:ext uri="{FF2B5EF4-FFF2-40B4-BE49-F238E27FC236}">
                <a16:creationId xmlns:a16="http://schemas.microsoft.com/office/drawing/2014/main" id="{45CE8C44-E69C-402F-97EB-AED122B6C255}"/>
              </a:ext>
            </a:extLst>
          </p:cNvPr>
          <p:cNvSpPr>
            <a:spLocks noGrp="1"/>
          </p:cNvSpPr>
          <p:nvPr/>
        </p:nvSpPr>
        <p:spPr>
          <a:xfrm>
            <a:off x="590550" y="6191250"/>
            <a:ext cx="11334750" cy="0"/>
          </a:xfrm>
          <a:prstGeom prst="line">
            <a:avLst/>
          </a:prstGeom>
          <a:noFill/>
          <a:ln w="9525">
            <a:solidFill>
              <a:srgbClr val="D8E0DA"/>
            </a:solidFill>
            <a:prstDash val="solid"/>
          </a:ln>
        </p:spPr>
      </p:sp>
      <p:sp>
        <p:nvSpPr>
          <p:cNvPr id="3" name="Rectangle 2">
            <a:extLst>
              <a:ext uri="{FF2B5EF4-FFF2-40B4-BE49-F238E27FC236}">
                <a16:creationId xmlns:a16="http://schemas.microsoft.com/office/drawing/2014/main" id="{FBB5536C-495C-4A41-A0A2-D249D0105588}"/>
              </a:ext>
            </a:extLst>
          </p:cNvPr>
          <p:cNvSpPr>
            <a:spLocks noGrp="1"/>
          </p:cNvSpPr>
          <p:nvPr/>
        </p:nvSpPr>
        <p:spPr>
          <a:xfrm>
            <a:off x="590550" y="6343650"/>
            <a:ext cx="2333625" cy="190500"/>
          </a:xfrm>
          <a:prstGeom prst="rect">
            <a:avLst/>
          </a:prstGeom>
          <a:noFill/>
          <a:ln w="0">
            <a:noFill/>
            <a:prstDash val="solid"/>
          </a:ln>
        </p:spPr>
        <p:txBody>
          <a:bodyPr lIns="0" tIns="0" rIns="0" bIns="0" anchor="ctr">
            <a:noAutofit/>
          </a:bodyPr>
          <a:lstStyle/>
          <a:p>
            <a:pPr algn="l">
              <a:defRPr sz="975" b="1">
                <a:solidFill>
                  <a:srgbClr val="006A43"/>
                </a:solidFill>
                <a:latin typeface="Arial"/>
                <a:ea typeface="Arial"/>
                <a:cs typeface="Arial"/>
              </a:defRPr>
            </a:pPr>
            <a:r>
              <a:rPr sz="975" b="1">
                <a:solidFill>
                  <a:srgbClr val="006A43"/>
                </a:solidFill>
                <a:latin typeface="Arial"/>
                <a:ea typeface="Arial"/>
                <a:cs typeface="Arial"/>
              </a:rPr>
              <a:t>NAMAL UNIVERSITY</a:t>
            </a:r>
          </a:p>
        </p:txBody>
      </p:sp>
      <p:sp>
        <p:nvSpPr>
          <p:cNvPr id="4" name="Rectangle 3">
            <a:extLst>
              <a:ext uri="{FF2B5EF4-FFF2-40B4-BE49-F238E27FC236}">
                <a16:creationId xmlns:a16="http://schemas.microsoft.com/office/drawing/2014/main" id="{223478F0-F4DE-4DDF-BADA-C80923D938FF}"/>
              </a:ext>
            </a:extLst>
          </p:cNvPr>
          <p:cNvSpPr>
            <a:spLocks noGrp="1"/>
          </p:cNvSpPr>
          <p:nvPr/>
        </p:nvSpPr>
        <p:spPr>
          <a:xfrm>
            <a:off x="3581400" y="6343650"/>
            <a:ext cx="5048250" cy="190500"/>
          </a:xfrm>
          <a:prstGeom prst="rect">
            <a:avLst/>
          </a:prstGeom>
          <a:noFill/>
          <a:ln w="0">
            <a:noFill/>
            <a:prstDash val="solid"/>
          </a:ln>
        </p:spPr>
        <p:txBody>
          <a:bodyPr lIns="0" tIns="0" rIns="0" bIns="0" anchor="ctr">
            <a:noAutofit/>
          </a:bodyPr>
          <a:lstStyle/>
          <a:p>
            <a:pPr algn="ctr">
              <a:defRPr sz="975" b="0">
                <a:solidFill>
                  <a:srgbClr val="52605A"/>
                </a:solidFill>
                <a:latin typeface="Arial"/>
                <a:ea typeface="Arial"/>
                <a:cs typeface="Arial"/>
              </a:defRPr>
            </a:pPr>
            <a:r>
              <a:rPr sz="975" b="0">
                <a:solidFill>
                  <a:srgbClr val="52605A"/>
                </a:solidFill>
                <a:latin typeface="Arial"/>
                <a:ea typeface="Arial"/>
                <a:cs typeface="Arial"/>
              </a:rPr>
              <a:t>Department of Computer Science  •  FYP Proposal</a:t>
            </a:r>
          </a:p>
        </p:txBody>
      </p:sp>
      <p:sp>
        <p:nvSpPr>
          <p:cNvPr id="5" name="Rectangle 4">
            <a:extLst>
              <a:ext uri="{FF2B5EF4-FFF2-40B4-BE49-F238E27FC236}">
                <a16:creationId xmlns:a16="http://schemas.microsoft.com/office/drawing/2014/main" id="{1FFE15CB-F496-48F5-9FB4-04DA0AB551C3}"/>
              </a:ext>
            </a:extLst>
          </p:cNvPr>
          <p:cNvSpPr>
            <a:spLocks noGrp="1"/>
          </p:cNvSpPr>
          <p:nvPr/>
        </p:nvSpPr>
        <p:spPr>
          <a:xfrm>
            <a:off x="11144250" y="6343650"/>
            <a:ext cx="781050" cy="190500"/>
          </a:xfrm>
          <a:prstGeom prst="rect">
            <a:avLst/>
          </a:prstGeom>
          <a:noFill/>
          <a:ln w="0">
            <a:noFill/>
            <a:prstDash val="solid"/>
          </a:ln>
        </p:spPr>
        <p:txBody>
          <a:bodyPr lIns="0" tIns="0" rIns="0" bIns="0" anchor="ctr">
            <a:noAutofit/>
          </a:bodyPr>
          <a:lstStyle/>
          <a:p>
            <a:pPr algn="r">
              <a:defRPr sz="975" b="0">
                <a:solidFill>
                  <a:srgbClr val="52605A"/>
                </a:solidFill>
                <a:latin typeface="Arial"/>
                <a:ea typeface="Arial"/>
                <a:cs typeface="Arial"/>
              </a:defRPr>
            </a:pPr>
            <a:r>
              <a:rPr sz="975" b="0" dirty="0">
                <a:solidFill>
                  <a:srgbClr val="52605A"/>
                </a:solidFill>
                <a:latin typeface="Arial"/>
                <a:ea typeface="Arial"/>
                <a:cs typeface="Arial"/>
              </a:rPr>
              <a:t>1</a:t>
            </a:r>
            <a:r>
              <a:rPr lang="en-US" sz="975" dirty="0">
                <a:solidFill>
                  <a:srgbClr val="52605A"/>
                </a:solidFill>
                <a:latin typeface="Arial"/>
                <a:ea typeface="Arial"/>
                <a:cs typeface="Arial"/>
              </a:rPr>
              <a:t>4</a:t>
            </a:r>
            <a:endParaRPr sz="975" b="0" dirty="0">
              <a:solidFill>
                <a:srgbClr val="52605A"/>
              </a:solidFill>
              <a:latin typeface="Arial"/>
              <a:ea typeface="Arial"/>
              <a:cs typeface="Arial"/>
            </a:endParaRPr>
          </a:p>
        </p:txBody>
      </p:sp>
      <p:sp>
        <p:nvSpPr>
          <p:cNvPr id="6" name="Rectangle 5">
            <a:extLst>
              <a:ext uri="{FF2B5EF4-FFF2-40B4-BE49-F238E27FC236}">
                <a16:creationId xmlns:a16="http://schemas.microsoft.com/office/drawing/2014/main" id="{1FA4906E-DA77-44EE-9D15-FA8E53BF172C}"/>
              </a:ext>
            </a:extLst>
          </p:cNvPr>
          <p:cNvSpPr>
            <a:spLocks noGrp="1"/>
          </p:cNvSpPr>
          <p:nvPr/>
        </p:nvSpPr>
        <p:spPr>
          <a:xfrm>
            <a:off x="619125" y="2038350"/>
            <a:ext cx="9810750" cy="1238250"/>
          </a:xfrm>
          <a:prstGeom prst="rect">
            <a:avLst/>
          </a:prstGeom>
          <a:noFill/>
          <a:ln w="0">
            <a:noFill/>
            <a:prstDash val="solid"/>
          </a:ln>
        </p:spPr>
        <p:txBody>
          <a:bodyPr lIns="0" tIns="0" rIns="0" bIns="0" anchor="ctr">
            <a:noAutofit/>
          </a:bodyPr>
          <a:lstStyle/>
          <a:p>
            <a:pPr algn="ctr">
              <a:defRPr sz="5025" b="1">
                <a:solidFill>
                  <a:srgbClr val="006A43"/>
                </a:solidFill>
                <a:latin typeface="Arial"/>
                <a:ea typeface="Arial"/>
                <a:cs typeface="Arial"/>
              </a:defRPr>
            </a:pPr>
            <a:r>
              <a:rPr sz="5025" b="1" dirty="0">
                <a:solidFill>
                  <a:srgbClr val="006A43"/>
                </a:solidFill>
                <a:latin typeface="Arial"/>
                <a:ea typeface="Arial"/>
                <a:cs typeface="Arial"/>
              </a:rPr>
              <a:t>Thank you</a:t>
            </a:r>
          </a:p>
        </p:txBody>
      </p:sp>
      <p:sp>
        <p:nvSpPr>
          <p:cNvPr id="7" name="Straight Connector 6">
            <a:extLst>
              <a:ext uri="{FF2B5EF4-FFF2-40B4-BE49-F238E27FC236}">
                <a16:creationId xmlns:a16="http://schemas.microsoft.com/office/drawing/2014/main" id="{28AD7996-FDEB-4FE8-BA75-87FBB6EE44D1}"/>
              </a:ext>
            </a:extLst>
          </p:cNvPr>
          <p:cNvSpPr>
            <a:spLocks noGrp="1"/>
          </p:cNvSpPr>
          <p:nvPr/>
        </p:nvSpPr>
        <p:spPr>
          <a:xfrm>
            <a:off x="4143375" y="3276600"/>
            <a:ext cx="2762250" cy="0"/>
          </a:xfrm>
          <a:prstGeom prst="line">
            <a:avLst/>
          </a:prstGeom>
          <a:noFill/>
          <a:ln w="57150">
            <a:solidFill>
              <a:srgbClr val="D2AE45"/>
            </a:solidFill>
            <a:prstDash val="solid"/>
          </a:ln>
        </p:spPr>
      </p:sp>
      <p:sp>
        <p:nvSpPr>
          <p:cNvPr id="8" name="Rectangle 7">
            <a:extLst>
              <a:ext uri="{FF2B5EF4-FFF2-40B4-BE49-F238E27FC236}">
                <a16:creationId xmlns:a16="http://schemas.microsoft.com/office/drawing/2014/main" id="{3D50DB22-BB28-4386-BF03-FB8621520534}"/>
              </a:ext>
            </a:extLst>
          </p:cNvPr>
          <p:cNvSpPr>
            <a:spLocks noGrp="1"/>
          </p:cNvSpPr>
          <p:nvPr/>
        </p:nvSpPr>
        <p:spPr>
          <a:xfrm>
            <a:off x="1238250" y="3690937"/>
            <a:ext cx="8763000" cy="600075"/>
          </a:xfrm>
          <a:prstGeom prst="rect">
            <a:avLst/>
          </a:prstGeom>
          <a:noFill/>
          <a:ln w="0">
            <a:noFill/>
            <a:prstDash val="solid"/>
          </a:ln>
        </p:spPr>
        <p:txBody>
          <a:bodyPr lIns="0" tIns="0" rIns="0" bIns="0" anchor="ctr">
            <a:noAutofit/>
          </a:bodyPr>
          <a:lstStyle/>
          <a:p>
            <a:pPr algn="ctr">
              <a:defRPr sz="2250" b="0">
                <a:solidFill>
                  <a:srgbClr val="17211D"/>
                </a:solidFill>
                <a:latin typeface="Arial"/>
                <a:ea typeface="Arial"/>
                <a:cs typeface="Arial"/>
              </a:defRPr>
            </a:pPr>
            <a:r>
              <a:rPr lang="en-US" sz="2250" dirty="0">
                <a:solidFill>
                  <a:srgbClr val="17211D"/>
                </a:solidFill>
                <a:latin typeface="Arial"/>
                <a:ea typeface="Arial"/>
                <a:cs typeface="Arial"/>
              </a:rPr>
              <a:t>Any Suggestions !</a:t>
            </a:r>
            <a:endParaRPr sz="2250" b="0" dirty="0">
              <a:solidFill>
                <a:srgbClr val="17211D"/>
              </a:solidFill>
              <a:latin typeface="Arial"/>
              <a:ea typeface="Arial"/>
              <a:cs typeface="Arial"/>
            </a:endParaRPr>
          </a:p>
        </p:txBody>
      </p:sp>
      <p:sp>
        <p:nvSpPr>
          <p:cNvPr id="9" name="Rectangle 8">
            <a:extLst>
              <a:ext uri="{FF2B5EF4-FFF2-40B4-BE49-F238E27FC236}">
                <a16:creationId xmlns:a16="http://schemas.microsoft.com/office/drawing/2014/main" id="{EC01D72B-9823-4CD1-AB2B-E1D9FD320E28}"/>
              </a:ext>
            </a:extLst>
          </p:cNvPr>
          <p:cNvSpPr>
            <a:spLocks noGrp="1"/>
          </p:cNvSpPr>
          <p:nvPr/>
        </p:nvSpPr>
        <p:spPr>
          <a:xfrm>
            <a:off x="619125" y="4895850"/>
            <a:ext cx="10001250" cy="390525"/>
          </a:xfrm>
          <a:prstGeom prst="rect">
            <a:avLst/>
          </a:prstGeom>
          <a:noFill/>
          <a:ln w="0">
            <a:noFill/>
            <a:prstDash val="solid"/>
          </a:ln>
        </p:spPr>
        <p:txBody>
          <a:bodyPr lIns="0" tIns="0" rIns="0" bIns="0" anchor="ctr">
            <a:noAutofit/>
          </a:bodyPr>
          <a:lstStyle/>
          <a:p>
            <a:pPr algn="ctr">
              <a:defRPr sz="1575" b="0">
                <a:solidFill>
                  <a:srgbClr val="52605A"/>
                </a:solidFill>
                <a:latin typeface="Arial"/>
                <a:ea typeface="Arial"/>
                <a:cs typeface="Arial"/>
              </a:defRPr>
            </a:pPr>
            <a:r>
              <a:rPr sz="1575" b="0" dirty="0">
                <a:solidFill>
                  <a:srgbClr val="52605A"/>
                </a:solidFill>
                <a:latin typeface="Arial"/>
                <a:ea typeface="Arial"/>
                <a:cs typeface="Arial"/>
              </a:rPr>
              <a:t>Raza</a:t>
            </a:r>
            <a:r>
              <a:rPr lang="en-US" sz="1575" b="0" dirty="0">
                <a:solidFill>
                  <a:srgbClr val="52605A"/>
                </a:solidFill>
                <a:latin typeface="Arial"/>
                <a:ea typeface="Arial"/>
                <a:cs typeface="Arial"/>
              </a:rPr>
              <a:t> </a:t>
            </a:r>
            <a:r>
              <a:rPr sz="1575" b="0" dirty="0">
                <a:solidFill>
                  <a:srgbClr val="52605A"/>
                </a:solidFill>
                <a:latin typeface="Arial"/>
                <a:ea typeface="Arial"/>
                <a:cs typeface="Arial"/>
              </a:rPr>
              <a:t>Ullah</a:t>
            </a:r>
            <a:r>
              <a:rPr lang="en-US" sz="1575" b="0" dirty="0">
                <a:solidFill>
                  <a:srgbClr val="52605A"/>
                </a:solidFill>
                <a:latin typeface="Arial"/>
                <a:ea typeface="Arial"/>
                <a:cs typeface="Arial"/>
              </a:rPr>
              <a:t> Khan</a:t>
            </a:r>
            <a:r>
              <a:rPr sz="1575" b="0" dirty="0">
                <a:solidFill>
                  <a:srgbClr val="52605A"/>
                </a:solidFill>
                <a:latin typeface="Arial"/>
                <a:ea typeface="Arial"/>
                <a:cs typeface="Arial"/>
              </a:rPr>
              <a:t>   •   Inspired Square   •   Namal University</a:t>
            </a:r>
          </a:p>
        </p:txBody>
      </p:sp>
    </p:spTree>
    <p:extLst>
      <p:ext uri="{BB962C8B-B14F-4D97-AF65-F5344CB8AC3E}">
        <p14:creationId xmlns:p14="http://schemas.microsoft.com/office/powerpoint/2010/main" val="10026738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2154</TotalTime>
  <Words>1798</Words>
  <Application>Microsoft Office PowerPoint</Application>
  <DocSecurity>0</DocSecurity>
  <PresentationFormat>Widescreen</PresentationFormat>
  <Paragraphs>315</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ChatGPT</vt:lpstr>
      <vt:lpstr>PowerPoint Presentation</vt:lpstr>
      <vt:lpstr>PowerPoint Presentation</vt:lpstr>
      <vt:lpstr>PowerPoint Presentation</vt:lpstr>
      <vt:lpstr>Literature Review:</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raza khan</cp:lastModifiedBy>
  <cp:revision>34</cp:revision>
  <dcterms:created xsi:type="dcterms:W3CDTF">2026-09-30T06:06:45Z</dcterms:created>
  <dcterms:modified xsi:type="dcterms:W3CDTF">2026-10-07T02:04:13Z</dcterms:modified>
</cp:coreProperties>
</file>